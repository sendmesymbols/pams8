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7" r:id="rId9"/>
    <p:sldId id="262" r:id="rId10"/>
    <p:sldId id="270" r:id="rId11"/>
    <p:sldId id="277" r:id="rId12"/>
    <p:sldId id="274" r:id="rId13"/>
    <p:sldId id="271" r:id="rId14"/>
    <p:sldId id="268" r:id="rId15"/>
    <p:sldId id="265" r:id="rId16"/>
    <p:sldId id="276" r:id="rId17"/>
    <p:sldId id="275" r:id="rId18"/>
    <p:sldId id="269" r:id="rId19"/>
    <p:sldId id="264" r:id="rId20"/>
    <p:sldId id="266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B1A5"/>
    <a:srgbClr val="2A2A2A"/>
    <a:srgbClr val="6F6F6F"/>
    <a:srgbClr val="EFEDE9"/>
    <a:srgbClr val="E7DFD1"/>
    <a:srgbClr val="E3E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115"/>
    <p:restoredTop sz="94676"/>
  </p:normalViewPr>
  <p:slideViewPr>
    <p:cSldViewPr snapToGrid="0" showGuides="1">
      <p:cViewPr varScale="1">
        <p:scale>
          <a:sx n="84" d="100"/>
          <a:sy n="84" d="100"/>
        </p:scale>
        <p:origin x="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21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3B69D97-D14C-735C-C2E5-64CDE229DA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7205" y="390979"/>
            <a:ext cx="5332412" cy="5209721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25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ECDBE64-52AE-4572-1B05-10EA2F3593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235" y="2474702"/>
            <a:ext cx="1666189" cy="1018693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5762FBE-FE47-AD7A-6BBF-5C8AA22A0E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05631" y="4561081"/>
            <a:ext cx="1253577" cy="797328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51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EEC312-7AD3-415C-348C-9EEA9301B5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914" y="4142223"/>
            <a:ext cx="2718632" cy="1170625"/>
          </a:xfrm>
          <a:prstGeom prst="roundRect">
            <a:avLst>
              <a:gd name="adj" fmla="val 424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87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ter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2931E7-B5A5-B21B-4E10-3FA3947921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08887" y="1895426"/>
            <a:ext cx="2954573" cy="1008951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5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4F797E9-87EF-98BC-1BB0-14B3B1A9F6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116" y="1413916"/>
            <a:ext cx="3778660" cy="2015084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98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CCB185-8CB8-772C-CF6D-A73D164154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3973757"/>
            <a:ext cx="3451794" cy="1279118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83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F6CE9B-8BEA-F824-8B54-8E90E17F02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1694" y="3468124"/>
            <a:ext cx="3070555" cy="1979187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27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7C25D2B-752A-C574-5F26-15A64F25D6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254" y="2160825"/>
            <a:ext cx="2167982" cy="1008952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EB01578-398C-AF12-80E4-3B8DB94CF1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1405" y="2160825"/>
            <a:ext cx="2167982" cy="1008952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8938C5B2-EA0A-4FA5-6FA4-04B09B5B0F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94487" y="3704811"/>
            <a:ext cx="2003877" cy="1539325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89B77-B524-43B8-959C-3401E9CA88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cted Out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9A6FB1C-2F1F-D4B2-6457-574BBCE465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95850" y="3638950"/>
            <a:ext cx="3545287" cy="2154457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88401-93F6-41F4-959A-10A2992A9D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6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34DBDF-D19E-88D6-22F6-BCD2C6A26D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8624" y="1386746"/>
            <a:ext cx="2700144" cy="1133703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D461E-70F2-4E5D-8683-D9674C526A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41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88B5C6C-D1B6-4067-22D9-2F831EA291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3588" y="1839337"/>
            <a:ext cx="1773085" cy="1589663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9AEB608-D298-3FB4-3964-636E8DA88E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8232" y="2800232"/>
            <a:ext cx="1773085" cy="2565997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C0DD320-B3E4-3286-C812-AE7A9D6904D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2775" y="1420883"/>
            <a:ext cx="3438363" cy="1474869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A49D-29BB-4646-A699-9E79D4D9F8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7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0911D9D-D38A-D26A-5235-02F977DDE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0143" y="1404558"/>
            <a:ext cx="3637249" cy="2638289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01343-DA15-4AE9-8C32-384A4DDA4D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2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174FDC-CF98-F230-765C-2FC01CCB5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901" y="3226104"/>
            <a:ext cx="5122799" cy="2221208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5DBA9-7227-42A7-9342-343CC53F9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2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ACAB90-2EC1-CB81-86A7-D05FEAEBCC4C}"/>
              </a:ext>
            </a:extLst>
          </p:cNvPr>
          <p:cNvSpPr/>
          <p:nvPr userDrawn="1"/>
        </p:nvSpPr>
        <p:spPr>
          <a:xfrm>
            <a:off x="2404416" y="1620409"/>
            <a:ext cx="3491107" cy="1736581"/>
          </a:xfrm>
          <a:prstGeom prst="roundRect">
            <a:avLst>
              <a:gd name="adj" fmla="val 353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07459C9-C56E-ADE8-4E68-F900635BEC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04416" y="1620409"/>
            <a:ext cx="3491107" cy="1736581"/>
          </a:xfrm>
          <a:prstGeom prst="roundRect">
            <a:avLst>
              <a:gd name="adj" fmla="val 3538"/>
            </a:avLst>
          </a:prstGeo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C9500-1D1F-4F53-94AB-F545500632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3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B1ABF-AAC9-7C5C-4577-847343B2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21854-7622-5859-9894-FE271E388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3A0B4-84AB-CB1C-1FF3-E1E1084F2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46585-4107-5342-9F4B-ECFCA1163E9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2391A-7CAD-9062-5247-1707EEA9F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878F-EAA3-DB60-7066-493373521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E1754-02FA-1840-B338-EDEA88C12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5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orient="horz" pos="346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514" userDrawn="1">
          <p15:clr>
            <a:srgbClr val="F26B43"/>
          </p15:clr>
        </p15:guide>
        <p15:guide id="7" orient="horz" pos="164" userDrawn="1">
          <p15:clr>
            <a:srgbClr val="F26B43"/>
          </p15:clr>
        </p15:guide>
        <p15:guide id="8" orient="horz" pos="4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2.xml"/><Relationship Id="rId3" Type="http://schemas.openxmlformats.org/officeDocument/2006/relationships/slide" Target="slide17.xml"/><Relationship Id="rId7" Type="http://schemas.openxmlformats.org/officeDocument/2006/relationships/slide" Target="slide3.xml"/><Relationship Id="rId12" Type="http://schemas.openxmlformats.org/officeDocument/2006/relationships/slide" Target="slide1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.xml"/><Relationship Id="rId5" Type="http://schemas.openxmlformats.org/officeDocument/2006/relationships/slide" Target="slide6.xml"/><Relationship Id="rId10" Type="http://schemas.openxmlformats.org/officeDocument/2006/relationships/slide" Target="slide20.xml"/><Relationship Id="rId4" Type="http://schemas.openxmlformats.org/officeDocument/2006/relationships/slide" Target="slide13.xml"/><Relationship Id="rId9" Type="http://schemas.openxmlformats.org/officeDocument/2006/relationships/slide" Target="slide19.xml"/><Relationship Id="rId1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649596-75D8-B082-9E45-8DB905FABC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0" name="Rounded 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DC9824A8-41FD-D0E3-C583-9CAC65E2A62E}"/>
              </a:ext>
            </a:extLst>
          </p:cNvPr>
          <p:cNvSpPr/>
          <p:nvPr/>
        </p:nvSpPr>
        <p:spPr>
          <a:xfrm>
            <a:off x="5226795" y="442510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406405" y="1338176"/>
            <a:ext cx="5174815" cy="2283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rgbClr val="2A2A2A"/>
                </a:solidFill>
                <a:latin typeface="+mj-lt"/>
              </a:rPr>
              <a:t>Research</a:t>
            </a:r>
          </a:p>
          <a:p>
            <a:pPr>
              <a:lnSpc>
                <a:spcPct val="80000"/>
              </a:lnSpc>
            </a:pPr>
            <a:r>
              <a:rPr lang="en-US" sz="8800" dirty="0">
                <a:solidFill>
                  <a:srgbClr val="2A2A2A"/>
                </a:solidFill>
                <a:latin typeface="+mj-lt"/>
              </a:rPr>
              <a:t>     Proposal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DDA6F-7F6F-4B08-05EC-0057C9BA9FF3}"/>
              </a:ext>
            </a:extLst>
          </p:cNvPr>
          <p:cNvCxnSpPr>
            <a:cxnSpLocks/>
          </p:cNvCxnSpPr>
          <p:nvPr/>
        </p:nvCxnSpPr>
        <p:spPr>
          <a:xfrm flipH="1">
            <a:off x="463557" y="5590551"/>
            <a:ext cx="567050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F3F834-20C4-9D90-5260-4D7AB84C643D}"/>
              </a:ext>
            </a:extLst>
          </p:cNvPr>
          <p:cNvSpPr txBox="1"/>
          <p:nvPr/>
        </p:nvSpPr>
        <p:spPr>
          <a:xfrm>
            <a:off x="406405" y="5946769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Author:</a:t>
            </a:r>
          </a:p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406404" y="4072998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D5FA3-1833-ABB2-0673-90FB688D4A83}"/>
              </a:ext>
            </a:extLst>
          </p:cNvPr>
          <p:cNvSpPr txBox="1"/>
          <p:nvPr/>
        </p:nvSpPr>
        <p:spPr>
          <a:xfrm>
            <a:off x="859659" y="441224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9CC69E-887D-E74B-D150-CAA5BD5F9330}"/>
              </a:ext>
            </a:extLst>
          </p:cNvPr>
          <p:cNvSpPr/>
          <p:nvPr/>
        </p:nvSpPr>
        <p:spPr>
          <a:xfrm>
            <a:off x="463557" y="417516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hlinkClick r:id="rId2" action="ppaction://hlinksldjump"/>
            <a:extLst>
              <a:ext uri="{FF2B5EF4-FFF2-40B4-BE49-F238E27FC236}">
                <a16:creationId xmlns:a16="http://schemas.microsoft.com/office/drawing/2014/main" id="{BF3CBD96-D19C-A31C-91A2-7289DD668191}"/>
              </a:ext>
            </a:extLst>
          </p:cNvPr>
          <p:cNvSpPr txBox="1"/>
          <p:nvPr/>
        </p:nvSpPr>
        <p:spPr>
          <a:xfrm>
            <a:off x="5361189" y="409474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DC84A8-C7F6-6944-4BD4-F68CCB85E93D}"/>
              </a:ext>
            </a:extLst>
          </p:cNvPr>
          <p:cNvSpPr txBox="1"/>
          <p:nvPr/>
        </p:nvSpPr>
        <p:spPr>
          <a:xfrm>
            <a:off x="9020733" y="5946769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Date:</a:t>
            </a:r>
          </a:p>
          <a:p>
            <a:r>
              <a:rPr lang="en-ID" sz="1400" dirty="0"/>
              <a:t>July 2045</a:t>
            </a:r>
            <a:endParaRPr lang="en-US" sz="1400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474667" y="5988131"/>
            <a:ext cx="399381" cy="399381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A8DF8-9F10-D6E0-7100-68EE760E9AD0}"/>
              </a:ext>
            </a:extLst>
          </p:cNvPr>
          <p:cNvSpPr txBox="1"/>
          <p:nvPr/>
        </p:nvSpPr>
        <p:spPr>
          <a:xfrm>
            <a:off x="6431981" y="5988132"/>
            <a:ext cx="1467068" cy="596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4000" dirty="0">
                <a:latin typeface="+mj-lt"/>
              </a:rPr>
              <a:t>/2045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DBB97D-0C7C-85EA-B016-D889D1E78F1A}"/>
              </a:ext>
            </a:extLst>
          </p:cNvPr>
          <p:cNvSpPr/>
          <p:nvPr/>
        </p:nvSpPr>
        <p:spPr>
          <a:xfrm>
            <a:off x="5817275" y="3663544"/>
            <a:ext cx="1467068" cy="818908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3EEBC1-D8C3-97C9-F91B-C9DE6A9EE3E3}"/>
              </a:ext>
            </a:extLst>
          </p:cNvPr>
          <p:cNvGrpSpPr/>
          <p:nvPr/>
        </p:nvGrpSpPr>
        <p:grpSpPr>
          <a:xfrm>
            <a:off x="7004480" y="3795164"/>
            <a:ext cx="143897" cy="143897"/>
            <a:chOff x="4794103" y="1588576"/>
            <a:chExt cx="1242488" cy="1242488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9FE982B-ABF1-3ECE-79E7-9BAF43415172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581131-3C2E-1496-5221-D7F3EB4D4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13">
            <a:extLst>
              <a:ext uri="{FF2B5EF4-FFF2-40B4-BE49-F238E27FC236}">
                <a16:creationId xmlns:a16="http://schemas.microsoft.com/office/drawing/2014/main" id="{1E593093-9A11-FBFD-DF1F-6D21BD694444}"/>
              </a:ext>
            </a:extLst>
          </p:cNvPr>
          <p:cNvSpPr>
            <a:spLocks/>
          </p:cNvSpPr>
          <p:nvPr/>
        </p:nvSpPr>
        <p:spPr bwMode="auto">
          <a:xfrm>
            <a:off x="928361" y="2776624"/>
            <a:ext cx="450765" cy="450765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4135B-C975-8F6E-CB02-FC52D3EE4452}"/>
              </a:ext>
            </a:extLst>
          </p:cNvPr>
          <p:cNvSpPr txBox="1"/>
          <p:nvPr/>
        </p:nvSpPr>
        <p:spPr>
          <a:xfrm>
            <a:off x="5892905" y="3692397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/>
              <a:t>Improvement</a:t>
            </a:r>
          </a:p>
          <a:p>
            <a:r>
              <a:rPr lang="en-ID" sz="1200" dirty="0"/>
              <a:t>Target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938B1F-7AF6-27BC-8CB0-E61EBD977161}"/>
              </a:ext>
            </a:extLst>
          </p:cNvPr>
          <p:cNvSpPr txBox="1"/>
          <p:nvPr/>
        </p:nvSpPr>
        <p:spPr>
          <a:xfrm>
            <a:off x="6458129" y="4055183"/>
            <a:ext cx="797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2000" dirty="0"/>
              <a:t>90%</a:t>
            </a: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52CCE-AB8E-77CA-A1BD-19A68387AD39}"/>
              </a:ext>
            </a:extLst>
          </p:cNvPr>
          <p:cNvSpPr txBox="1"/>
          <p:nvPr/>
        </p:nvSpPr>
        <p:spPr>
          <a:xfrm>
            <a:off x="2532098" y="5946769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  <a:p>
            <a:r>
              <a:rPr lang="en-ID" sz="1400" dirty="0" err="1"/>
              <a:t>Dakka</a:t>
            </a:r>
            <a:r>
              <a:rPr lang="en-ID" sz="1400" dirty="0"/>
              <a:t> University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592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hlinkClick r:id="rId2" action="ppaction://hlinksldjump"/>
            <a:extLst>
              <a:ext uri="{FF2B5EF4-FFF2-40B4-BE49-F238E27FC236}">
                <a16:creationId xmlns:a16="http://schemas.microsoft.com/office/drawing/2014/main" id="{5816FE94-1703-976F-0AD5-6EE4ABFBA036}"/>
              </a:ext>
            </a:extLst>
          </p:cNvPr>
          <p:cNvSpPr/>
          <p:nvPr/>
        </p:nvSpPr>
        <p:spPr>
          <a:xfrm>
            <a:off x="7364327" y="1546821"/>
            <a:ext cx="2010476" cy="255316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hlinkClick r:id="rId3" action="ppaction://hlinksldjump"/>
            <a:extLst>
              <a:ext uri="{FF2B5EF4-FFF2-40B4-BE49-F238E27FC236}">
                <a16:creationId xmlns:a16="http://schemas.microsoft.com/office/drawing/2014/main" id="{B34A7539-15F6-75B2-9830-D61BE7C3B3D7}"/>
              </a:ext>
            </a:extLst>
          </p:cNvPr>
          <p:cNvSpPr/>
          <p:nvPr/>
        </p:nvSpPr>
        <p:spPr>
          <a:xfrm>
            <a:off x="7364327" y="4406554"/>
            <a:ext cx="4256370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410525" y="1194820"/>
            <a:ext cx="2731838" cy="12005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rgbClr val="2A2A2A"/>
                </a:solidFill>
                <a:latin typeface="+mj-lt"/>
              </a:rPr>
              <a:t>Index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DDA6F-7F6F-4B08-05EC-0057C9BA9FF3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F3F834-20C4-9D90-5260-4D7AB84C643D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6" name="Rounded 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A7DBB97D-0C7C-85EA-B016-D889D1E78F1A}"/>
              </a:ext>
            </a:extLst>
          </p:cNvPr>
          <p:cNvSpPr/>
          <p:nvPr/>
        </p:nvSpPr>
        <p:spPr>
          <a:xfrm>
            <a:off x="5118432" y="4406554"/>
            <a:ext cx="2010476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3EEBC1-D8C3-97C9-F91B-C9DE6A9EE3E3}"/>
              </a:ext>
            </a:extLst>
          </p:cNvPr>
          <p:cNvGrpSpPr/>
          <p:nvPr/>
        </p:nvGrpSpPr>
        <p:grpSpPr>
          <a:xfrm rot="5400000">
            <a:off x="6812632" y="5207820"/>
            <a:ext cx="143897" cy="143897"/>
            <a:chOff x="4794103" y="1588576"/>
            <a:chExt cx="1242488" cy="1242488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9FE982B-ABF1-3ECE-79E7-9BAF43415172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581131-3C2E-1496-5221-D7F3EB4D4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hlinkClick r:id="rId4" action="ppaction://hlinksldjump"/>
            <a:extLst>
              <a:ext uri="{FF2B5EF4-FFF2-40B4-BE49-F238E27FC236}">
                <a16:creationId xmlns:a16="http://schemas.microsoft.com/office/drawing/2014/main" id="{8004135B-C975-8F6E-CB02-FC52D3EE4452}"/>
              </a:ext>
            </a:extLst>
          </p:cNvPr>
          <p:cNvSpPr txBox="1"/>
          <p:nvPr/>
        </p:nvSpPr>
        <p:spPr>
          <a:xfrm>
            <a:off x="5194062" y="4520206"/>
            <a:ext cx="1040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Expected</a:t>
            </a:r>
          </a:p>
          <a:p>
            <a:r>
              <a:rPr lang="en-ID" b="1" dirty="0"/>
              <a:t>Outcomes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52CCE-AB8E-77CA-A1BD-19A68387AD39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54" name="Rounded Rectangle 53">
            <a:hlinkClick r:id="rId5" action="ppaction://hlinksldjump"/>
            <a:extLst>
              <a:ext uri="{FF2B5EF4-FFF2-40B4-BE49-F238E27FC236}">
                <a16:creationId xmlns:a16="http://schemas.microsoft.com/office/drawing/2014/main" id="{1FC5BB53-3929-43DF-DC14-905FC5A0A275}"/>
              </a:ext>
            </a:extLst>
          </p:cNvPr>
          <p:cNvSpPr/>
          <p:nvPr/>
        </p:nvSpPr>
        <p:spPr>
          <a:xfrm>
            <a:off x="5118432" y="2978806"/>
            <a:ext cx="2010476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21BB5B1-E6CC-5753-6934-1E59A79ECBD5}"/>
              </a:ext>
            </a:extLst>
          </p:cNvPr>
          <p:cNvGrpSpPr/>
          <p:nvPr/>
        </p:nvGrpSpPr>
        <p:grpSpPr>
          <a:xfrm rot="5400000">
            <a:off x="6812632" y="3780072"/>
            <a:ext cx="143897" cy="143897"/>
            <a:chOff x="4794103" y="1588576"/>
            <a:chExt cx="1242488" cy="1242488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D109088-66BC-2310-AC4E-EAF22052EDC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AC471E3-F88C-0E84-232A-30AA6AE9E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hlinkClick r:id="rId5" action="ppaction://hlinksldjump"/>
            <a:extLst>
              <a:ext uri="{FF2B5EF4-FFF2-40B4-BE49-F238E27FC236}">
                <a16:creationId xmlns:a16="http://schemas.microsoft.com/office/drawing/2014/main" id="{8D5A9F5D-A507-1187-628C-92441309A3BE}"/>
              </a:ext>
            </a:extLst>
          </p:cNvPr>
          <p:cNvSpPr txBox="1"/>
          <p:nvPr/>
        </p:nvSpPr>
        <p:spPr>
          <a:xfrm>
            <a:off x="5194062" y="3092458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Methodology</a:t>
            </a:r>
            <a:endParaRPr lang="en-US" b="1" dirty="0"/>
          </a:p>
        </p:txBody>
      </p:sp>
      <p:sp>
        <p:nvSpPr>
          <p:cNvPr id="64" name="TextBox 63">
            <a:hlinkClick r:id="rId3" action="ppaction://hlinksldjump"/>
            <a:extLst>
              <a:ext uri="{FF2B5EF4-FFF2-40B4-BE49-F238E27FC236}">
                <a16:creationId xmlns:a16="http://schemas.microsoft.com/office/drawing/2014/main" id="{7F16993D-CB2D-3AAC-6926-FE24397CD723}"/>
              </a:ext>
            </a:extLst>
          </p:cNvPr>
          <p:cNvSpPr txBox="1"/>
          <p:nvPr/>
        </p:nvSpPr>
        <p:spPr>
          <a:xfrm>
            <a:off x="7439957" y="4520206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Timeline</a:t>
            </a:r>
            <a:endParaRPr lang="en-US" b="1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AFEC617-EDC8-3F82-EAB1-8A47C0E11D05}"/>
              </a:ext>
            </a:extLst>
          </p:cNvPr>
          <p:cNvGrpSpPr/>
          <p:nvPr/>
        </p:nvGrpSpPr>
        <p:grpSpPr>
          <a:xfrm rot="5400000">
            <a:off x="9058527" y="3780072"/>
            <a:ext cx="143897" cy="143897"/>
            <a:chOff x="4794103" y="1588576"/>
            <a:chExt cx="1242488" cy="1242488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5B8005D-174A-4620-BFE3-570F22B89648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CB93F90-F9B0-DE99-E066-C16686B2B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91AE10F-AD20-3DD3-1C67-41C25261AB26}"/>
              </a:ext>
            </a:extLst>
          </p:cNvPr>
          <p:cNvGrpSpPr/>
          <p:nvPr/>
        </p:nvGrpSpPr>
        <p:grpSpPr>
          <a:xfrm rot="5400000">
            <a:off x="11304421" y="5207820"/>
            <a:ext cx="143897" cy="143897"/>
            <a:chOff x="4794103" y="1588576"/>
            <a:chExt cx="1242488" cy="1242488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FCBA79B-9AE0-7629-3A31-CCC25626F3B3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A660B5E-95D8-0346-B993-0BF62D0B1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ounded Rectangle 74">
            <a:hlinkClick r:id="rId6" action="ppaction://hlinksldjump"/>
            <a:extLst>
              <a:ext uri="{FF2B5EF4-FFF2-40B4-BE49-F238E27FC236}">
                <a16:creationId xmlns:a16="http://schemas.microsoft.com/office/drawing/2014/main" id="{B6CD1C7F-6747-75FE-EBF0-308DD962F1FE}"/>
              </a:ext>
            </a:extLst>
          </p:cNvPr>
          <p:cNvSpPr/>
          <p:nvPr/>
        </p:nvSpPr>
        <p:spPr>
          <a:xfrm>
            <a:off x="9610221" y="2978806"/>
            <a:ext cx="2010476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1E630F2-217F-74B2-812E-4EDD21626F33}"/>
              </a:ext>
            </a:extLst>
          </p:cNvPr>
          <p:cNvGrpSpPr/>
          <p:nvPr/>
        </p:nvGrpSpPr>
        <p:grpSpPr>
          <a:xfrm rot="5400000">
            <a:off x="11304421" y="3780072"/>
            <a:ext cx="143897" cy="143897"/>
            <a:chOff x="4794103" y="1588576"/>
            <a:chExt cx="1242488" cy="1242488"/>
          </a:xfrm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36379D0-5051-F34A-3B2C-F3DC69548311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16CB74A-951D-9D7D-4AEC-E618E5B1B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hlinkClick r:id="rId6" action="ppaction://hlinksldjump"/>
            <a:extLst>
              <a:ext uri="{FF2B5EF4-FFF2-40B4-BE49-F238E27FC236}">
                <a16:creationId xmlns:a16="http://schemas.microsoft.com/office/drawing/2014/main" id="{1F8F6CB9-ECB6-A942-4736-A946C00A36DC}"/>
              </a:ext>
            </a:extLst>
          </p:cNvPr>
          <p:cNvSpPr txBox="1"/>
          <p:nvPr/>
        </p:nvSpPr>
        <p:spPr>
          <a:xfrm>
            <a:off x="9685851" y="3092458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Conclusion</a:t>
            </a:r>
            <a:endParaRPr lang="en-US" b="1" dirty="0"/>
          </a:p>
        </p:txBody>
      </p:sp>
      <p:sp>
        <p:nvSpPr>
          <p:cNvPr id="80" name="Rounded Rectangle 79">
            <a:hlinkClick r:id="rId7" action="ppaction://hlinksldjump"/>
            <a:extLst>
              <a:ext uri="{FF2B5EF4-FFF2-40B4-BE49-F238E27FC236}">
                <a16:creationId xmlns:a16="http://schemas.microsoft.com/office/drawing/2014/main" id="{E73B8724-E9F4-A321-3042-35AD89DEE8BF}"/>
              </a:ext>
            </a:extLst>
          </p:cNvPr>
          <p:cNvSpPr/>
          <p:nvPr/>
        </p:nvSpPr>
        <p:spPr>
          <a:xfrm>
            <a:off x="5118432" y="1546822"/>
            <a:ext cx="2010476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2C543D5-DA89-36D5-347D-D009F29C4E76}"/>
              </a:ext>
            </a:extLst>
          </p:cNvPr>
          <p:cNvGrpSpPr/>
          <p:nvPr/>
        </p:nvGrpSpPr>
        <p:grpSpPr>
          <a:xfrm rot="5400000">
            <a:off x="6812632" y="2348088"/>
            <a:ext cx="143897" cy="143897"/>
            <a:chOff x="4794103" y="1588576"/>
            <a:chExt cx="1242488" cy="1242488"/>
          </a:xfrm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4B707E3-E243-3A50-6AF8-7498DFAF3EFA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CDC5DA6-B655-E571-25A8-3BD6D657A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hlinkClick r:id="rId7" action="ppaction://hlinksldjump"/>
            <a:extLst>
              <a:ext uri="{FF2B5EF4-FFF2-40B4-BE49-F238E27FC236}">
                <a16:creationId xmlns:a16="http://schemas.microsoft.com/office/drawing/2014/main" id="{37736A9C-60E4-8C12-17E9-CCE04D04DB96}"/>
              </a:ext>
            </a:extLst>
          </p:cNvPr>
          <p:cNvSpPr txBox="1"/>
          <p:nvPr/>
        </p:nvSpPr>
        <p:spPr>
          <a:xfrm>
            <a:off x="5194062" y="1660474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Introduction</a:t>
            </a:r>
            <a:endParaRPr lang="en-US" b="1" dirty="0"/>
          </a:p>
        </p:txBody>
      </p:sp>
      <p:sp>
        <p:nvSpPr>
          <p:cNvPr id="89" name="TextBox 88">
            <a:hlinkClick r:id="rId2" action="ppaction://hlinksldjump"/>
            <a:extLst>
              <a:ext uri="{FF2B5EF4-FFF2-40B4-BE49-F238E27FC236}">
                <a16:creationId xmlns:a16="http://schemas.microsoft.com/office/drawing/2014/main" id="{2DB942DF-B7E7-D825-A7AF-FD1B6E96E9F9}"/>
              </a:ext>
            </a:extLst>
          </p:cNvPr>
          <p:cNvSpPr txBox="1"/>
          <p:nvPr/>
        </p:nvSpPr>
        <p:spPr>
          <a:xfrm>
            <a:off x="7439957" y="1660474"/>
            <a:ext cx="1063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Research</a:t>
            </a:r>
          </a:p>
          <a:p>
            <a:r>
              <a:rPr lang="en-ID" b="1" dirty="0"/>
              <a:t>Objectives</a:t>
            </a:r>
            <a:endParaRPr lang="en-US" b="1" dirty="0"/>
          </a:p>
        </p:txBody>
      </p:sp>
      <p:sp>
        <p:nvSpPr>
          <p:cNvPr id="90" name="Rounded Rectangle 89">
            <a:hlinkClick r:id="rId8" action="ppaction://hlinksldjump"/>
            <a:extLst>
              <a:ext uri="{FF2B5EF4-FFF2-40B4-BE49-F238E27FC236}">
                <a16:creationId xmlns:a16="http://schemas.microsoft.com/office/drawing/2014/main" id="{B49AAC20-4546-8FDA-DB96-CA40D089C8BD}"/>
              </a:ext>
            </a:extLst>
          </p:cNvPr>
          <p:cNvSpPr/>
          <p:nvPr/>
        </p:nvSpPr>
        <p:spPr>
          <a:xfrm>
            <a:off x="9610221" y="1546822"/>
            <a:ext cx="2010476" cy="1144522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A51182C-958A-81CB-64A6-2A375570AF56}"/>
              </a:ext>
            </a:extLst>
          </p:cNvPr>
          <p:cNvGrpSpPr/>
          <p:nvPr/>
        </p:nvGrpSpPr>
        <p:grpSpPr>
          <a:xfrm rot="5400000">
            <a:off x="11304421" y="2348088"/>
            <a:ext cx="143897" cy="143897"/>
            <a:chOff x="4794103" y="1588576"/>
            <a:chExt cx="1242488" cy="1242488"/>
          </a:xfrm>
        </p:grpSpPr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A08FB6C9-DFF5-6528-4823-2F150773A3F9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04C90EA-78FB-AE21-359F-78F861FBA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hlinkClick r:id="rId8" action="ppaction://hlinksldjump"/>
            <a:extLst>
              <a:ext uri="{FF2B5EF4-FFF2-40B4-BE49-F238E27FC236}">
                <a16:creationId xmlns:a16="http://schemas.microsoft.com/office/drawing/2014/main" id="{5E585101-0664-4766-EA14-2E8E46609680}"/>
              </a:ext>
            </a:extLst>
          </p:cNvPr>
          <p:cNvSpPr txBox="1"/>
          <p:nvPr/>
        </p:nvSpPr>
        <p:spPr>
          <a:xfrm>
            <a:off x="9685851" y="1660474"/>
            <a:ext cx="982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Literature</a:t>
            </a:r>
          </a:p>
          <a:p>
            <a:r>
              <a:rPr lang="en-ID" b="1" dirty="0"/>
              <a:t>Review</a:t>
            </a:r>
            <a:endParaRPr lang="en-US" b="1" dirty="0"/>
          </a:p>
        </p:txBody>
      </p:sp>
      <p:sp>
        <p:nvSpPr>
          <p:cNvPr id="95" name="TextBox 94">
            <a:hlinkClick r:id="rId9" action="ppaction://hlinksldjump"/>
            <a:extLst>
              <a:ext uri="{FF2B5EF4-FFF2-40B4-BE49-F238E27FC236}">
                <a16:creationId xmlns:a16="http://schemas.microsoft.com/office/drawing/2014/main" id="{3C623C02-B3C4-5A1E-B0DD-DFF6AC2EA81D}"/>
              </a:ext>
            </a:extLst>
          </p:cNvPr>
          <p:cNvSpPr txBox="1"/>
          <p:nvPr/>
        </p:nvSpPr>
        <p:spPr>
          <a:xfrm>
            <a:off x="551723" y="4616958"/>
            <a:ext cx="204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Budget</a:t>
            </a:r>
            <a:endParaRPr lang="en-US" b="1" dirty="0"/>
          </a:p>
        </p:txBody>
      </p:sp>
      <p:sp>
        <p:nvSpPr>
          <p:cNvPr id="96" name="TextBox 95">
            <a:hlinkClick r:id="rId10" action="ppaction://hlinksldjump"/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551723" y="5278935"/>
            <a:ext cx="1977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174D227-6DC6-4A6B-6D0E-E577F0BB280F}"/>
              </a:ext>
            </a:extLst>
          </p:cNvPr>
          <p:cNvCxnSpPr>
            <a:cxnSpLocks/>
          </p:cNvCxnSpPr>
          <p:nvPr/>
        </p:nvCxnSpPr>
        <p:spPr>
          <a:xfrm flipH="1">
            <a:off x="544878" y="5165854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523D64B-7803-3910-C82A-CD6EBA812A44}"/>
              </a:ext>
            </a:extLst>
          </p:cNvPr>
          <p:cNvGrpSpPr/>
          <p:nvPr/>
        </p:nvGrpSpPr>
        <p:grpSpPr>
          <a:xfrm rot="5400000">
            <a:off x="2748511" y="4743017"/>
            <a:ext cx="143897" cy="143897"/>
            <a:chOff x="4794103" y="1588576"/>
            <a:chExt cx="1242488" cy="1242488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95A01D7-0205-9B87-BFFE-9E1EE480D427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40CCC4-7E77-A9E6-0039-76162ED75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2748511" y="5352618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Rounded Rectangle 107">
            <a:hlinkClick r:id="rId11" action="ppaction://hlinksldjump"/>
            <a:extLst>
              <a:ext uri="{FF2B5EF4-FFF2-40B4-BE49-F238E27FC236}">
                <a16:creationId xmlns:a16="http://schemas.microsoft.com/office/drawing/2014/main" id="{E33E2066-2C94-76F4-D0F4-8B49364DDB4C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F8EFC92-9E48-538D-9EE5-23021658D39F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110" name="Rounded Rectangle 10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DE5F9F4-7578-3742-A16A-7250ADBB4EB7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hlinkClick r:id="rId11" action="ppaction://hlinksldjump"/>
            <a:extLst>
              <a:ext uri="{FF2B5EF4-FFF2-40B4-BE49-F238E27FC236}">
                <a16:creationId xmlns:a16="http://schemas.microsoft.com/office/drawing/2014/main" id="{5265E4B4-C8AC-43CD-B4E9-DDEA60BFE154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822F0D7-CC78-D8C9-4D7E-FCCF1F191F8C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606C396-16C6-D69F-108F-A36006845395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Freeform 13">
            <a:extLst>
              <a:ext uri="{FF2B5EF4-FFF2-40B4-BE49-F238E27FC236}">
                <a16:creationId xmlns:a16="http://schemas.microsoft.com/office/drawing/2014/main" id="{6142EB4F-7953-2148-2A97-CA324F16FDAC}"/>
              </a:ext>
            </a:extLst>
          </p:cNvPr>
          <p:cNvSpPr>
            <a:spLocks/>
          </p:cNvSpPr>
          <p:nvPr/>
        </p:nvSpPr>
        <p:spPr bwMode="auto">
          <a:xfrm>
            <a:off x="3915090" y="3214202"/>
            <a:ext cx="339395" cy="339395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116" name="object 13">
            <a:extLst>
              <a:ext uri="{FF2B5EF4-FFF2-40B4-BE49-F238E27FC236}">
                <a16:creationId xmlns:a16="http://schemas.microsoft.com/office/drawing/2014/main" id="{5BF6C74C-6731-81C3-AF12-D8B477DB18DE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hlinkClick r:id="rId12" action="ppaction://hlinksldjump"/>
            <a:extLst>
              <a:ext uri="{FF2B5EF4-FFF2-40B4-BE49-F238E27FC236}">
                <a16:creationId xmlns:a16="http://schemas.microsoft.com/office/drawing/2014/main" id="{90A7D0DD-8A3B-1E78-8365-197B764B3CC8}"/>
              </a:ext>
            </a:extLst>
          </p:cNvPr>
          <p:cNvSpPr txBox="1"/>
          <p:nvPr/>
        </p:nvSpPr>
        <p:spPr>
          <a:xfrm>
            <a:off x="551723" y="3968029"/>
            <a:ext cx="1977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Future Work</a:t>
            </a:r>
            <a:endParaRPr lang="en-US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36DCD7-A82D-95AD-585D-3A0FDC30EB4E}"/>
              </a:ext>
            </a:extLst>
          </p:cNvPr>
          <p:cNvCxnSpPr>
            <a:cxnSpLocks/>
          </p:cNvCxnSpPr>
          <p:nvPr/>
        </p:nvCxnSpPr>
        <p:spPr>
          <a:xfrm flipH="1">
            <a:off x="544878" y="4516925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75856F1-E47E-FCF3-F88B-7A8D2E24EC0B}"/>
              </a:ext>
            </a:extLst>
          </p:cNvPr>
          <p:cNvGrpSpPr/>
          <p:nvPr/>
        </p:nvGrpSpPr>
        <p:grpSpPr>
          <a:xfrm rot="5400000">
            <a:off x="2748511" y="4094088"/>
            <a:ext cx="143897" cy="143897"/>
            <a:chOff x="4794103" y="1588576"/>
            <a:chExt cx="1242488" cy="1242488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40C8F1D-4177-A4F7-4115-0BBD6124941D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C90A7A-F3E2-9A23-2B8C-97CE1E4C4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hlinkClick r:id="rId13" action="ppaction://hlinksldjump"/>
            <a:extLst>
              <a:ext uri="{FF2B5EF4-FFF2-40B4-BE49-F238E27FC236}">
                <a16:creationId xmlns:a16="http://schemas.microsoft.com/office/drawing/2014/main" id="{2EB70AE8-66BF-61F3-507F-7F5F80D616B9}"/>
              </a:ext>
            </a:extLst>
          </p:cNvPr>
          <p:cNvSpPr txBox="1"/>
          <p:nvPr/>
        </p:nvSpPr>
        <p:spPr>
          <a:xfrm>
            <a:off x="551723" y="3260107"/>
            <a:ext cx="2040996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Case Study</a:t>
            </a:r>
            <a:endParaRPr lang="en-US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7CB491-4D64-8AEC-985D-B02550F859E6}"/>
              </a:ext>
            </a:extLst>
          </p:cNvPr>
          <p:cNvCxnSpPr>
            <a:cxnSpLocks/>
          </p:cNvCxnSpPr>
          <p:nvPr/>
        </p:nvCxnSpPr>
        <p:spPr>
          <a:xfrm flipH="1">
            <a:off x="544878" y="3809003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F85CFB-55E2-BECB-6ACB-C1553DF374EF}"/>
              </a:ext>
            </a:extLst>
          </p:cNvPr>
          <p:cNvGrpSpPr/>
          <p:nvPr/>
        </p:nvGrpSpPr>
        <p:grpSpPr>
          <a:xfrm rot="5400000">
            <a:off x="2748511" y="3386166"/>
            <a:ext cx="143897" cy="143897"/>
            <a:chOff x="4794103" y="1588576"/>
            <a:chExt cx="1242488" cy="124248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F6DF100-A7A9-89D8-7654-97F9140711E8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AB0B97-E807-F187-C48F-60AAB6219F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hlinkClick r:id="rId14" action="ppaction://hlinksldjump"/>
            <a:extLst>
              <a:ext uri="{FF2B5EF4-FFF2-40B4-BE49-F238E27FC236}">
                <a16:creationId xmlns:a16="http://schemas.microsoft.com/office/drawing/2014/main" id="{859EC0F0-7E20-37C5-2A70-AD8BCF52C51B}"/>
              </a:ext>
            </a:extLst>
          </p:cNvPr>
          <p:cNvSpPr txBox="1"/>
          <p:nvPr/>
        </p:nvSpPr>
        <p:spPr>
          <a:xfrm>
            <a:off x="551723" y="2611178"/>
            <a:ext cx="204099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Mitigation</a:t>
            </a:r>
            <a:endParaRPr lang="en-US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8B7718-ACC1-980D-FD1F-D3FA1804A112}"/>
              </a:ext>
            </a:extLst>
          </p:cNvPr>
          <p:cNvCxnSpPr>
            <a:cxnSpLocks/>
          </p:cNvCxnSpPr>
          <p:nvPr/>
        </p:nvCxnSpPr>
        <p:spPr>
          <a:xfrm flipH="1">
            <a:off x="544878" y="3160074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8E8BA3-0A54-72F4-8CFE-3945852A45C4}"/>
              </a:ext>
            </a:extLst>
          </p:cNvPr>
          <p:cNvGrpSpPr/>
          <p:nvPr/>
        </p:nvGrpSpPr>
        <p:grpSpPr>
          <a:xfrm rot="5400000">
            <a:off x="2748511" y="2737237"/>
            <a:ext cx="143897" cy="143897"/>
            <a:chOff x="4794103" y="1588576"/>
            <a:chExt cx="1242488" cy="1242488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98E246C-1770-6D8B-C2B9-9188E18A48D1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2EF919F-9035-495B-E61D-32B9902D3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5517452-83A5-2A2E-1D6F-E3465C8C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2A56D96-D479-7573-18F5-EB5B099127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486083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816FE94-1703-976F-0AD5-6EE4ABFBA036}"/>
              </a:ext>
            </a:extLst>
          </p:cNvPr>
          <p:cNvSpPr/>
          <p:nvPr/>
        </p:nvSpPr>
        <p:spPr>
          <a:xfrm>
            <a:off x="8528535" y="-3021822"/>
            <a:ext cx="2010476" cy="255316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7817598" y="1136269"/>
            <a:ext cx="2842445" cy="1885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Intro-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B942DF-B7E7-D825-A7AF-FD1B6E96E9F9}"/>
              </a:ext>
            </a:extLst>
          </p:cNvPr>
          <p:cNvSpPr txBox="1"/>
          <p:nvPr/>
        </p:nvSpPr>
        <p:spPr>
          <a:xfrm>
            <a:off x="550952" y="1402966"/>
            <a:ext cx="4758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Predictive analytics has emerged as a critical tool in the era of big data, enabling organizations to forecast future trends and make informed decisions.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623C02-B3C4-5A1E-B0DD-DFF6AC2EA81D}"/>
              </a:ext>
            </a:extLst>
          </p:cNvPr>
          <p:cNvSpPr txBox="1"/>
          <p:nvPr/>
        </p:nvSpPr>
        <p:spPr>
          <a:xfrm>
            <a:off x="557797" y="3534963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Goal</a:t>
            </a:r>
            <a:endParaRPr lang="en-US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174D227-6DC6-4A6B-6D0E-E577F0BB280F}"/>
              </a:ext>
            </a:extLst>
          </p:cNvPr>
          <p:cNvCxnSpPr>
            <a:cxnSpLocks/>
          </p:cNvCxnSpPr>
          <p:nvPr/>
        </p:nvCxnSpPr>
        <p:spPr>
          <a:xfrm flipH="1">
            <a:off x="550952" y="4142224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523D64B-7803-3910-C82A-CD6EBA812A44}"/>
              </a:ext>
            </a:extLst>
          </p:cNvPr>
          <p:cNvGrpSpPr/>
          <p:nvPr/>
        </p:nvGrpSpPr>
        <p:grpSpPr>
          <a:xfrm rot="5400000">
            <a:off x="2754585" y="3719387"/>
            <a:ext cx="143897" cy="143897"/>
            <a:chOff x="4794103" y="1588576"/>
            <a:chExt cx="1242488" cy="1242488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95A01D7-0205-9B87-BFFE-9E1EE480D427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40CCC4-7E77-A9E6-0039-76162ED75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DA7B18C-C3D1-8472-C1FC-4E4E6508CFE0}"/>
              </a:ext>
            </a:extLst>
          </p:cNvPr>
          <p:cNvSpPr txBox="1"/>
          <p:nvPr/>
        </p:nvSpPr>
        <p:spPr>
          <a:xfrm>
            <a:off x="547130" y="4529142"/>
            <a:ext cx="2394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Explore advanced machine learning algorithms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5DA74-8068-7CD8-BBB3-D0BAFB6FEAC2}"/>
              </a:ext>
            </a:extLst>
          </p:cNvPr>
          <p:cNvSpPr txBox="1"/>
          <p:nvPr/>
        </p:nvSpPr>
        <p:spPr>
          <a:xfrm>
            <a:off x="4014588" y="3534963"/>
            <a:ext cx="894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Focus</a:t>
            </a:r>
            <a:endParaRPr lang="en-US" sz="2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21BD36-59A4-B53A-68E7-61DFFEBF6073}"/>
              </a:ext>
            </a:extLst>
          </p:cNvPr>
          <p:cNvCxnSpPr>
            <a:cxnSpLocks/>
          </p:cNvCxnSpPr>
          <p:nvPr/>
        </p:nvCxnSpPr>
        <p:spPr>
          <a:xfrm flipH="1">
            <a:off x="4007743" y="4142224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3C9806-25B1-EE66-7BC4-E07360480270}"/>
              </a:ext>
            </a:extLst>
          </p:cNvPr>
          <p:cNvGrpSpPr/>
          <p:nvPr/>
        </p:nvGrpSpPr>
        <p:grpSpPr>
          <a:xfrm rot="5400000">
            <a:off x="6211376" y="3719387"/>
            <a:ext cx="143897" cy="143897"/>
            <a:chOff x="4794103" y="1588576"/>
            <a:chExt cx="1242488" cy="124248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F397083-EA7C-3BD7-5F36-FA655B615FA0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302B9A-630B-EA8E-BE36-E8491A78E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3E8897D-F6E4-C64F-232C-1F6949A93A9E}"/>
              </a:ext>
            </a:extLst>
          </p:cNvPr>
          <p:cNvSpPr txBox="1"/>
          <p:nvPr/>
        </p:nvSpPr>
        <p:spPr>
          <a:xfrm>
            <a:off x="4003921" y="4529143"/>
            <a:ext cx="235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Enhancing predictive accuracy in complex data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13">
            <a:extLst>
              <a:ext uri="{FF2B5EF4-FFF2-40B4-BE49-F238E27FC236}">
                <a16:creationId xmlns:a16="http://schemas.microsoft.com/office/drawing/2014/main" id="{78A3D9AF-D8E8-48DA-D1C5-17DD7EDF9790}"/>
              </a:ext>
            </a:extLst>
          </p:cNvPr>
          <p:cNvSpPr>
            <a:spLocks/>
          </p:cNvSpPr>
          <p:nvPr/>
        </p:nvSpPr>
        <p:spPr bwMode="auto">
          <a:xfrm>
            <a:off x="11187376" y="4431530"/>
            <a:ext cx="587209" cy="58720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9" name="object 13">
            <a:extLst>
              <a:ext uri="{FF2B5EF4-FFF2-40B4-BE49-F238E27FC236}">
                <a16:creationId xmlns:a16="http://schemas.microsoft.com/office/drawing/2014/main" id="{809A357A-A24C-6139-C0BC-5A79F44ED24F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FE64CBD-FE1F-86BE-3C6F-DAAE049D09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2294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816FE94-1703-976F-0AD5-6EE4ABFBA036}"/>
              </a:ext>
            </a:extLst>
          </p:cNvPr>
          <p:cNvSpPr/>
          <p:nvPr/>
        </p:nvSpPr>
        <p:spPr>
          <a:xfrm>
            <a:off x="563474" y="3864452"/>
            <a:ext cx="3253751" cy="178331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38761" y="1151621"/>
            <a:ext cx="11102377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Research Objectives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4AD03-B1C0-48DA-E8E0-FDD076E22E10}"/>
              </a:ext>
            </a:extLst>
          </p:cNvPr>
          <p:cNvSpPr/>
          <p:nvPr/>
        </p:nvSpPr>
        <p:spPr>
          <a:xfrm>
            <a:off x="3467314" y="-1357509"/>
            <a:ext cx="2718632" cy="1170624"/>
          </a:xfrm>
          <a:prstGeom prst="roundRect">
            <a:avLst>
              <a:gd name="adj" fmla="val 353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523D64B-7803-3910-C82A-CD6EBA812A44}"/>
              </a:ext>
            </a:extLst>
          </p:cNvPr>
          <p:cNvGrpSpPr/>
          <p:nvPr/>
        </p:nvGrpSpPr>
        <p:grpSpPr>
          <a:xfrm>
            <a:off x="3460500" y="4116463"/>
            <a:ext cx="143897" cy="143897"/>
            <a:chOff x="4794103" y="1588576"/>
            <a:chExt cx="1242488" cy="1242488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95A01D7-0205-9B87-BFFE-9E1EE480D427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40CCC4-7E77-A9E6-0039-76162ED75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DA7B18C-C3D1-8472-C1FC-4E4E6508CFE0}"/>
              </a:ext>
            </a:extLst>
          </p:cNvPr>
          <p:cNvSpPr txBox="1"/>
          <p:nvPr/>
        </p:nvSpPr>
        <p:spPr>
          <a:xfrm>
            <a:off x="683621" y="4621020"/>
            <a:ext cx="2896061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Develop Novel Machine Learning Algorithms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11083959" y="1378118"/>
            <a:ext cx="587209" cy="58720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3">
            <a:extLst>
              <a:ext uri="{FF2B5EF4-FFF2-40B4-BE49-F238E27FC236}">
                <a16:creationId xmlns:a16="http://schemas.microsoft.com/office/drawing/2014/main" id="{9D15C453-F61B-FA96-A72D-0821EAB2A7A7}"/>
              </a:ext>
            </a:extLst>
          </p:cNvPr>
          <p:cNvSpPr/>
          <p:nvPr/>
        </p:nvSpPr>
        <p:spPr>
          <a:xfrm>
            <a:off x="741888" y="4078209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A1EA4B-8E05-A7FD-EC46-85DCB368D871}"/>
              </a:ext>
            </a:extLst>
          </p:cNvPr>
          <p:cNvSpPr/>
          <p:nvPr/>
        </p:nvSpPr>
        <p:spPr>
          <a:xfrm>
            <a:off x="4461949" y="3286929"/>
            <a:ext cx="3253751" cy="178331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9CE2D9-3D9F-B662-7768-3D50F1FC849A}"/>
              </a:ext>
            </a:extLst>
          </p:cNvPr>
          <p:cNvGrpSpPr/>
          <p:nvPr/>
        </p:nvGrpSpPr>
        <p:grpSpPr>
          <a:xfrm>
            <a:off x="7358975" y="3538940"/>
            <a:ext cx="143897" cy="143897"/>
            <a:chOff x="4794103" y="1588576"/>
            <a:chExt cx="1242488" cy="1242488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550DD0C-6F3C-5D4C-DBC0-C5775F4D104D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8385D40-095E-A3BB-7726-B1F0A2555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06E6C77-1EC5-6D0F-EFF1-E734C9CC7F63}"/>
              </a:ext>
            </a:extLst>
          </p:cNvPr>
          <p:cNvSpPr txBox="1"/>
          <p:nvPr/>
        </p:nvSpPr>
        <p:spPr>
          <a:xfrm>
            <a:off x="4582096" y="4043497"/>
            <a:ext cx="2896061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Evaluate Algorithm Performance</a:t>
            </a:r>
            <a:endParaRPr lang="en-US" dirty="0"/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101AD4F1-BD58-67D9-04CE-25C2BF50FBDF}"/>
              </a:ext>
            </a:extLst>
          </p:cNvPr>
          <p:cNvSpPr/>
          <p:nvPr/>
        </p:nvSpPr>
        <p:spPr>
          <a:xfrm>
            <a:off x="4640363" y="3500686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8413932" y="2513510"/>
            <a:ext cx="3253751" cy="178331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229761-5E9A-A76A-4A9D-01FE4B03541C}"/>
              </a:ext>
            </a:extLst>
          </p:cNvPr>
          <p:cNvGrpSpPr/>
          <p:nvPr/>
        </p:nvGrpSpPr>
        <p:grpSpPr>
          <a:xfrm>
            <a:off x="11310958" y="2765521"/>
            <a:ext cx="143897" cy="143897"/>
            <a:chOff x="4794103" y="1588576"/>
            <a:chExt cx="1242488" cy="1242488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7C5A5AA-8298-2C4D-D720-E339FF7BA673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29BD414-EB8C-4E4F-7C0E-31EA73D623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8534079" y="3270078"/>
            <a:ext cx="2896061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Apply Algorithms in Real-World Scenarios</a:t>
            </a:r>
            <a:endParaRPr lang="en-US" dirty="0"/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8592346" y="2727267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892B41-AE25-2118-6D52-830FDA32EB23}"/>
              </a:ext>
            </a:extLst>
          </p:cNvPr>
          <p:cNvCxnSpPr>
            <a:cxnSpLocks/>
          </p:cNvCxnSpPr>
          <p:nvPr/>
        </p:nvCxnSpPr>
        <p:spPr>
          <a:xfrm flipH="1">
            <a:off x="4706435" y="6948177"/>
            <a:ext cx="2394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6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7756072" y="1167945"/>
            <a:ext cx="3933608" cy="2874919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38761" y="3741958"/>
            <a:ext cx="5570915" cy="1885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Literature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3767545" y="4964842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6E6C77-1EC5-6D0F-EFF1-E734C9CC7F63}"/>
              </a:ext>
            </a:extLst>
          </p:cNvPr>
          <p:cNvSpPr txBox="1"/>
          <p:nvPr/>
        </p:nvSpPr>
        <p:spPr>
          <a:xfrm>
            <a:off x="560062" y="1522584"/>
            <a:ext cx="211962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Limitations of traditional methods</a:t>
            </a:r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7920176" y="3042829"/>
            <a:ext cx="3543285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Integrating state-of-the-art and novel approaches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8014509" y="1870037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CC56B4-4B42-8440-FCFC-021EB18A5590}"/>
              </a:ext>
            </a:extLst>
          </p:cNvPr>
          <p:cNvCxnSpPr>
            <a:cxnSpLocks/>
          </p:cNvCxnSpPr>
          <p:nvPr/>
        </p:nvCxnSpPr>
        <p:spPr>
          <a:xfrm flipH="1">
            <a:off x="608902" y="2827302"/>
            <a:ext cx="54536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8464160" y="1323448"/>
            <a:ext cx="216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Proposal's contribution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BC431-C95D-C96B-B06D-E1A18A79DEB1}"/>
              </a:ext>
            </a:extLst>
          </p:cNvPr>
          <p:cNvSpPr txBox="1"/>
          <p:nvPr/>
        </p:nvSpPr>
        <p:spPr>
          <a:xfrm>
            <a:off x="3492264" y="1522800"/>
            <a:ext cx="2296198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Potential of deep learning and ensemble techniques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E2700-FCCF-A27A-D231-BA4721B03937}"/>
              </a:ext>
            </a:extLst>
          </p:cNvPr>
          <p:cNvSpPr txBox="1"/>
          <p:nvPr/>
        </p:nvSpPr>
        <p:spPr>
          <a:xfrm>
            <a:off x="6080530" y="4448491"/>
            <a:ext cx="5006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The literature on machine learning and predictive analytics reveals a growing interest in developing algorithms that can handle complex, high-dimensional data.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6749F6-40A8-1E31-7DAE-E823453D6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99588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59628" y="4219566"/>
            <a:ext cx="10987765" cy="1568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700" dirty="0">
                <a:solidFill>
                  <a:srgbClr val="2A2A2A"/>
                </a:solidFill>
              </a:rPr>
              <a:t>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5225178" y="-1116102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6373036" y="-3484175"/>
            <a:ext cx="3933608" cy="2874919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6537140" y="-1609291"/>
            <a:ext cx="3543285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Integrating state-of-the-art and novel approaches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6631473" y="-2782083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7081124" y="-3328672"/>
            <a:ext cx="216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Proposal's contribution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4AD03-B1C0-48DA-E8E0-FDD076E22E10}"/>
              </a:ext>
            </a:extLst>
          </p:cNvPr>
          <p:cNvSpPr/>
          <p:nvPr/>
        </p:nvSpPr>
        <p:spPr>
          <a:xfrm>
            <a:off x="7125852" y="-2756693"/>
            <a:ext cx="2954573" cy="1008951"/>
          </a:xfrm>
          <a:prstGeom prst="roundRect">
            <a:avLst>
              <a:gd name="adj" fmla="val 353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D3063-0ACC-BE43-00D3-02475B963DD1}"/>
              </a:ext>
            </a:extLst>
          </p:cNvPr>
          <p:cNvSpPr txBox="1"/>
          <p:nvPr/>
        </p:nvSpPr>
        <p:spPr>
          <a:xfrm>
            <a:off x="561530" y="1468334"/>
            <a:ext cx="2879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Algorithm Development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09814-0A07-73F3-020F-AE6E235D410E}"/>
              </a:ext>
            </a:extLst>
          </p:cNvPr>
          <p:cNvCxnSpPr>
            <a:cxnSpLocks/>
          </p:cNvCxnSpPr>
          <p:nvPr/>
        </p:nvCxnSpPr>
        <p:spPr>
          <a:xfrm flipH="1">
            <a:off x="554685" y="2075595"/>
            <a:ext cx="326333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3824558-66F5-4EC1-28D8-652609A47678}"/>
              </a:ext>
            </a:extLst>
          </p:cNvPr>
          <p:cNvGrpSpPr/>
          <p:nvPr/>
        </p:nvGrpSpPr>
        <p:grpSpPr>
          <a:xfrm rot="10800000">
            <a:off x="3674124" y="1652758"/>
            <a:ext cx="143897" cy="143897"/>
            <a:chOff x="4794103" y="1588576"/>
            <a:chExt cx="1242488" cy="124248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CD47D86-CC8B-EDC1-6FB7-FC12DD16E0B0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9EC429-6A00-0EE4-6C08-08509479F6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6C41164-B3B1-1B2B-FF94-688207EF62F6}"/>
              </a:ext>
            </a:extLst>
          </p:cNvPr>
          <p:cNvSpPr txBox="1"/>
          <p:nvPr/>
        </p:nvSpPr>
        <p:spPr>
          <a:xfrm>
            <a:off x="486695" y="2462513"/>
            <a:ext cx="333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Use CNNs and RNNs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Explore ensemble methods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165F7-2379-7015-FDCC-31038B1FF05E}"/>
              </a:ext>
            </a:extLst>
          </p:cNvPr>
          <p:cNvSpPr txBox="1"/>
          <p:nvPr/>
        </p:nvSpPr>
        <p:spPr>
          <a:xfrm>
            <a:off x="4443720" y="2187077"/>
            <a:ext cx="1946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Data Collection</a:t>
            </a:r>
            <a:endParaRPr lang="en-US" sz="2400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4BDB97-E43B-ED08-1098-067641244A7A}"/>
              </a:ext>
            </a:extLst>
          </p:cNvPr>
          <p:cNvCxnSpPr>
            <a:cxnSpLocks/>
          </p:cNvCxnSpPr>
          <p:nvPr/>
        </p:nvCxnSpPr>
        <p:spPr>
          <a:xfrm flipH="1">
            <a:off x="4436875" y="2794338"/>
            <a:ext cx="326333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0F53EF-F550-0E59-3C79-0CB5FDF18D19}"/>
              </a:ext>
            </a:extLst>
          </p:cNvPr>
          <p:cNvGrpSpPr/>
          <p:nvPr/>
        </p:nvGrpSpPr>
        <p:grpSpPr>
          <a:xfrm rot="10800000">
            <a:off x="7556314" y="2371501"/>
            <a:ext cx="143897" cy="143897"/>
            <a:chOff x="4794103" y="1588576"/>
            <a:chExt cx="1242488" cy="1242488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4A81368-C1E5-3F49-D3A3-42AEA17BA8F9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F802AC6-453B-08CC-EC69-713662C225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5CBBCF9-F22F-4010-773B-B06AC964D8D1}"/>
              </a:ext>
            </a:extLst>
          </p:cNvPr>
          <p:cNvSpPr txBox="1"/>
          <p:nvPr/>
        </p:nvSpPr>
        <p:spPr>
          <a:xfrm>
            <a:off x="4368885" y="3181256"/>
            <a:ext cx="333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Gather large datasets from finance, healthcare, marketing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2B55A-8C07-EC81-5592-FE57D4B28607}"/>
              </a:ext>
            </a:extLst>
          </p:cNvPr>
          <p:cNvSpPr txBox="1"/>
          <p:nvPr/>
        </p:nvSpPr>
        <p:spPr>
          <a:xfrm>
            <a:off x="8374035" y="1468334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Evaluation Metrics</a:t>
            </a:r>
            <a:endParaRPr lang="en-US" sz="24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8DFF5B2-CE20-E7CF-A5CB-48F30263C8AD}"/>
              </a:ext>
            </a:extLst>
          </p:cNvPr>
          <p:cNvCxnSpPr>
            <a:cxnSpLocks/>
          </p:cNvCxnSpPr>
          <p:nvPr/>
        </p:nvCxnSpPr>
        <p:spPr>
          <a:xfrm flipH="1">
            <a:off x="8367190" y="2075595"/>
            <a:ext cx="326333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FD0081-728A-6317-6A8F-A16948C03EDF}"/>
              </a:ext>
            </a:extLst>
          </p:cNvPr>
          <p:cNvGrpSpPr/>
          <p:nvPr/>
        </p:nvGrpSpPr>
        <p:grpSpPr>
          <a:xfrm rot="10800000">
            <a:off x="11486629" y="1652758"/>
            <a:ext cx="143897" cy="143897"/>
            <a:chOff x="4794103" y="1588576"/>
            <a:chExt cx="1242488" cy="1242488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EC1EB22-6E18-16B1-7FE3-969027ECD82D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12E8940-3898-EA70-BD7E-95F8B918C7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FF7C034-6348-8E92-5106-BF028A0AFBB0}"/>
              </a:ext>
            </a:extLst>
          </p:cNvPr>
          <p:cNvSpPr txBox="1"/>
          <p:nvPr/>
        </p:nvSpPr>
        <p:spPr>
          <a:xfrm>
            <a:off x="8299199" y="2462513"/>
            <a:ext cx="3629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Accuracy, precision, recall, F1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Cross-validation for robustness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18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703711" y="1255424"/>
            <a:ext cx="5570915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Methodology</a:t>
            </a: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6519089" y="3812973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6E6C77-1EC5-6D0F-EFF1-E734C9CC7F63}"/>
              </a:ext>
            </a:extLst>
          </p:cNvPr>
          <p:cNvSpPr txBox="1"/>
          <p:nvPr/>
        </p:nvSpPr>
        <p:spPr>
          <a:xfrm>
            <a:off x="5466254" y="-1957313"/>
            <a:ext cx="211962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Limitations of traditional methods</a:t>
            </a:r>
            <a:endParaRPr lang="en-US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CC56B4-4B42-8440-FCFC-021EB18A5590}"/>
              </a:ext>
            </a:extLst>
          </p:cNvPr>
          <p:cNvCxnSpPr>
            <a:cxnSpLocks/>
          </p:cNvCxnSpPr>
          <p:nvPr/>
        </p:nvCxnSpPr>
        <p:spPr>
          <a:xfrm flipH="1">
            <a:off x="8229599" y="4486523"/>
            <a:ext cx="309700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7BC431-C95D-C96B-B06D-E1A18A79DEB1}"/>
              </a:ext>
            </a:extLst>
          </p:cNvPr>
          <p:cNvSpPr txBox="1"/>
          <p:nvPr/>
        </p:nvSpPr>
        <p:spPr>
          <a:xfrm>
            <a:off x="8229599" y="3489798"/>
            <a:ext cx="309700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Python, TensorFlow,</a:t>
            </a:r>
          </a:p>
          <a:p>
            <a:r>
              <a:rPr lang="en-ID" sz="2000" dirty="0" err="1"/>
              <a:t>Keras</a:t>
            </a:r>
            <a:r>
              <a:rPr lang="en-ID" sz="2000" dirty="0"/>
              <a:t>, Scikit-Learn.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E2700-FCCF-A27A-D231-BA4721B03937}"/>
              </a:ext>
            </a:extLst>
          </p:cNvPr>
          <p:cNvSpPr txBox="1"/>
          <p:nvPr/>
        </p:nvSpPr>
        <p:spPr>
          <a:xfrm>
            <a:off x="659628" y="3763836"/>
            <a:ext cx="50062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Algorithm Development Process</a:t>
            </a:r>
          </a:p>
          <a:p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Problem definition and requirements gathering.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Selection of appropriate machine learning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Designing and training the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Hyperparameter tuning and optimization.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DBBA6-20AF-7584-F29B-C2498B826671}"/>
              </a:ext>
            </a:extLst>
          </p:cNvPr>
          <p:cNvSpPr txBox="1"/>
          <p:nvPr/>
        </p:nvSpPr>
        <p:spPr>
          <a:xfrm>
            <a:off x="4833996" y="2699940"/>
            <a:ext cx="2068542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dirty="0"/>
              <a:t>Detailed</a:t>
            </a:r>
          </a:p>
          <a:p>
            <a:pPr algn="r"/>
            <a:r>
              <a:rPr lang="en-ID" dirty="0"/>
              <a:t>Methodology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7C069-FAD2-84F8-BA30-3EB0063DACCA}"/>
              </a:ext>
            </a:extLst>
          </p:cNvPr>
          <p:cNvSpPr txBox="1"/>
          <p:nvPr/>
        </p:nvSpPr>
        <p:spPr>
          <a:xfrm>
            <a:off x="8229599" y="4702372"/>
            <a:ext cx="309700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Use of cloud computing resources for model training.</a:t>
            </a:r>
            <a:endParaRPr lang="en-US" sz="20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701C1C-599A-E911-0609-C65D057313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76424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63063" y="1204734"/>
            <a:ext cx="8382772" cy="132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9800" dirty="0">
                <a:solidFill>
                  <a:srgbClr val="2A2A2A"/>
                </a:solidFill>
              </a:rPr>
              <a:t>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5357519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6373036" y="-3484175"/>
            <a:ext cx="3933608" cy="2874919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6537140" y="-1609291"/>
            <a:ext cx="3543285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Integrating state-of-the-art and novel approaches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6631473" y="-2782083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7081124" y="-3328672"/>
            <a:ext cx="216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Proposal's contribution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4AD03-B1C0-48DA-E8E0-FDD076E22E10}"/>
              </a:ext>
            </a:extLst>
          </p:cNvPr>
          <p:cNvSpPr/>
          <p:nvPr/>
        </p:nvSpPr>
        <p:spPr>
          <a:xfrm>
            <a:off x="7125852" y="-2756693"/>
            <a:ext cx="2954573" cy="1008951"/>
          </a:xfrm>
          <a:prstGeom prst="roundRect">
            <a:avLst>
              <a:gd name="adj" fmla="val 353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52D1C-9CD3-A439-AD79-AC6DC09CFECD}"/>
              </a:ext>
            </a:extLst>
          </p:cNvPr>
          <p:cNvSpPr txBox="1"/>
          <p:nvPr/>
        </p:nvSpPr>
        <p:spPr>
          <a:xfrm>
            <a:off x="8776222" y="1396080"/>
            <a:ext cx="2608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b="1" dirty="0"/>
              <a:t>Algorithm</a:t>
            </a:r>
          </a:p>
          <a:p>
            <a:r>
              <a:rPr lang="en-ID" sz="2400" b="1" dirty="0"/>
              <a:t>Performance Metrics</a:t>
            </a:r>
            <a:endParaRPr lang="en-US" sz="2400" b="1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39164D46-E6A7-BB4A-7E2C-85C84569C47F}"/>
              </a:ext>
            </a:extLst>
          </p:cNvPr>
          <p:cNvSpPr>
            <a:spLocks/>
          </p:cNvSpPr>
          <p:nvPr/>
        </p:nvSpPr>
        <p:spPr bwMode="auto">
          <a:xfrm>
            <a:off x="10306644" y="1092034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32287D-57CA-9D3B-BC67-A09B5DBDD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864771"/>
              </p:ext>
            </p:extLst>
          </p:nvPr>
        </p:nvGraphicFramePr>
        <p:xfrm>
          <a:off x="550863" y="2762045"/>
          <a:ext cx="11078074" cy="29029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2120">
                  <a:extLst>
                    <a:ext uri="{9D8B030D-6E8A-4147-A177-3AD203B41FA5}">
                      <a16:colId xmlns:a16="http://schemas.microsoft.com/office/drawing/2014/main" val="53179514"/>
                    </a:ext>
                  </a:extLst>
                </a:gridCol>
                <a:gridCol w="1714617">
                  <a:extLst>
                    <a:ext uri="{9D8B030D-6E8A-4147-A177-3AD203B41FA5}">
                      <a16:colId xmlns:a16="http://schemas.microsoft.com/office/drawing/2014/main" val="56851295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3054318737"/>
                    </a:ext>
                  </a:extLst>
                </a:gridCol>
                <a:gridCol w="1591734">
                  <a:extLst>
                    <a:ext uri="{9D8B030D-6E8A-4147-A177-3AD203B41FA5}">
                      <a16:colId xmlns:a16="http://schemas.microsoft.com/office/drawing/2014/main" val="3035139096"/>
                    </a:ext>
                  </a:extLst>
                </a:gridCol>
                <a:gridCol w="3467070">
                  <a:extLst>
                    <a:ext uri="{9D8B030D-6E8A-4147-A177-3AD203B41FA5}">
                      <a16:colId xmlns:a16="http://schemas.microsoft.com/office/drawing/2014/main" val="2530341193"/>
                    </a:ext>
                  </a:extLst>
                </a:gridCol>
              </a:tblGrid>
              <a:tr h="49934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 dirty="0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Algorithm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 dirty="0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Accuracy (%)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 dirty="0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Precision (%)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Recall (%)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F1 Score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394599"/>
                  </a:ext>
                </a:extLst>
              </a:tr>
              <a:tr h="6009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CNN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92.5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91.8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93.2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92.5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996526"/>
                  </a:ext>
                </a:extLst>
              </a:tr>
              <a:tr h="6009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RNN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90.1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89.5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90.7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90.1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40690"/>
                  </a:ext>
                </a:extLst>
              </a:tr>
              <a:tr h="6009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Ensemble Method 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94.3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93.7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94.8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94.3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435"/>
                  </a:ext>
                </a:extLst>
              </a:tr>
              <a:tr h="6009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Ensemble Method 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95.1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94.5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>
                          <a:effectLst/>
                        </a:rPr>
                        <a:t>95.6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39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08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38761" y="1112938"/>
            <a:ext cx="4899335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2886515" y="2839471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82E493-458D-8F32-2554-AD2DDF194C05}"/>
              </a:ext>
            </a:extLst>
          </p:cNvPr>
          <p:cNvSpPr txBox="1"/>
          <p:nvPr/>
        </p:nvSpPr>
        <p:spPr>
          <a:xfrm>
            <a:off x="7692674" y="1272546"/>
            <a:ext cx="2833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/>
              <a:t>Financial Markets</a:t>
            </a:r>
            <a:endParaRPr lang="en-US" sz="2400" b="1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4A9B1D-6301-7DC4-A75E-5B4495FBDCA1}"/>
              </a:ext>
            </a:extLst>
          </p:cNvPr>
          <p:cNvCxnSpPr>
            <a:cxnSpLocks/>
          </p:cNvCxnSpPr>
          <p:nvPr/>
        </p:nvCxnSpPr>
        <p:spPr>
          <a:xfrm flipH="1">
            <a:off x="7839033" y="2523253"/>
            <a:ext cx="374417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3C50D4-CC5F-F748-E1D5-A0C5C52ED91F}"/>
              </a:ext>
            </a:extLst>
          </p:cNvPr>
          <p:cNvGrpSpPr/>
          <p:nvPr/>
        </p:nvGrpSpPr>
        <p:grpSpPr>
          <a:xfrm rot="10800000">
            <a:off x="11439312" y="1456970"/>
            <a:ext cx="143897" cy="143897"/>
            <a:chOff x="4794103" y="1588576"/>
            <a:chExt cx="1242488" cy="1242488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D2E3EED-51EE-4787-C8FD-E550D77CBEF4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2F61D81-C834-C3ED-1FEF-A99EBF92E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EC56751-DCF5-AEDE-0146-B7E16832431A}"/>
              </a:ext>
            </a:extLst>
          </p:cNvPr>
          <p:cNvSpPr txBox="1"/>
          <p:nvPr/>
        </p:nvSpPr>
        <p:spPr>
          <a:xfrm>
            <a:off x="7716161" y="1915491"/>
            <a:ext cx="272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Stock prices, indices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0267D4-805A-7358-0E4C-35DB7947041A}"/>
              </a:ext>
            </a:extLst>
          </p:cNvPr>
          <p:cNvSpPr txBox="1"/>
          <p:nvPr/>
        </p:nvSpPr>
        <p:spPr>
          <a:xfrm>
            <a:off x="10204829" y="1686710"/>
            <a:ext cx="15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3600" dirty="0"/>
              <a:t>150 GB</a:t>
            </a:r>
            <a:endParaRPr lang="en-US" sz="3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CA7C5D-D8D1-63A7-1D96-33C3A268C224}"/>
              </a:ext>
            </a:extLst>
          </p:cNvPr>
          <p:cNvSpPr txBox="1"/>
          <p:nvPr/>
        </p:nvSpPr>
        <p:spPr>
          <a:xfrm>
            <a:off x="3547875" y="2593379"/>
            <a:ext cx="2890818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Data Collection</a:t>
            </a:r>
          </a:p>
          <a:p>
            <a:r>
              <a:rPr lang="en-ID" dirty="0"/>
              <a:t>Sources and Volume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6969E7E-75F1-AABC-2B43-66FD3B273AC4}"/>
              </a:ext>
            </a:extLst>
          </p:cNvPr>
          <p:cNvSpPr txBox="1"/>
          <p:nvPr/>
        </p:nvSpPr>
        <p:spPr>
          <a:xfrm>
            <a:off x="7692674" y="2756573"/>
            <a:ext cx="2833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/>
              <a:t>Healthcare Records</a:t>
            </a:r>
            <a:endParaRPr lang="en-US" sz="2400" b="1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AFF5055-16BE-3990-004A-ACDF03B033A6}"/>
              </a:ext>
            </a:extLst>
          </p:cNvPr>
          <p:cNvCxnSpPr>
            <a:cxnSpLocks/>
          </p:cNvCxnSpPr>
          <p:nvPr/>
        </p:nvCxnSpPr>
        <p:spPr>
          <a:xfrm flipH="1">
            <a:off x="7839033" y="4007280"/>
            <a:ext cx="374417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15072F7-B66C-221C-7D36-9A788F9B1666}"/>
              </a:ext>
            </a:extLst>
          </p:cNvPr>
          <p:cNvGrpSpPr/>
          <p:nvPr/>
        </p:nvGrpSpPr>
        <p:grpSpPr>
          <a:xfrm rot="10800000">
            <a:off x="11439312" y="2940997"/>
            <a:ext cx="143897" cy="143897"/>
            <a:chOff x="4794103" y="1588576"/>
            <a:chExt cx="1242488" cy="1242488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8575325-D8B2-C726-C3C6-1E143550ED4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8FA1F3D4-9939-8B18-76F5-03FEA9637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54174B16-864B-8F89-5926-77FE2FF00C3B}"/>
              </a:ext>
            </a:extLst>
          </p:cNvPr>
          <p:cNvSpPr txBox="1"/>
          <p:nvPr/>
        </p:nvSpPr>
        <p:spPr>
          <a:xfrm>
            <a:off x="7716161" y="3399518"/>
            <a:ext cx="272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Patient data, treatments</a:t>
            </a:r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35BDCD0-1D42-D39F-0EE1-558240438738}"/>
              </a:ext>
            </a:extLst>
          </p:cNvPr>
          <p:cNvSpPr txBox="1"/>
          <p:nvPr/>
        </p:nvSpPr>
        <p:spPr>
          <a:xfrm>
            <a:off x="10204829" y="3170737"/>
            <a:ext cx="15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3600" dirty="0"/>
              <a:t>200 GB</a:t>
            </a:r>
            <a:endParaRPr lang="en-US" sz="36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A8AC7E2-4EA9-FA3F-F82A-FAE3A7D5CF01}"/>
              </a:ext>
            </a:extLst>
          </p:cNvPr>
          <p:cNvSpPr txBox="1"/>
          <p:nvPr/>
        </p:nvSpPr>
        <p:spPr>
          <a:xfrm>
            <a:off x="7692674" y="4240599"/>
            <a:ext cx="2833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/>
              <a:t>Marketing Data</a:t>
            </a:r>
            <a:endParaRPr lang="en-US" sz="2400" b="1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812BBD3-549E-A5B4-DD3D-80387F66C09A}"/>
              </a:ext>
            </a:extLst>
          </p:cNvPr>
          <p:cNvGrpSpPr/>
          <p:nvPr/>
        </p:nvGrpSpPr>
        <p:grpSpPr>
          <a:xfrm rot="10800000">
            <a:off x="11439312" y="4425023"/>
            <a:ext cx="143897" cy="143897"/>
            <a:chOff x="4794103" y="1588576"/>
            <a:chExt cx="1242488" cy="1242488"/>
          </a:xfrm>
        </p:grpSpPr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3998678E-91DA-F770-8EEC-F6E2FFE87AB4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0C7CB63-56C2-56AA-DD4B-8F55D42500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C2D4D74F-3FE3-7308-9575-205E24A290E1}"/>
              </a:ext>
            </a:extLst>
          </p:cNvPr>
          <p:cNvSpPr txBox="1"/>
          <p:nvPr/>
        </p:nvSpPr>
        <p:spPr>
          <a:xfrm>
            <a:off x="7716161" y="4883544"/>
            <a:ext cx="272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Customer </a:t>
            </a:r>
            <a:r>
              <a:rPr lang="en-ID" dirty="0" err="1"/>
              <a:t>behavior</a:t>
            </a:r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40353-B298-F098-6110-1E6B6F194C31}"/>
              </a:ext>
            </a:extLst>
          </p:cNvPr>
          <p:cNvSpPr txBox="1"/>
          <p:nvPr/>
        </p:nvSpPr>
        <p:spPr>
          <a:xfrm>
            <a:off x="10204829" y="4654763"/>
            <a:ext cx="15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3600" dirty="0"/>
              <a:t>100 GB</a:t>
            </a:r>
            <a:endParaRPr lang="en-US" sz="360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2C94B8-DB04-7BE7-065D-8499B6FBD1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0960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15758" y="4657026"/>
            <a:ext cx="5385739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8594508" y="1519504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8E747DC-B3C6-7F66-B51A-348C1C87442E}"/>
              </a:ext>
            </a:extLst>
          </p:cNvPr>
          <p:cNvSpPr/>
          <p:nvPr/>
        </p:nvSpPr>
        <p:spPr>
          <a:xfrm>
            <a:off x="9114495" y="3480168"/>
            <a:ext cx="2533471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776158-4967-105E-0533-55C598B1E5E3}"/>
              </a:ext>
            </a:extLst>
          </p:cNvPr>
          <p:cNvGrpSpPr/>
          <p:nvPr/>
        </p:nvGrpSpPr>
        <p:grpSpPr>
          <a:xfrm rot="10800000">
            <a:off x="11233780" y="3741533"/>
            <a:ext cx="143897" cy="143897"/>
            <a:chOff x="4794103" y="1588576"/>
            <a:chExt cx="1242488" cy="124248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36DA122-CFAB-206E-D2AA-E976162E79F7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F03341D-8E1A-3029-7347-61F9E6EA1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55FC3CC-2471-065F-D00F-10ADA028A069}"/>
              </a:ext>
            </a:extLst>
          </p:cNvPr>
          <p:cNvSpPr txBox="1"/>
          <p:nvPr/>
        </p:nvSpPr>
        <p:spPr>
          <a:xfrm>
            <a:off x="9286750" y="3542994"/>
            <a:ext cx="135228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Ensemble Method 2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312B3A-7AE1-4A34-755A-26B80285D7E4}"/>
              </a:ext>
            </a:extLst>
          </p:cNvPr>
          <p:cNvSpPr txBox="1"/>
          <p:nvPr/>
        </p:nvSpPr>
        <p:spPr>
          <a:xfrm>
            <a:off x="9938013" y="4563834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40H</a:t>
            </a:r>
            <a:endParaRPr lang="en-US" sz="3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02829D-7543-5815-8FC8-9811ED93114D}"/>
              </a:ext>
            </a:extLst>
          </p:cNvPr>
          <p:cNvSpPr txBox="1"/>
          <p:nvPr/>
        </p:nvSpPr>
        <p:spPr>
          <a:xfrm>
            <a:off x="9138559" y="4657025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Training</a:t>
            </a:r>
          </a:p>
          <a:p>
            <a:pPr algn="r"/>
            <a:r>
              <a:rPr lang="en-ID" sz="1400" i="1" dirty="0"/>
              <a:t>Time</a:t>
            </a:r>
            <a:endParaRPr lang="en-US" sz="14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72F8C-4B86-739F-4924-06FFF4887804}"/>
              </a:ext>
            </a:extLst>
          </p:cNvPr>
          <p:cNvSpPr txBox="1"/>
          <p:nvPr/>
        </p:nvSpPr>
        <p:spPr>
          <a:xfrm>
            <a:off x="9481749" y="1272435"/>
            <a:ext cx="2890818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Algorithm</a:t>
            </a:r>
          </a:p>
          <a:p>
            <a:r>
              <a:rPr lang="en-ID" dirty="0"/>
              <a:t>Training Time</a:t>
            </a:r>
            <a:endParaRPr lang="en-US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B9C2CB5-331B-F112-53BA-D0535F596EE6}"/>
              </a:ext>
            </a:extLst>
          </p:cNvPr>
          <p:cNvSpPr/>
          <p:nvPr/>
        </p:nvSpPr>
        <p:spPr>
          <a:xfrm>
            <a:off x="546229" y="1449310"/>
            <a:ext cx="2533471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63697D9-1173-BB27-91F0-DDD8945EFD86}"/>
              </a:ext>
            </a:extLst>
          </p:cNvPr>
          <p:cNvGrpSpPr/>
          <p:nvPr/>
        </p:nvGrpSpPr>
        <p:grpSpPr>
          <a:xfrm rot="10800000">
            <a:off x="2665514" y="1710675"/>
            <a:ext cx="143897" cy="143897"/>
            <a:chOff x="4794103" y="1588576"/>
            <a:chExt cx="1242488" cy="1242488"/>
          </a:xfrm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18156B8-20A2-5463-BC2A-3711BA492130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9BF5815-0010-6385-7C91-4BF8827428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504C3F4-5A73-C4F5-347B-D516EE13ECEF}"/>
              </a:ext>
            </a:extLst>
          </p:cNvPr>
          <p:cNvSpPr txBox="1"/>
          <p:nvPr/>
        </p:nvSpPr>
        <p:spPr>
          <a:xfrm>
            <a:off x="718484" y="1512136"/>
            <a:ext cx="135228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CNN</a:t>
            </a:r>
            <a:endParaRPr lang="en-US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D4F5E3-EB96-C36A-FAB1-BE8A68E87198}"/>
              </a:ext>
            </a:extLst>
          </p:cNvPr>
          <p:cNvSpPr txBox="1"/>
          <p:nvPr/>
        </p:nvSpPr>
        <p:spPr>
          <a:xfrm>
            <a:off x="1369747" y="2532976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24H</a:t>
            </a:r>
            <a:endParaRPr lang="en-US" sz="3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5E09DE-6538-03B6-D00E-E86978E7BF10}"/>
              </a:ext>
            </a:extLst>
          </p:cNvPr>
          <p:cNvSpPr txBox="1"/>
          <p:nvPr/>
        </p:nvSpPr>
        <p:spPr>
          <a:xfrm>
            <a:off x="570293" y="2626167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Training</a:t>
            </a:r>
          </a:p>
          <a:p>
            <a:pPr algn="r"/>
            <a:r>
              <a:rPr lang="en-ID" sz="1400" i="1" dirty="0"/>
              <a:t>Time</a:t>
            </a:r>
            <a:endParaRPr lang="en-US" sz="1400" i="1" dirty="0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ED35DE3-BBA9-02CA-EBCC-B65D35A33083}"/>
              </a:ext>
            </a:extLst>
          </p:cNvPr>
          <p:cNvSpPr/>
          <p:nvPr/>
        </p:nvSpPr>
        <p:spPr>
          <a:xfrm>
            <a:off x="3407962" y="2126263"/>
            <a:ext cx="2533471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A50206E-D9E6-C6D8-8F40-8E7250F8E4D9}"/>
              </a:ext>
            </a:extLst>
          </p:cNvPr>
          <p:cNvGrpSpPr/>
          <p:nvPr/>
        </p:nvGrpSpPr>
        <p:grpSpPr>
          <a:xfrm rot="10800000">
            <a:off x="5527247" y="2387628"/>
            <a:ext cx="143897" cy="143897"/>
            <a:chOff x="4794103" y="1588576"/>
            <a:chExt cx="1242488" cy="1242488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8A09472-BAD5-3540-1A68-A199B96118DA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6966702-2703-F187-A6EE-DF297257D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F7BF836-6D22-26B8-ED53-C09320CDFF9B}"/>
              </a:ext>
            </a:extLst>
          </p:cNvPr>
          <p:cNvSpPr txBox="1"/>
          <p:nvPr/>
        </p:nvSpPr>
        <p:spPr>
          <a:xfrm>
            <a:off x="3580217" y="2189089"/>
            <a:ext cx="135228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RNN</a:t>
            </a:r>
            <a:endParaRPr lang="en-US" sz="2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FE408A-0005-BBAC-B38D-62FEA6B71B40}"/>
              </a:ext>
            </a:extLst>
          </p:cNvPr>
          <p:cNvSpPr txBox="1"/>
          <p:nvPr/>
        </p:nvSpPr>
        <p:spPr>
          <a:xfrm>
            <a:off x="4231480" y="3209929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30H</a:t>
            </a:r>
            <a:endParaRPr lang="en-US" sz="3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4D7DF6-AF5D-2C5B-847D-764C6D0AE603}"/>
              </a:ext>
            </a:extLst>
          </p:cNvPr>
          <p:cNvSpPr txBox="1"/>
          <p:nvPr/>
        </p:nvSpPr>
        <p:spPr>
          <a:xfrm>
            <a:off x="3432026" y="3303120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Training</a:t>
            </a:r>
          </a:p>
          <a:p>
            <a:pPr algn="r"/>
            <a:r>
              <a:rPr lang="en-ID" sz="1400" i="1" dirty="0"/>
              <a:t>Time</a:t>
            </a:r>
            <a:endParaRPr lang="en-US" sz="1400" i="1" dirty="0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BD3DBE7-C035-1C23-B0C4-C02BE0626F80}"/>
              </a:ext>
            </a:extLst>
          </p:cNvPr>
          <p:cNvSpPr/>
          <p:nvPr/>
        </p:nvSpPr>
        <p:spPr>
          <a:xfrm>
            <a:off x="6252762" y="2803216"/>
            <a:ext cx="2533471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D6520D3-753D-2A32-3B86-35A2A6CAD5A1}"/>
              </a:ext>
            </a:extLst>
          </p:cNvPr>
          <p:cNvGrpSpPr/>
          <p:nvPr/>
        </p:nvGrpSpPr>
        <p:grpSpPr>
          <a:xfrm rot="10800000">
            <a:off x="8372047" y="3064581"/>
            <a:ext cx="143897" cy="143897"/>
            <a:chOff x="4794103" y="1588576"/>
            <a:chExt cx="1242488" cy="1242488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20BF279-7EA6-B0EA-1C40-DCB9CC0FE43D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E4C75E-1B1D-3BB3-8BF3-91834008A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8471017-3368-BD89-7443-54C248650B53}"/>
              </a:ext>
            </a:extLst>
          </p:cNvPr>
          <p:cNvSpPr txBox="1"/>
          <p:nvPr/>
        </p:nvSpPr>
        <p:spPr>
          <a:xfrm>
            <a:off x="6425017" y="2866042"/>
            <a:ext cx="135228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2000" dirty="0"/>
              <a:t>Ensemble Method 1</a:t>
            </a:r>
            <a:endParaRPr lang="en-US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E7DE7E-EB75-B290-83E4-5A05B16375CC}"/>
              </a:ext>
            </a:extLst>
          </p:cNvPr>
          <p:cNvSpPr txBox="1"/>
          <p:nvPr/>
        </p:nvSpPr>
        <p:spPr>
          <a:xfrm>
            <a:off x="7076280" y="3886882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36H</a:t>
            </a:r>
            <a:endParaRPr lang="en-US" sz="3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DA664B-09F9-AA76-778C-F374069E8736}"/>
              </a:ext>
            </a:extLst>
          </p:cNvPr>
          <p:cNvSpPr txBox="1"/>
          <p:nvPr/>
        </p:nvSpPr>
        <p:spPr>
          <a:xfrm>
            <a:off x="6276826" y="3980073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Training</a:t>
            </a:r>
          </a:p>
          <a:p>
            <a:pPr algn="r"/>
            <a:r>
              <a:rPr lang="en-ID" sz="1400" i="1" dirty="0"/>
              <a:t>Time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92831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816FE94-1703-976F-0AD5-6EE4ABFBA036}"/>
              </a:ext>
            </a:extLst>
          </p:cNvPr>
          <p:cNvSpPr/>
          <p:nvPr/>
        </p:nvSpPr>
        <p:spPr>
          <a:xfrm>
            <a:off x="8528535" y="-3021822"/>
            <a:ext cx="2010476" cy="255316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939053" y="1318564"/>
            <a:ext cx="4862228" cy="1885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Mitigation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     Strategies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21BD36-59A4-B53A-68E7-61DFFEBF6073}"/>
              </a:ext>
            </a:extLst>
          </p:cNvPr>
          <p:cNvCxnSpPr>
            <a:cxnSpLocks/>
          </p:cNvCxnSpPr>
          <p:nvPr/>
        </p:nvCxnSpPr>
        <p:spPr>
          <a:xfrm flipH="1">
            <a:off x="713493" y="1711746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3C9806-25B1-EE66-7BC4-E07360480270}"/>
              </a:ext>
            </a:extLst>
          </p:cNvPr>
          <p:cNvGrpSpPr/>
          <p:nvPr/>
        </p:nvGrpSpPr>
        <p:grpSpPr>
          <a:xfrm rot="10800000">
            <a:off x="5664709" y="1665252"/>
            <a:ext cx="143897" cy="143897"/>
            <a:chOff x="4794103" y="1588576"/>
            <a:chExt cx="1242488" cy="124248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F397083-EA7C-3BD7-5F36-FA655B615FA0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302B9A-630B-EA8E-BE36-E8491A78E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3E8897D-F6E4-C64F-232C-1F6949A93A9E}"/>
              </a:ext>
            </a:extLst>
          </p:cNvPr>
          <p:cNvSpPr txBox="1"/>
          <p:nvPr/>
        </p:nvSpPr>
        <p:spPr>
          <a:xfrm>
            <a:off x="608901" y="2104275"/>
            <a:ext cx="518709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Challenges in Algorithm Development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13">
            <a:extLst>
              <a:ext uri="{FF2B5EF4-FFF2-40B4-BE49-F238E27FC236}">
                <a16:creationId xmlns:a16="http://schemas.microsoft.com/office/drawing/2014/main" id="{78A3D9AF-D8E8-48DA-D1C5-17DD7EDF9790}"/>
              </a:ext>
            </a:extLst>
          </p:cNvPr>
          <p:cNvSpPr>
            <a:spLocks/>
          </p:cNvSpPr>
          <p:nvPr/>
        </p:nvSpPr>
        <p:spPr bwMode="auto">
          <a:xfrm>
            <a:off x="11122693" y="4243506"/>
            <a:ext cx="524700" cy="524700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9" name="object 13">
            <a:extLst>
              <a:ext uri="{FF2B5EF4-FFF2-40B4-BE49-F238E27FC236}">
                <a16:creationId xmlns:a16="http://schemas.microsoft.com/office/drawing/2014/main" id="{809A357A-A24C-6139-C0BC-5A79F44ED24F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71B773-FE42-F821-0DB3-EF3C517DD1E2}"/>
              </a:ext>
            </a:extLst>
          </p:cNvPr>
          <p:cNvCxnSpPr>
            <a:cxnSpLocks/>
          </p:cNvCxnSpPr>
          <p:nvPr/>
        </p:nvCxnSpPr>
        <p:spPr>
          <a:xfrm flipH="1">
            <a:off x="713493" y="3075597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848F0AF-0DE8-2D38-A1FD-F21CB6E7DAA4}"/>
              </a:ext>
            </a:extLst>
          </p:cNvPr>
          <p:cNvGrpSpPr/>
          <p:nvPr/>
        </p:nvGrpSpPr>
        <p:grpSpPr>
          <a:xfrm rot="10800000">
            <a:off x="5664709" y="3029103"/>
            <a:ext cx="143897" cy="143897"/>
            <a:chOff x="4794103" y="1588576"/>
            <a:chExt cx="1242488" cy="124248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30D5167-81CB-510B-806E-1C8DFE7413BA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6C2E51-8893-FA31-0049-3484C706D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6A2348-1D43-EA9B-ADDA-8473B9BF3C1D}"/>
              </a:ext>
            </a:extLst>
          </p:cNvPr>
          <p:cNvSpPr txBox="1"/>
          <p:nvPr/>
        </p:nvSpPr>
        <p:spPr>
          <a:xfrm>
            <a:off x="608901" y="3468126"/>
            <a:ext cx="518709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Challenges in Real-World Application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2A722E-1FE1-9B19-E920-EDECB6F038E2}"/>
              </a:ext>
            </a:extLst>
          </p:cNvPr>
          <p:cNvCxnSpPr>
            <a:cxnSpLocks/>
          </p:cNvCxnSpPr>
          <p:nvPr/>
        </p:nvCxnSpPr>
        <p:spPr>
          <a:xfrm flipH="1">
            <a:off x="713493" y="4408452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23A5E3-E433-E008-DE44-3EE0ED6236E1}"/>
              </a:ext>
            </a:extLst>
          </p:cNvPr>
          <p:cNvGrpSpPr/>
          <p:nvPr/>
        </p:nvGrpSpPr>
        <p:grpSpPr>
          <a:xfrm rot="10800000">
            <a:off x="5664709" y="4361958"/>
            <a:ext cx="143897" cy="143897"/>
            <a:chOff x="4794103" y="1588576"/>
            <a:chExt cx="1242488" cy="1242488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2610F6-8DC4-3FE4-1DEF-E74048BC14D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ED45C5-D721-BD1A-0064-AEFFCE62B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97F0166-5F3F-50B6-DA6A-4472FACE5AED}"/>
              </a:ext>
            </a:extLst>
          </p:cNvPr>
          <p:cNvSpPr txBox="1"/>
          <p:nvPr/>
        </p:nvSpPr>
        <p:spPr>
          <a:xfrm>
            <a:off x="608901" y="4800981"/>
            <a:ext cx="518709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Ethical Considerations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FBDBE-2B63-875F-5A35-E89833385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44059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547079" y="1450842"/>
            <a:ext cx="2596171" cy="4055220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0C72EE-F045-592D-5B91-7E9C8DCFC888}"/>
              </a:ext>
            </a:extLst>
          </p:cNvPr>
          <p:cNvSpPr/>
          <p:nvPr/>
        </p:nvSpPr>
        <p:spPr>
          <a:xfrm>
            <a:off x="3380220" y="1450842"/>
            <a:ext cx="2596171" cy="4055220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29D8F5-8739-BFCA-D047-FFCB28F48DEB}"/>
              </a:ext>
            </a:extLst>
          </p:cNvPr>
          <p:cNvSpPr/>
          <p:nvPr/>
        </p:nvSpPr>
        <p:spPr>
          <a:xfrm>
            <a:off x="6258331" y="2944390"/>
            <a:ext cx="5386590" cy="2537953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483368" y="1342208"/>
            <a:ext cx="4723990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Case Study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11316385" y="1655542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711184" y="3358191"/>
            <a:ext cx="243206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Stock price prediction using historical data.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781306" y="1655542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1255167" y="1588846"/>
            <a:ext cx="1681059" cy="3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Finance Sector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19088-F59B-A02B-D946-1EF84E3B95CD}"/>
              </a:ext>
            </a:extLst>
          </p:cNvPr>
          <p:cNvSpPr txBox="1"/>
          <p:nvPr/>
        </p:nvSpPr>
        <p:spPr>
          <a:xfrm>
            <a:off x="711184" y="4213367"/>
            <a:ext cx="2432066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Results:</a:t>
            </a:r>
          </a:p>
          <a:p>
            <a:endParaRPr lang="en-ID" sz="1400" dirty="0"/>
          </a:p>
          <a:p>
            <a:r>
              <a:rPr lang="en-ID" sz="1400" dirty="0"/>
              <a:t>Increased prediction accuracy by 10% compared to traditional methods.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9E29D7-C07F-1162-B4FA-1ED807BFFAF7}"/>
              </a:ext>
            </a:extLst>
          </p:cNvPr>
          <p:cNvCxnSpPr>
            <a:cxnSpLocks/>
          </p:cNvCxnSpPr>
          <p:nvPr/>
        </p:nvCxnSpPr>
        <p:spPr>
          <a:xfrm flipH="1">
            <a:off x="784679" y="4032961"/>
            <a:ext cx="21515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D15FA5-13F8-885F-174B-F67F64A581BC}"/>
              </a:ext>
            </a:extLst>
          </p:cNvPr>
          <p:cNvSpPr txBox="1"/>
          <p:nvPr/>
        </p:nvSpPr>
        <p:spPr>
          <a:xfrm>
            <a:off x="3544325" y="3358191"/>
            <a:ext cx="243206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Predicting patient readmissions using electronic health records.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B5534EB-22CC-C7B9-438D-67DAEAC65D31}"/>
              </a:ext>
            </a:extLst>
          </p:cNvPr>
          <p:cNvSpPr/>
          <p:nvPr/>
        </p:nvSpPr>
        <p:spPr>
          <a:xfrm>
            <a:off x="3614447" y="1655542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8A6D4-71FE-1E53-FDA5-FFA420BE5F2A}"/>
              </a:ext>
            </a:extLst>
          </p:cNvPr>
          <p:cNvSpPr txBox="1"/>
          <p:nvPr/>
        </p:nvSpPr>
        <p:spPr>
          <a:xfrm>
            <a:off x="3959416" y="1588847"/>
            <a:ext cx="179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Healthcare Sector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4D16F-1E56-908B-4FCA-E2DD585E00C0}"/>
              </a:ext>
            </a:extLst>
          </p:cNvPr>
          <p:cNvSpPr txBox="1"/>
          <p:nvPr/>
        </p:nvSpPr>
        <p:spPr>
          <a:xfrm>
            <a:off x="3544325" y="4213367"/>
            <a:ext cx="2432066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Results:</a:t>
            </a:r>
          </a:p>
          <a:p>
            <a:endParaRPr lang="en-ID" sz="1400" dirty="0"/>
          </a:p>
          <a:p>
            <a:r>
              <a:rPr lang="en-ID" sz="1400" dirty="0"/>
              <a:t>Reduction in readmission rates by 15%, improving patient care and reducing costs.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30CDB6-9925-824B-8459-8BF755A4FE12}"/>
              </a:ext>
            </a:extLst>
          </p:cNvPr>
          <p:cNvCxnSpPr>
            <a:cxnSpLocks/>
          </p:cNvCxnSpPr>
          <p:nvPr/>
        </p:nvCxnSpPr>
        <p:spPr>
          <a:xfrm flipH="1">
            <a:off x="3617820" y="4032961"/>
            <a:ext cx="21515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7BC5A1-70F4-9E9A-1FDE-1240E392AEC1}"/>
              </a:ext>
            </a:extLst>
          </p:cNvPr>
          <p:cNvSpPr txBox="1"/>
          <p:nvPr/>
        </p:nvSpPr>
        <p:spPr>
          <a:xfrm>
            <a:off x="8632488" y="3148758"/>
            <a:ext cx="2848328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Customer segmentation and targeted marketing campaigns.</a:t>
            </a: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8D19C796-AE86-7404-C8CE-D53D9645D9ED}"/>
              </a:ext>
            </a:extLst>
          </p:cNvPr>
          <p:cNvSpPr/>
          <p:nvPr/>
        </p:nvSpPr>
        <p:spPr>
          <a:xfrm>
            <a:off x="6492558" y="3149091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35C05B-E26E-E6A8-E006-AFC69201AC10}"/>
              </a:ext>
            </a:extLst>
          </p:cNvPr>
          <p:cNvSpPr txBox="1"/>
          <p:nvPr/>
        </p:nvSpPr>
        <p:spPr>
          <a:xfrm>
            <a:off x="6966419" y="3082396"/>
            <a:ext cx="216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Marketing Sector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DB8CC2-143E-E40D-6CE9-C557EC5D155D}"/>
              </a:ext>
            </a:extLst>
          </p:cNvPr>
          <p:cNvSpPr txBox="1"/>
          <p:nvPr/>
        </p:nvSpPr>
        <p:spPr>
          <a:xfrm>
            <a:off x="8632488" y="4357150"/>
            <a:ext cx="2848328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sz="1400" dirty="0"/>
              <a:t>Results:</a:t>
            </a:r>
          </a:p>
          <a:p>
            <a:endParaRPr lang="en-ID" sz="1400" dirty="0"/>
          </a:p>
          <a:p>
            <a:r>
              <a:rPr lang="en-ID" sz="1400" dirty="0"/>
              <a:t>Increased conversion rates and customer engagement.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4FF2BD-0760-EAB4-0EA9-50119DD0A64A}"/>
              </a:ext>
            </a:extLst>
          </p:cNvPr>
          <p:cNvCxnSpPr>
            <a:cxnSpLocks/>
          </p:cNvCxnSpPr>
          <p:nvPr/>
        </p:nvCxnSpPr>
        <p:spPr>
          <a:xfrm flipH="1">
            <a:off x="8727311" y="4117996"/>
            <a:ext cx="27535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9E680E-BBED-2E1B-7252-8160728117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277ED1-DB00-53FC-EF9D-E753B23CD6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DC6F16-6A43-D78E-F097-EDEF477290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900228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38761" y="1112938"/>
            <a:ext cx="5570915" cy="1885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Expected   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    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659628" y="2335822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D61AAD5-3C62-BCE1-CCFA-FEDDEBBAA4BA}"/>
              </a:ext>
            </a:extLst>
          </p:cNvPr>
          <p:cNvSpPr/>
          <p:nvPr/>
        </p:nvSpPr>
        <p:spPr>
          <a:xfrm>
            <a:off x="4316324" y="3638952"/>
            <a:ext cx="3545286" cy="2154456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4603E2-82CA-1699-E106-313DED68DD47}"/>
              </a:ext>
            </a:extLst>
          </p:cNvPr>
          <p:cNvGrpSpPr/>
          <p:nvPr/>
        </p:nvGrpSpPr>
        <p:grpSpPr>
          <a:xfrm rot="16200000">
            <a:off x="4570746" y="3887471"/>
            <a:ext cx="143897" cy="143897"/>
            <a:chOff x="4794103" y="1588576"/>
            <a:chExt cx="1242488" cy="1242488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BC93D2E-8F63-E820-2620-55371CBC9A1F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D3E12D-A649-146E-61F5-45E67125E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AAFBB1B-83AC-A445-4AB4-E965B14AD92B}"/>
              </a:ext>
            </a:extLst>
          </p:cNvPr>
          <p:cNvSpPr txBox="1"/>
          <p:nvPr/>
        </p:nvSpPr>
        <p:spPr>
          <a:xfrm>
            <a:off x="4436472" y="4397332"/>
            <a:ext cx="3234498" cy="120032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Academic contributions</a:t>
            </a:r>
          </a:p>
          <a:p>
            <a:r>
              <a:rPr lang="en-ID" dirty="0"/>
              <a:t>to machine learning and</a:t>
            </a:r>
          </a:p>
          <a:p>
            <a:r>
              <a:rPr lang="en-ID" dirty="0"/>
              <a:t>data science</a:t>
            </a:r>
            <a:endParaRPr lang="en-US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5490B35-3DFE-0DB2-8578-65E53CF8A3B6}"/>
              </a:ext>
            </a:extLst>
          </p:cNvPr>
          <p:cNvSpPr/>
          <p:nvPr/>
        </p:nvSpPr>
        <p:spPr>
          <a:xfrm>
            <a:off x="7435028" y="3843815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D92340-4BFA-D02C-15CA-AA6A5BE1E332}"/>
              </a:ext>
            </a:extLst>
          </p:cNvPr>
          <p:cNvSpPr/>
          <p:nvPr/>
        </p:nvSpPr>
        <p:spPr>
          <a:xfrm>
            <a:off x="538761" y="3638952"/>
            <a:ext cx="3545286" cy="2154456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43570D-B56E-120E-5D7C-13CD52D64C28}"/>
              </a:ext>
            </a:extLst>
          </p:cNvPr>
          <p:cNvGrpSpPr/>
          <p:nvPr/>
        </p:nvGrpSpPr>
        <p:grpSpPr>
          <a:xfrm rot="16200000">
            <a:off x="793183" y="3887471"/>
            <a:ext cx="143897" cy="143897"/>
            <a:chOff x="4794103" y="1588576"/>
            <a:chExt cx="1242488" cy="124248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E4F5D0B-D40B-ACD1-F39E-515CB87E97A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64DD66-D520-1A55-4637-C7986981B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49A046A-2646-AF9A-D47E-673FDB136F51}"/>
              </a:ext>
            </a:extLst>
          </p:cNvPr>
          <p:cNvSpPr txBox="1"/>
          <p:nvPr/>
        </p:nvSpPr>
        <p:spPr>
          <a:xfrm>
            <a:off x="658909" y="4766664"/>
            <a:ext cx="3234498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Enhanced</a:t>
            </a:r>
          </a:p>
          <a:p>
            <a:r>
              <a:rPr lang="en-ID" dirty="0"/>
              <a:t>predictive accuracy</a:t>
            </a:r>
            <a:endParaRPr lang="en-US" dirty="0"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F4CA3609-7004-7923-818D-AE0D5255D544}"/>
              </a:ext>
            </a:extLst>
          </p:cNvPr>
          <p:cNvSpPr/>
          <p:nvPr/>
        </p:nvSpPr>
        <p:spPr>
          <a:xfrm>
            <a:off x="3657465" y="3843815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1F92349-7ACF-D5DE-B616-41DA37AFCBA6}"/>
              </a:ext>
            </a:extLst>
          </p:cNvPr>
          <p:cNvSpPr/>
          <p:nvPr/>
        </p:nvSpPr>
        <p:spPr>
          <a:xfrm>
            <a:off x="8097491" y="1266455"/>
            <a:ext cx="3545286" cy="2154456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AE8F61-3AB3-BE44-975A-07CF52D44C60}"/>
              </a:ext>
            </a:extLst>
          </p:cNvPr>
          <p:cNvGrpSpPr/>
          <p:nvPr/>
        </p:nvGrpSpPr>
        <p:grpSpPr>
          <a:xfrm rot="16200000">
            <a:off x="8351913" y="1514974"/>
            <a:ext cx="143897" cy="143897"/>
            <a:chOff x="4794103" y="1588576"/>
            <a:chExt cx="1242488" cy="124248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1172B1C-F5ED-53B8-45E3-2BD2F8F0BBD9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A56C9E-9B9A-83DC-DF18-0BE3191CA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280C068-93B7-40CB-A849-C2FE298A0F34}"/>
              </a:ext>
            </a:extLst>
          </p:cNvPr>
          <p:cNvSpPr txBox="1"/>
          <p:nvPr/>
        </p:nvSpPr>
        <p:spPr>
          <a:xfrm>
            <a:off x="8217639" y="2394167"/>
            <a:ext cx="3234498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Improved decision-making processes</a:t>
            </a:r>
            <a:endParaRPr lang="en-US" dirty="0"/>
          </a:p>
        </p:txBody>
      </p:sp>
      <p:sp>
        <p:nvSpPr>
          <p:cNvPr id="41" name="object 13">
            <a:extLst>
              <a:ext uri="{FF2B5EF4-FFF2-40B4-BE49-F238E27FC236}">
                <a16:creationId xmlns:a16="http://schemas.microsoft.com/office/drawing/2014/main" id="{07F53049-2063-2EA3-0F01-67F52839EA2A}"/>
              </a:ext>
            </a:extLst>
          </p:cNvPr>
          <p:cNvSpPr/>
          <p:nvPr/>
        </p:nvSpPr>
        <p:spPr>
          <a:xfrm>
            <a:off x="11216195" y="1471318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BBF9913-3B50-3B28-9B30-6F878044E7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10571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650401" y="1073481"/>
            <a:ext cx="5196795" cy="1885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Expected   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      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5956707" y="1349520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AFBB1B-83AC-A445-4AB4-E965B14AD92B}"/>
              </a:ext>
            </a:extLst>
          </p:cNvPr>
          <p:cNvSpPr txBox="1"/>
          <p:nvPr/>
        </p:nvSpPr>
        <p:spPr>
          <a:xfrm>
            <a:off x="535881" y="4829933"/>
            <a:ext cx="3780443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Predicted Improvements</a:t>
            </a:r>
          </a:p>
          <a:p>
            <a:r>
              <a:rPr lang="en-ID" dirty="0"/>
              <a:t>in Decision-Making Processes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D92340-4BFA-D02C-15CA-AA6A5BE1E332}"/>
              </a:ext>
            </a:extLst>
          </p:cNvPr>
          <p:cNvSpPr/>
          <p:nvPr/>
        </p:nvSpPr>
        <p:spPr>
          <a:xfrm>
            <a:off x="538761" y="1647422"/>
            <a:ext cx="3545286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43570D-B56E-120E-5D7C-13CD52D64C28}"/>
              </a:ext>
            </a:extLst>
          </p:cNvPr>
          <p:cNvGrpSpPr/>
          <p:nvPr/>
        </p:nvGrpSpPr>
        <p:grpSpPr>
          <a:xfrm>
            <a:off x="3645796" y="1943789"/>
            <a:ext cx="143897" cy="143897"/>
            <a:chOff x="4794103" y="1588576"/>
            <a:chExt cx="1242488" cy="124248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E4F5D0B-D40B-ACD1-F39E-515CB87E97A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64DD66-D520-1A55-4637-C7986981B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49A046A-2646-AF9A-D47E-673FDB136F51}"/>
              </a:ext>
            </a:extLst>
          </p:cNvPr>
          <p:cNvSpPr txBox="1"/>
          <p:nvPr/>
        </p:nvSpPr>
        <p:spPr>
          <a:xfrm>
            <a:off x="658909" y="2805728"/>
            <a:ext cx="323449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Finance</a:t>
            </a:r>
            <a:endParaRPr lang="en-US" dirty="0"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F4CA3609-7004-7923-818D-AE0D5255D544}"/>
              </a:ext>
            </a:extLst>
          </p:cNvPr>
          <p:cNvSpPr/>
          <p:nvPr/>
        </p:nvSpPr>
        <p:spPr>
          <a:xfrm>
            <a:off x="604186" y="4498662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C1170-ABB0-EE33-88D6-640797F60438}"/>
              </a:ext>
            </a:extLst>
          </p:cNvPr>
          <p:cNvSpPr txBox="1"/>
          <p:nvPr/>
        </p:nvSpPr>
        <p:spPr>
          <a:xfrm>
            <a:off x="2350029" y="2682960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93%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D495F-FE8D-AFC1-4B50-DDCC54E3AF44}"/>
              </a:ext>
            </a:extLst>
          </p:cNvPr>
          <p:cNvSpPr txBox="1"/>
          <p:nvPr/>
        </p:nvSpPr>
        <p:spPr>
          <a:xfrm>
            <a:off x="722157" y="1825411"/>
            <a:ext cx="178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Current : 85%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A7644-6832-F583-62C3-F45E42608CE5}"/>
              </a:ext>
            </a:extLst>
          </p:cNvPr>
          <p:cNvSpPr txBox="1"/>
          <p:nvPr/>
        </p:nvSpPr>
        <p:spPr>
          <a:xfrm>
            <a:off x="2511380" y="2437747"/>
            <a:ext cx="1352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Predicted</a:t>
            </a:r>
            <a:endParaRPr lang="en-US" sz="1400" i="1" dirty="0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4C6DE30-8339-18A7-C2BA-745E9338A46B}"/>
              </a:ext>
            </a:extLst>
          </p:cNvPr>
          <p:cNvSpPr/>
          <p:nvPr/>
        </p:nvSpPr>
        <p:spPr>
          <a:xfrm>
            <a:off x="8098890" y="3807391"/>
            <a:ext cx="3545286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399581-434B-76FB-8F5E-FCB9AF23B914}"/>
              </a:ext>
            </a:extLst>
          </p:cNvPr>
          <p:cNvGrpSpPr/>
          <p:nvPr/>
        </p:nvGrpSpPr>
        <p:grpSpPr>
          <a:xfrm>
            <a:off x="11205925" y="4103758"/>
            <a:ext cx="143897" cy="143897"/>
            <a:chOff x="4794103" y="1588576"/>
            <a:chExt cx="1242488" cy="1242488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5A34C2C-39D9-FA84-3385-13E8C8D369CE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C4C4945-3B8D-9EC3-9E91-CCB6870C7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00B4133-4205-83E2-BE1C-110685B70594}"/>
              </a:ext>
            </a:extLst>
          </p:cNvPr>
          <p:cNvSpPr txBox="1"/>
          <p:nvPr/>
        </p:nvSpPr>
        <p:spPr>
          <a:xfrm>
            <a:off x="8219038" y="4965697"/>
            <a:ext cx="323449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Marketing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46522-6919-874A-8803-B902C5BADAC3}"/>
              </a:ext>
            </a:extLst>
          </p:cNvPr>
          <p:cNvSpPr txBox="1"/>
          <p:nvPr/>
        </p:nvSpPr>
        <p:spPr>
          <a:xfrm>
            <a:off x="9910158" y="4842929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92%</a:t>
            </a:r>
            <a:endParaRPr lang="en-US" sz="3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A6FB5C-1DD0-83DA-8683-0B549A1BD384}"/>
              </a:ext>
            </a:extLst>
          </p:cNvPr>
          <p:cNvSpPr txBox="1"/>
          <p:nvPr/>
        </p:nvSpPr>
        <p:spPr>
          <a:xfrm>
            <a:off x="8282286" y="3985380"/>
            <a:ext cx="178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Current : 82%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86B1A9-9B7D-FA50-8AF4-9017C53B9318}"/>
              </a:ext>
            </a:extLst>
          </p:cNvPr>
          <p:cNvSpPr txBox="1"/>
          <p:nvPr/>
        </p:nvSpPr>
        <p:spPr>
          <a:xfrm>
            <a:off x="10071509" y="4597716"/>
            <a:ext cx="1352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Predicted</a:t>
            </a:r>
            <a:endParaRPr lang="en-US" sz="1400" i="1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8C116679-9F82-18A9-774C-931A4AC3A4E7}"/>
              </a:ext>
            </a:extLst>
          </p:cNvPr>
          <p:cNvSpPr/>
          <p:nvPr/>
        </p:nvSpPr>
        <p:spPr>
          <a:xfrm>
            <a:off x="4294333" y="2778083"/>
            <a:ext cx="3545286" cy="1815718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EFE76D3-0F90-4970-5F6F-0B3089898F3F}"/>
              </a:ext>
            </a:extLst>
          </p:cNvPr>
          <p:cNvGrpSpPr/>
          <p:nvPr/>
        </p:nvGrpSpPr>
        <p:grpSpPr>
          <a:xfrm>
            <a:off x="7401368" y="3074450"/>
            <a:ext cx="143897" cy="143897"/>
            <a:chOff x="4794103" y="1588576"/>
            <a:chExt cx="1242488" cy="1242488"/>
          </a:xfrm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D6408FC-49DC-C348-6FE4-5EB7C2350F8C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21E4FE8-7C78-6206-432B-E0BE80143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F5C9C0B3-A9F7-7FDE-92DE-962EE986F2BC}"/>
              </a:ext>
            </a:extLst>
          </p:cNvPr>
          <p:cNvSpPr txBox="1"/>
          <p:nvPr/>
        </p:nvSpPr>
        <p:spPr>
          <a:xfrm>
            <a:off x="4414481" y="3936389"/>
            <a:ext cx="323449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Healthcare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F13AFD-23A5-3C21-889F-6F6BC67F2CAE}"/>
              </a:ext>
            </a:extLst>
          </p:cNvPr>
          <p:cNvSpPr txBox="1"/>
          <p:nvPr/>
        </p:nvSpPr>
        <p:spPr>
          <a:xfrm>
            <a:off x="6105601" y="3813621"/>
            <a:ext cx="154337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r"/>
            <a:r>
              <a:rPr lang="en-ID" sz="3600" dirty="0"/>
              <a:t>90%</a:t>
            </a: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29C6AA-2327-7DAC-F87B-D92DEDCC99C7}"/>
              </a:ext>
            </a:extLst>
          </p:cNvPr>
          <p:cNvSpPr txBox="1"/>
          <p:nvPr/>
        </p:nvSpPr>
        <p:spPr>
          <a:xfrm>
            <a:off x="4477729" y="2956072"/>
            <a:ext cx="178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Current : 78%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AF36C1-31DA-4A91-ABBE-AE1D464622B3}"/>
              </a:ext>
            </a:extLst>
          </p:cNvPr>
          <p:cNvSpPr txBox="1"/>
          <p:nvPr/>
        </p:nvSpPr>
        <p:spPr>
          <a:xfrm>
            <a:off x="6266952" y="3568408"/>
            <a:ext cx="1352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i="1" dirty="0"/>
              <a:t>Predicted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008228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3568434" y="1262799"/>
            <a:ext cx="8206549" cy="1565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700" dirty="0">
                <a:solidFill>
                  <a:srgbClr val="2A2A2A"/>
                </a:solidFill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6026215" y="3983970"/>
            <a:ext cx="676689" cy="67668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43C09C-E625-F0EE-DE24-2FECA3F03181}"/>
              </a:ext>
            </a:extLst>
          </p:cNvPr>
          <p:cNvSpPr/>
          <p:nvPr/>
        </p:nvSpPr>
        <p:spPr>
          <a:xfrm>
            <a:off x="6373036" y="-3484175"/>
            <a:ext cx="3933608" cy="2874919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BAB09-4EBF-E6F1-4FC2-920E41387686}"/>
              </a:ext>
            </a:extLst>
          </p:cNvPr>
          <p:cNvSpPr txBox="1"/>
          <p:nvPr/>
        </p:nvSpPr>
        <p:spPr>
          <a:xfrm>
            <a:off x="6537140" y="-1609291"/>
            <a:ext cx="3543285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Integrating state-of-the-art and novel approaches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6631473" y="-2782083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7081124" y="-3328672"/>
            <a:ext cx="216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Proposal's contribution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41164-B3B1-1B2B-FF94-688207EF62F6}"/>
              </a:ext>
            </a:extLst>
          </p:cNvPr>
          <p:cNvSpPr txBox="1"/>
          <p:nvPr/>
        </p:nvSpPr>
        <p:spPr>
          <a:xfrm>
            <a:off x="523960" y="4428748"/>
            <a:ext cx="4715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This research proposal outlines a comprehensive plan to advance the field of </a:t>
            </a:r>
            <a:r>
              <a:rPr lang="en-ID" b="1" dirty="0"/>
              <a:t>predictive analytics through the development</a:t>
            </a:r>
            <a:r>
              <a:rPr lang="en-ID" dirty="0"/>
              <a:t> of novel machine learning algorithms.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2B55A-8C07-EC81-5592-FE57D4B28607}"/>
              </a:ext>
            </a:extLst>
          </p:cNvPr>
          <p:cNvSpPr txBox="1"/>
          <p:nvPr/>
        </p:nvSpPr>
        <p:spPr>
          <a:xfrm>
            <a:off x="8374035" y="3257854"/>
            <a:ext cx="27574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dirty="0"/>
              <a:t>Anticipated benefits for</a:t>
            </a:r>
          </a:p>
          <a:p>
            <a:r>
              <a:rPr lang="en-ID" sz="2400" dirty="0"/>
              <a:t>academia and industry</a:t>
            </a:r>
            <a:endParaRPr lang="en-US" sz="24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8DFF5B2-CE20-E7CF-A5CB-48F30263C8AD}"/>
              </a:ext>
            </a:extLst>
          </p:cNvPr>
          <p:cNvCxnSpPr>
            <a:cxnSpLocks/>
          </p:cNvCxnSpPr>
          <p:nvPr/>
        </p:nvCxnSpPr>
        <p:spPr>
          <a:xfrm flipH="1">
            <a:off x="8367190" y="4322315"/>
            <a:ext cx="326333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FD0081-728A-6317-6A8F-A16948C03EDF}"/>
              </a:ext>
            </a:extLst>
          </p:cNvPr>
          <p:cNvGrpSpPr/>
          <p:nvPr/>
        </p:nvGrpSpPr>
        <p:grpSpPr>
          <a:xfrm rot="10800000">
            <a:off x="11486629" y="3442278"/>
            <a:ext cx="143897" cy="143897"/>
            <a:chOff x="4794103" y="1588576"/>
            <a:chExt cx="1242488" cy="1242488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EC1EB22-6E18-16B1-7FE3-969027ECD82D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12E8940-3898-EA70-BD7E-95F8B918C7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5B8C930-DD02-52B6-B0A4-2DB789997315}"/>
              </a:ext>
            </a:extLst>
          </p:cNvPr>
          <p:cNvSpPr txBox="1"/>
          <p:nvPr/>
        </p:nvSpPr>
        <p:spPr>
          <a:xfrm>
            <a:off x="8374035" y="4464862"/>
            <a:ext cx="2326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400" dirty="0"/>
              <a:t>Call for stakeholder</a:t>
            </a:r>
          </a:p>
          <a:p>
            <a:r>
              <a:rPr lang="en-ID" sz="2400" dirty="0"/>
              <a:t>support</a:t>
            </a:r>
            <a:endParaRPr lang="en-US" sz="24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0FC5C1-1517-906F-6004-5FAD48F32DF7}"/>
              </a:ext>
            </a:extLst>
          </p:cNvPr>
          <p:cNvGrpSpPr/>
          <p:nvPr/>
        </p:nvGrpSpPr>
        <p:grpSpPr>
          <a:xfrm rot="10800000">
            <a:off x="11486629" y="4649286"/>
            <a:ext cx="143897" cy="143897"/>
            <a:chOff x="4794103" y="1588576"/>
            <a:chExt cx="1242488" cy="124248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2D7ED6C-DC19-27D5-3ACD-3596B19DC178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03D52C-0081-9D32-BBDE-8C3211524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0AC328-6DB0-5AE9-2FDF-1E70D2B68E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50719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483368" y="4391121"/>
            <a:ext cx="4723990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11316385" y="4704455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3">
            <a:extLst>
              <a:ext uri="{FF2B5EF4-FFF2-40B4-BE49-F238E27FC236}">
                <a16:creationId xmlns:a16="http://schemas.microsoft.com/office/drawing/2014/main" id="{721F0D79-6193-200A-D42C-7D484BA38AD5}"/>
              </a:ext>
            </a:extLst>
          </p:cNvPr>
          <p:cNvSpPr/>
          <p:nvPr/>
        </p:nvSpPr>
        <p:spPr>
          <a:xfrm>
            <a:off x="781306" y="3921350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B48B-C41C-1D0D-E30A-3B111A3DD22B}"/>
              </a:ext>
            </a:extLst>
          </p:cNvPr>
          <p:cNvSpPr txBox="1"/>
          <p:nvPr/>
        </p:nvSpPr>
        <p:spPr>
          <a:xfrm>
            <a:off x="1092665" y="3854654"/>
            <a:ext cx="177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Algorithm Enhancements</a:t>
            </a:r>
            <a:endParaRPr lang="en-ID" dirty="0"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4EE02D05-BF10-D934-44E0-138C7D0AA50A}"/>
              </a:ext>
            </a:extLst>
          </p:cNvPr>
          <p:cNvSpPr/>
          <p:nvPr/>
        </p:nvSpPr>
        <p:spPr>
          <a:xfrm>
            <a:off x="3981289" y="1254108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B895E-12F8-1BDB-D2F4-1FD20A2CADD4}"/>
              </a:ext>
            </a:extLst>
          </p:cNvPr>
          <p:cNvSpPr txBox="1"/>
          <p:nvPr/>
        </p:nvSpPr>
        <p:spPr>
          <a:xfrm>
            <a:off x="4292648" y="1187412"/>
            <a:ext cx="177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Ongoing Research and Collaboration</a:t>
            </a:r>
            <a:endParaRPr lang="en-ID"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46A80A0C-F4C0-C54F-DFB6-4D3DAD8EB3B6}"/>
              </a:ext>
            </a:extLst>
          </p:cNvPr>
          <p:cNvSpPr/>
          <p:nvPr/>
        </p:nvSpPr>
        <p:spPr>
          <a:xfrm>
            <a:off x="9412688" y="3248707"/>
            <a:ext cx="235942" cy="235942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79FF82-46CE-45CF-2161-5891141A6FC3}"/>
              </a:ext>
            </a:extLst>
          </p:cNvPr>
          <p:cNvSpPr txBox="1"/>
          <p:nvPr/>
        </p:nvSpPr>
        <p:spPr>
          <a:xfrm>
            <a:off x="9724047" y="3182011"/>
            <a:ext cx="177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Broader Applications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D9B374-6423-153E-0FFE-F2BA79A1C20B}"/>
              </a:ext>
            </a:extLst>
          </p:cNvPr>
          <p:cNvSpPr txBox="1"/>
          <p:nvPr/>
        </p:nvSpPr>
        <p:spPr>
          <a:xfrm>
            <a:off x="687338" y="4505297"/>
            <a:ext cx="1595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Exploration of New Techniques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62C804-DA2A-6418-7E93-E6E1FCEF0A18}"/>
              </a:ext>
            </a:extLst>
          </p:cNvPr>
          <p:cNvSpPr txBox="1"/>
          <p:nvPr/>
        </p:nvSpPr>
        <p:spPr>
          <a:xfrm>
            <a:off x="9277156" y="3802224"/>
            <a:ext cx="1595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New Domains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569DC5-0250-0A90-82CE-CD768FE79E62}"/>
              </a:ext>
            </a:extLst>
          </p:cNvPr>
          <p:cNvSpPr txBox="1"/>
          <p:nvPr/>
        </p:nvSpPr>
        <p:spPr>
          <a:xfrm>
            <a:off x="3887058" y="1795957"/>
            <a:ext cx="256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Research Initiatives &amp; Collaboration Opportunities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4C2D4-45C8-479D-458B-DA7A2399DB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683C5D3-4F6C-783A-AA37-21F0550C9D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6DF3402-16FA-57F1-D974-36A5F03127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321258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550863" y="2471230"/>
            <a:ext cx="3400208" cy="1885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Time-</a:t>
            </a:r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2332067" y="3673903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567E874-F0F4-C04E-062C-AAECF686AACD}"/>
              </a:ext>
            </a:extLst>
          </p:cNvPr>
          <p:cNvGraphicFramePr>
            <a:graphicFrameLocks noGrp="1"/>
          </p:cNvGraphicFramePr>
          <p:nvPr/>
        </p:nvGraphicFramePr>
        <p:xfrm>
          <a:off x="4033072" y="1811673"/>
          <a:ext cx="7323849" cy="3185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1283">
                  <a:extLst>
                    <a:ext uri="{9D8B030D-6E8A-4147-A177-3AD203B41FA5}">
                      <a16:colId xmlns:a16="http://schemas.microsoft.com/office/drawing/2014/main" val="53179514"/>
                    </a:ext>
                  </a:extLst>
                </a:gridCol>
                <a:gridCol w="1417618">
                  <a:extLst>
                    <a:ext uri="{9D8B030D-6E8A-4147-A177-3AD203B41FA5}">
                      <a16:colId xmlns:a16="http://schemas.microsoft.com/office/drawing/2014/main" val="56851295"/>
                    </a:ext>
                  </a:extLst>
                </a:gridCol>
                <a:gridCol w="3464948">
                  <a:extLst>
                    <a:ext uri="{9D8B030D-6E8A-4147-A177-3AD203B41FA5}">
                      <a16:colId xmlns:a16="http://schemas.microsoft.com/office/drawing/2014/main" val="2530341193"/>
                    </a:ext>
                  </a:extLst>
                </a:gridCol>
              </a:tblGrid>
              <a:tr h="37984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Phase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Duration</a:t>
                      </a:r>
                      <a:endParaRPr lang="en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Activities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394599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Phase 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3 months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>
                          <a:effectLst/>
                        </a:rPr>
                        <a:t>Literature review and data collection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996526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>
                          <a:effectLst/>
                        </a:rPr>
                        <a:t>Phase 2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6 months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Algorithm development and preliminary testing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40690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>
                          <a:effectLst/>
                        </a:rPr>
                        <a:t>Phase 3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3 months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Comprehensive evaluation and validation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435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>
                          <a:effectLst/>
                        </a:rPr>
                        <a:t>Phase 4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>
                          <a:effectLst/>
                        </a:rPr>
                        <a:t>2 months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</a:rPr>
                        <a:t>Final analysis and report preparation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39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46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3831023" y="1232900"/>
            <a:ext cx="3400208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Timeline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3054832" y="1511027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567E874-F0F4-C04E-062C-AAECF686A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081651"/>
              </p:ext>
            </p:extLst>
          </p:nvPr>
        </p:nvGraphicFramePr>
        <p:xfrm>
          <a:off x="550863" y="2527622"/>
          <a:ext cx="11096530" cy="3185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3438">
                  <a:extLst>
                    <a:ext uri="{9D8B030D-6E8A-4147-A177-3AD203B41FA5}">
                      <a16:colId xmlns:a16="http://schemas.microsoft.com/office/drawing/2014/main" val="53179514"/>
                    </a:ext>
                  </a:extLst>
                </a:gridCol>
                <a:gridCol w="838288">
                  <a:extLst>
                    <a:ext uri="{9D8B030D-6E8A-4147-A177-3AD203B41FA5}">
                      <a16:colId xmlns:a16="http://schemas.microsoft.com/office/drawing/2014/main" val="1221992783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472671131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56851295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2986202430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3815950406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4033050739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2287614001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1804365372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4810034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1832792480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812674708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436025589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2478741154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3901250892"/>
                    </a:ext>
                  </a:extLst>
                </a:gridCol>
                <a:gridCol w="642486">
                  <a:extLst>
                    <a:ext uri="{9D8B030D-6E8A-4147-A177-3AD203B41FA5}">
                      <a16:colId xmlns:a16="http://schemas.microsoft.com/office/drawing/2014/main" val="672041526"/>
                    </a:ext>
                  </a:extLst>
                </a:gridCol>
              </a:tblGrid>
              <a:tr h="37984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  <a:latin typeface="+mn-lt"/>
                        </a:rPr>
                        <a:t>Phase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Duration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Aug-45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Sep-45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Oct-45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Nov-45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Dec-45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Jan-46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Feb-46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May-46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Jun-46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Sep-46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394599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  <a:latin typeface="+mn-lt"/>
                        </a:rPr>
                        <a:t>Phase 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996526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  <a:latin typeface="+mn-lt"/>
                        </a:rPr>
                        <a:t>Phase 2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40690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  <a:latin typeface="+mn-lt"/>
                        </a:rPr>
                        <a:t>Phase 3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435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u="none" strike="noStrike" dirty="0">
                          <a:effectLst/>
                          <a:latin typeface="+mn-lt"/>
                        </a:rPr>
                        <a:t>Phase 4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39022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CA179BB-7628-A0ED-8CCB-A757C9054D8B}"/>
              </a:ext>
            </a:extLst>
          </p:cNvPr>
          <p:cNvSpPr/>
          <p:nvPr/>
        </p:nvSpPr>
        <p:spPr>
          <a:xfrm>
            <a:off x="2666175" y="3135086"/>
            <a:ext cx="1911496" cy="293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8BB86-448A-D867-6588-7C519E807274}"/>
              </a:ext>
            </a:extLst>
          </p:cNvPr>
          <p:cNvSpPr/>
          <p:nvPr/>
        </p:nvSpPr>
        <p:spPr>
          <a:xfrm>
            <a:off x="4590225" y="3801836"/>
            <a:ext cx="3855132" cy="293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EF2E3-DA2A-42CF-C35E-E6139899CA66}"/>
              </a:ext>
            </a:extLst>
          </p:cNvPr>
          <p:cNvSpPr/>
          <p:nvPr/>
        </p:nvSpPr>
        <p:spPr>
          <a:xfrm>
            <a:off x="8427707" y="4491384"/>
            <a:ext cx="1958071" cy="293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25CB6-6CC8-F7F7-9B6E-C9DC546862EF}"/>
              </a:ext>
            </a:extLst>
          </p:cNvPr>
          <p:cNvSpPr/>
          <p:nvPr/>
        </p:nvSpPr>
        <p:spPr>
          <a:xfrm>
            <a:off x="10374054" y="5216003"/>
            <a:ext cx="1259457" cy="293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3FBA4-F331-A846-5398-538B3620D191}"/>
              </a:ext>
            </a:extLst>
          </p:cNvPr>
          <p:cNvSpPr txBox="1"/>
          <p:nvPr/>
        </p:nvSpPr>
        <p:spPr>
          <a:xfrm>
            <a:off x="7231231" y="1303248"/>
            <a:ext cx="3780443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ID" dirty="0"/>
              <a:t>Monitoring</a:t>
            </a:r>
          </a:p>
          <a:p>
            <a:r>
              <a:rPr lang="en-ID" dirty="0"/>
              <a:t>Project Timeline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50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7873442" y="4448731"/>
            <a:ext cx="3051873" cy="99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Budget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F670A090-719D-3B4F-734E-E10A0575F3CC}"/>
              </a:ext>
            </a:extLst>
          </p:cNvPr>
          <p:cNvSpPr>
            <a:spLocks/>
          </p:cNvSpPr>
          <p:nvPr/>
        </p:nvSpPr>
        <p:spPr bwMode="auto">
          <a:xfrm>
            <a:off x="11044682" y="4756501"/>
            <a:ext cx="383449" cy="383449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567E874-F0F4-C04E-062C-AAECF686A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436788"/>
              </p:ext>
            </p:extLst>
          </p:nvPr>
        </p:nvGraphicFramePr>
        <p:xfrm>
          <a:off x="597033" y="1421230"/>
          <a:ext cx="6608439" cy="40227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9823">
                  <a:extLst>
                    <a:ext uri="{9D8B030D-6E8A-4147-A177-3AD203B41FA5}">
                      <a16:colId xmlns:a16="http://schemas.microsoft.com/office/drawing/2014/main" val="53179514"/>
                    </a:ext>
                  </a:extLst>
                </a:gridCol>
                <a:gridCol w="3388616">
                  <a:extLst>
                    <a:ext uri="{9D8B030D-6E8A-4147-A177-3AD203B41FA5}">
                      <a16:colId xmlns:a16="http://schemas.microsoft.com/office/drawing/2014/main" val="2530341193"/>
                    </a:ext>
                  </a:extLst>
                </a:gridCol>
              </a:tblGrid>
              <a:tr h="51514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 dirty="0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Expense Category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1600" b="0" i="0" u="none" strike="noStrike" dirty="0">
                          <a:solidFill>
                            <a:srgbClr val="292929"/>
                          </a:solidFill>
                          <a:effectLst/>
                          <a:highlight>
                            <a:srgbClr val="E7DED0"/>
                          </a:highlight>
                          <a:latin typeface="DarkerGrotesque-Regular" pitchFamily="2" charset="0"/>
                        </a:rPr>
                        <a:t>Amount (USD)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394599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Personnel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$50,000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996526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Data Acquisition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$20,000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40690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Computing Resources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$30,000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47239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0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Miscellaneous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$10,000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435"/>
                  </a:ext>
                </a:extLst>
              </a:tr>
              <a:tr h="7015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D" sz="2000" b="1" i="0" u="none" strike="noStrike" dirty="0">
                          <a:solidFill>
                            <a:srgbClr val="292929"/>
                          </a:solidFill>
                          <a:effectLst/>
                          <a:latin typeface="DarkerGrotesque-Regular" pitchFamily="2" charset="0"/>
                        </a:rPr>
                        <a:t>$110,000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390220"/>
                  </a:ext>
                </a:extLst>
              </a:tr>
            </a:tbl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8E79C-0D25-CD99-2756-9DC59B5050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64889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816FE94-1703-976F-0AD5-6EE4ABFBA036}"/>
              </a:ext>
            </a:extLst>
          </p:cNvPr>
          <p:cNvSpPr/>
          <p:nvPr/>
        </p:nvSpPr>
        <p:spPr>
          <a:xfrm>
            <a:off x="8528535" y="-3021822"/>
            <a:ext cx="2010476" cy="2553161"/>
          </a:xfrm>
          <a:prstGeom prst="roundRect">
            <a:avLst>
              <a:gd name="adj" fmla="val 6436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08902" y="1318564"/>
            <a:ext cx="4227439" cy="998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A2A2A"/>
                </a:solidFill>
                <a:latin typeface="+mj-lt"/>
              </a:rPr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1223207" y="-1827456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CE4E850-4EB4-2A33-22B5-BD264D6DE2F7}"/>
              </a:ext>
            </a:extLst>
          </p:cNvPr>
          <p:cNvSpPr txBox="1"/>
          <p:nvPr/>
        </p:nvSpPr>
        <p:spPr>
          <a:xfrm>
            <a:off x="2332067" y="833081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References</a:t>
            </a:r>
            <a:endParaRPr lang="en-US" b="1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28F7A8A-AF8C-900F-7105-2BFBA3EF0557}"/>
              </a:ext>
            </a:extLst>
          </p:cNvPr>
          <p:cNvGrpSpPr/>
          <p:nvPr/>
        </p:nvGrpSpPr>
        <p:grpSpPr>
          <a:xfrm rot="5400000">
            <a:off x="4528855" y="8404494"/>
            <a:ext cx="143897" cy="143897"/>
            <a:chOff x="4794103" y="1588576"/>
            <a:chExt cx="1242488" cy="124248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F366F73-A233-BD99-4DA3-1B4722899E15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30A4D-7216-B390-245B-62ECDD770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21BD36-59A4-B53A-68E7-61DFFEBF6073}"/>
              </a:ext>
            </a:extLst>
          </p:cNvPr>
          <p:cNvCxnSpPr>
            <a:cxnSpLocks/>
          </p:cNvCxnSpPr>
          <p:nvPr/>
        </p:nvCxnSpPr>
        <p:spPr>
          <a:xfrm flipH="1">
            <a:off x="6564894" y="1711746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3C9806-25B1-EE66-7BC4-E07360480270}"/>
              </a:ext>
            </a:extLst>
          </p:cNvPr>
          <p:cNvGrpSpPr/>
          <p:nvPr/>
        </p:nvGrpSpPr>
        <p:grpSpPr>
          <a:xfrm rot="10800000">
            <a:off x="11516110" y="1665252"/>
            <a:ext cx="143897" cy="143897"/>
            <a:chOff x="4794103" y="1588576"/>
            <a:chExt cx="1242488" cy="124248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F397083-EA7C-3BD7-5F36-FA655B615FA0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302B9A-630B-EA8E-BE36-E8491A78E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3E8897D-F6E4-C64F-232C-1F6949A93A9E}"/>
              </a:ext>
            </a:extLst>
          </p:cNvPr>
          <p:cNvSpPr txBox="1"/>
          <p:nvPr/>
        </p:nvSpPr>
        <p:spPr>
          <a:xfrm>
            <a:off x="6460302" y="2104275"/>
            <a:ext cx="5187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Smith, J., &amp; Brown, L. (2023). Advances in Machine Learning Algorithms. </a:t>
            </a:r>
            <a:r>
              <a:rPr lang="en-ID" i="1" dirty="0"/>
              <a:t>Journal of Data Science</a:t>
            </a:r>
            <a:r>
              <a:rPr lang="en-ID" dirty="0"/>
              <a:t>, 15(2), 123-145.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1CB41-4C7B-E63B-3A19-C0C0537BF71C}"/>
              </a:ext>
            </a:extLst>
          </p:cNvPr>
          <p:cNvCxnSpPr>
            <a:cxnSpLocks/>
          </p:cNvCxnSpPr>
          <p:nvPr/>
        </p:nvCxnSpPr>
        <p:spPr>
          <a:xfrm flipH="1">
            <a:off x="263525" y="61868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D980E-BBBF-6D4C-AA26-55BF749A175B}"/>
              </a:ext>
            </a:extLst>
          </p:cNvPr>
          <p:cNvSpPr txBox="1"/>
          <p:nvPr/>
        </p:nvSpPr>
        <p:spPr>
          <a:xfrm>
            <a:off x="263526" y="6264879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5523A-9005-83E8-13E5-F2CA086454CE}"/>
              </a:ext>
            </a:extLst>
          </p:cNvPr>
          <p:cNvSpPr txBox="1"/>
          <p:nvPr/>
        </p:nvSpPr>
        <p:spPr>
          <a:xfrm>
            <a:off x="2332067" y="6264879"/>
            <a:ext cx="237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Department of Computer Science</a:t>
            </a:r>
          </a:p>
        </p:txBody>
      </p:sp>
      <p:sp>
        <p:nvSpPr>
          <p:cNvPr id="31" name="Rounded 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A5A0BE9-5EAF-DD8E-2551-C0EC203589F6}"/>
              </a:ext>
            </a:extLst>
          </p:cNvPr>
          <p:cNvSpPr/>
          <p:nvPr/>
        </p:nvSpPr>
        <p:spPr>
          <a:xfrm>
            <a:off x="9399379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37AE13-5242-DB46-105A-50601832D928}"/>
              </a:ext>
            </a:extLst>
          </p:cNvPr>
          <p:cNvSpPr txBox="1"/>
          <p:nvPr/>
        </p:nvSpPr>
        <p:spPr>
          <a:xfrm>
            <a:off x="659628" y="25080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34" name="Rounded Rectangle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2620D3-8D7C-DFC2-9EA9-656365612D61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hlinkClick r:id="rId2" action="ppaction://hlinksldjump"/>
            <a:extLst>
              <a:ext uri="{FF2B5EF4-FFF2-40B4-BE49-F238E27FC236}">
                <a16:creationId xmlns:a16="http://schemas.microsoft.com/office/drawing/2014/main" id="{925BE90F-B7EC-DB93-64C0-F95B52E09581}"/>
              </a:ext>
            </a:extLst>
          </p:cNvPr>
          <p:cNvSpPr txBox="1"/>
          <p:nvPr/>
        </p:nvSpPr>
        <p:spPr>
          <a:xfrm>
            <a:off x="9533773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8C3B6E-2B2C-7F33-9450-6E3BE91C99DD}"/>
              </a:ext>
            </a:extLst>
          </p:cNvPr>
          <p:cNvSpPr txBox="1"/>
          <p:nvPr/>
        </p:nvSpPr>
        <p:spPr>
          <a:xfrm>
            <a:off x="11011674" y="266898"/>
            <a:ext cx="955710" cy="394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 dirty="0">
                <a:latin typeface="+mj-lt"/>
              </a:rPr>
              <a:t>/2045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C855C3-176A-C3BF-2A07-064B7984AB89}"/>
              </a:ext>
            </a:extLst>
          </p:cNvPr>
          <p:cNvCxnSpPr>
            <a:cxnSpLocks/>
          </p:cNvCxnSpPr>
          <p:nvPr/>
        </p:nvCxnSpPr>
        <p:spPr>
          <a:xfrm flipH="1">
            <a:off x="263525" y="700440"/>
            <a:ext cx="116649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13">
            <a:extLst>
              <a:ext uri="{FF2B5EF4-FFF2-40B4-BE49-F238E27FC236}">
                <a16:creationId xmlns:a16="http://schemas.microsoft.com/office/drawing/2014/main" id="{78A3D9AF-D8E8-48DA-D1C5-17DD7EDF9790}"/>
              </a:ext>
            </a:extLst>
          </p:cNvPr>
          <p:cNvSpPr>
            <a:spLocks/>
          </p:cNvSpPr>
          <p:nvPr/>
        </p:nvSpPr>
        <p:spPr bwMode="auto">
          <a:xfrm>
            <a:off x="5207000" y="1518435"/>
            <a:ext cx="524700" cy="524700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9" name="object 13">
            <a:extLst>
              <a:ext uri="{FF2B5EF4-FFF2-40B4-BE49-F238E27FC236}">
                <a16:creationId xmlns:a16="http://schemas.microsoft.com/office/drawing/2014/main" id="{809A357A-A24C-6139-C0BC-5A79F44ED24F}"/>
              </a:ext>
            </a:extLst>
          </p:cNvPr>
          <p:cNvSpPr/>
          <p:nvPr/>
        </p:nvSpPr>
        <p:spPr>
          <a:xfrm>
            <a:off x="11647393" y="6299933"/>
            <a:ext cx="307776" cy="307776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71B773-FE42-F821-0DB3-EF3C517DD1E2}"/>
              </a:ext>
            </a:extLst>
          </p:cNvPr>
          <p:cNvCxnSpPr>
            <a:cxnSpLocks/>
          </p:cNvCxnSpPr>
          <p:nvPr/>
        </p:nvCxnSpPr>
        <p:spPr>
          <a:xfrm flipH="1">
            <a:off x="6564894" y="3075597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848F0AF-0DE8-2D38-A1FD-F21CB6E7DAA4}"/>
              </a:ext>
            </a:extLst>
          </p:cNvPr>
          <p:cNvGrpSpPr/>
          <p:nvPr/>
        </p:nvGrpSpPr>
        <p:grpSpPr>
          <a:xfrm rot="10800000">
            <a:off x="11516110" y="3029103"/>
            <a:ext cx="143897" cy="143897"/>
            <a:chOff x="4794103" y="1588576"/>
            <a:chExt cx="1242488" cy="124248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30D5167-81CB-510B-806E-1C8DFE7413BA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6C2E51-8893-FA31-0049-3484C706D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6A2348-1D43-EA9B-ADDA-8473B9BF3C1D}"/>
              </a:ext>
            </a:extLst>
          </p:cNvPr>
          <p:cNvSpPr txBox="1"/>
          <p:nvPr/>
        </p:nvSpPr>
        <p:spPr>
          <a:xfrm>
            <a:off x="6460302" y="3468126"/>
            <a:ext cx="5187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Johnson, A., &amp; Davis, M. (2022). Predictive Analytics in Healthcare. </a:t>
            </a:r>
            <a:r>
              <a:rPr lang="en-ID" i="1" dirty="0"/>
              <a:t>Healthcare Analytics Review</a:t>
            </a:r>
            <a:r>
              <a:rPr lang="en-ID" dirty="0"/>
              <a:t>, 10(4), 67-89.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2A722E-1FE1-9B19-E920-EDECB6F038E2}"/>
              </a:ext>
            </a:extLst>
          </p:cNvPr>
          <p:cNvCxnSpPr>
            <a:cxnSpLocks/>
          </p:cNvCxnSpPr>
          <p:nvPr/>
        </p:nvCxnSpPr>
        <p:spPr>
          <a:xfrm flipH="1">
            <a:off x="6564894" y="4408452"/>
            <a:ext cx="45802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23A5E3-E433-E008-DE44-3EE0ED6236E1}"/>
              </a:ext>
            </a:extLst>
          </p:cNvPr>
          <p:cNvGrpSpPr/>
          <p:nvPr/>
        </p:nvGrpSpPr>
        <p:grpSpPr>
          <a:xfrm rot="10800000">
            <a:off x="11516110" y="4361958"/>
            <a:ext cx="143897" cy="143897"/>
            <a:chOff x="4794103" y="1588576"/>
            <a:chExt cx="1242488" cy="1242488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2610F6-8DC4-3FE4-1DEF-E74048BC14DB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ED45C5-D721-BD1A-0064-AEFFCE62B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97F0166-5F3F-50B6-DA6A-4472FACE5AED}"/>
              </a:ext>
            </a:extLst>
          </p:cNvPr>
          <p:cNvSpPr txBox="1"/>
          <p:nvPr/>
        </p:nvSpPr>
        <p:spPr>
          <a:xfrm>
            <a:off x="6460302" y="4800981"/>
            <a:ext cx="5187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Lee, K., &amp; Chen, Y. (2021). Ensemble Methods for High-Dimensional Data. </a:t>
            </a:r>
            <a:r>
              <a:rPr lang="en-ID" i="1" dirty="0"/>
              <a:t>International Journal of Science</a:t>
            </a:r>
            <a:r>
              <a:rPr lang="en-ID" dirty="0"/>
              <a:t>, 9(1), 45.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2EBD13-80AC-0961-FC9B-75D93121C9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115774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3C6575E-EBED-5D4B-9DDC-4F301CAA41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C9824A8-41FD-D0E3-C583-9CAC65E2A62E}"/>
              </a:ext>
            </a:extLst>
          </p:cNvPr>
          <p:cNvSpPr/>
          <p:nvPr/>
        </p:nvSpPr>
        <p:spPr>
          <a:xfrm>
            <a:off x="10759501" y="285344"/>
            <a:ext cx="907265" cy="26393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41F1-2A85-A3E4-4621-2C608BDB7792}"/>
              </a:ext>
            </a:extLst>
          </p:cNvPr>
          <p:cNvSpPr txBox="1"/>
          <p:nvPr/>
        </p:nvSpPr>
        <p:spPr>
          <a:xfrm>
            <a:off x="6407186" y="3579440"/>
            <a:ext cx="2791149" cy="2283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rgbClr val="2A2A2A"/>
                </a:solidFill>
                <a:latin typeface="+mj-lt"/>
              </a:rPr>
              <a:t>Thank</a:t>
            </a:r>
          </a:p>
          <a:p>
            <a:pPr>
              <a:lnSpc>
                <a:spcPct val="80000"/>
              </a:lnSpc>
            </a:pPr>
            <a:r>
              <a:rPr lang="en-US" sz="8800" dirty="0">
                <a:solidFill>
                  <a:srgbClr val="2A2A2A"/>
                </a:solidFill>
                <a:latin typeface="+mj-lt"/>
              </a:rPr>
              <a:t>You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DDA6F-7F6F-4B08-05EC-0057C9BA9FF3}"/>
              </a:ext>
            </a:extLst>
          </p:cNvPr>
          <p:cNvCxnSpPr>
            <a:cxnSpLocks/>
          </p:cNvCxnSpPr>
          <p:nvPr/>
        </p:nvCxnSpPr>
        <p:spPr>
          <a:xfrm flipH="1">
            <a:off x="263525" y="6102435"/>
            <a:ext cx="563199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F3F834-20C4-9D90-5260-4D7AB84C643D}"/>
              </a:ext>
            </a:extLst>
          </p:cNvPr>
          <p:cNvSpPr txBox="1"/>
          <p:nvPr/>
        </p:nvSpPr>
        <p:spPr>
          <a:xfrm>
            <a:off x="4036239" y="3573910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D" sz="1400" dirty="0"/>
              <a:t>Author:</a:t>
            </a:r>
          </a:p>
          <a:p>
            <a:pPr algn="r"/>
            <a:r>
              <a:rPr lang="en-ID" sz="1400" dirty="0" err="1"/>
              <a:t>Dr.</a:t>
            </a:r>
            <a:r>
              <a:rPr lang="en-ID" sz="1400" dirty="0"/>
              <a:t> Alex Johnson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881B0-EF7A-51EF-2E89-B3E2E28EE2FE}"/>
              </a:ext>
            </a:extLst>
          </p:cNvPr>
          <p:cNvSpPr txBox="1"/>
          <p:nvPr/>
        </p:nvSpPr>
        <p:spPr>
          <a:xfrm>
            <a:off x="6307350" y="2206621"/>
            <a:ext cx="421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/>
              <a:t>“Advanced Machine Learning Algorithms</a:t>
            </a:r>
          </a:p>
          <a:p>
            <a:r>
              <a:rPr lang="en-ID" sz="2000" b="1" dirty="0"/>
              <a:t>for Predictive Analytics”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D5FA3-1833-ABB2-0673-90FB688D4A83}"/>
              </a:ext>
            </a:extLst>
          </p:cNvPr>
          <p:cNvSpPr txBox="1"/>
          <p:nvPr/>
        </p:nvSpPr>
        <p:spPr>
          <a:xfrm>
            <a:off x="659628" y="284058"/>
            <a:ext cx="202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Dakka</a:t>
            </a:r>
            <a:r>
              <a:rPr lang="en-US" sz="1400" dirty="0"/>
              <a:t> University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9CC69E-887D-E74B-D150-CAA5BD5F9330}"/>
              </a:ext>
            </a:extLst>
          </p:cNvPr>
          <p:cNvSpPr/>
          <p:nvPr/>
        </p:nvSpPr>
        <p:spPr>
          <a:xfrm>
            <a:off x="263526" y="260350"/>
            <a:ext cx="345376" cy="345376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3CBD96-D19C-A31C-91A2-7289DD668191}"/>
              </a:ext>
            </a:extLst>
          </p:cNvPr>
          <p:cNvSpPr txBox="1"/>
          <p:nvPr/>
        </p:nvSpPr>
        <p:spPr>
          <a:xfrm>
            <a:off x="10893895" y="252308"/>
            <a:ext cx="638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</a:t>
            </a: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62DC5C8-86E2-FE57-6494-66B2A456F9A3}"/>
              </a:ext>
            </a:extLst>
          </p:cNvPr>
          <p:cNvSpPr/>
          <p:nvPr/>
        </p:nvSpPr>
        <p:spPr>
          <a:xfrm>
            <a:off x="11560394" y="6102433"/>
            <a:ext cx="399381" cy="399381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223558" y="0"/>
                </a:moveTo>
                <a:lnTo>
                  <a:pt x="179031" y="0"/>
                </a:lnTo>
                <a:lnTo>
                  <a:pt x="179031" y="85166"/>
                </a:lnTo>
                <a:lnTo>
                  <a:pt x="185813" y="150977"/>
                </a:lnTo>
                <a:lnTo>
                  <a:pt x="176123" y="155816"/>
                </a:lnTo>
                <a:lnTo>
                  <a:pt x="134518" y="103555"/>
                </a:lnTo>
                <a:lnTo>
                  <a:pt x="74523" y="43548"/>
                </a:lnTo>
                <a:lnTo>
                  <a:pt x="43548" y="74523"/>
                </a:lnTo>
                <a:lnTo>
                  <a:pt x="103555" y="134518"/>
                </a:lnTo>
                <a:lnTo>
                  <a:pt x="155803" y="176136"/>
                </a:lnTo>
                <a:lnTo>
                  <a:pt x="150964" y="185813"/>
                </a:lnTo>
                <a:lnTo>
                  <a:pt x="85166" y="179044"/>
                </a:lnTo>
                <a:lnTo>
                  <a:pt x="0" y="179044"/>
                </a:lnTo>
                <a:lnTo>
                  <a:pt x="0" y="223558"/>
                </a:lnTo>
                <a:lnTo>
                  <a:pt x="85166" y="223558"/>
                </a:lnTo>
                <a:lnTo>
                  <a:pt x="150964" y="216776"/>
                </a:lnTo>
                <a:lnTo>
                  <a:pt x="155803" y="226466"/>
                </a:lnTo>
                <a:lnTo>
                  <a:pt x="103555" y="268071"/>
                </a:lnTo>
                <a:lnTo>
                  <a:pt x="43548" y="328079"/>
                </a:lnTo>
                <a:lnTo>
                  <a:pt x="74523" y="359041"/>
                </a:lnTo>
                <a:lnTo>
                  <a:pt x="134518" y="299046"/>
                </a:lnTo>
                <a:lnTo>
                  <a:pt x="176123" y="246786"/>
                </a:lnTo>
                <a:lnTo>
                  <a:pt x="185813" y="251625"/>
                </a:lnTo>
                <a:lnTo>
                  <a:pt x="179031" y="317423"/>
                </a:lnTo>
                <a:lnTo>
                  <a:pt x="179031" y="402589"/>
                </a:lnTo>
                <a:lnTo>
                  <a:pt x="223558" y="402589"/>
                </a:lnTo>
                <a:lnTo>
                  <a:pt x="223558" y="317423"/>
                </a:lnTo>
                <a:lnTo>
                  <a:pt x="216776" y="251625"/>
                </a:lnTo>
                <a:lnTo>
                  <a:pt x="226453" y="246786"/>
                </a:lnTo>
                <a:lnTo>
                  <a:pt x="268071" y="299046"/>
                </a:lnTo>
                <a:lnTo>
                  <a:pt x="328066" y="359041"/>
                </a:lnTo>
                <a:lnTo>
                  <a:pt x="359041" y="328079"/>
                </a:lnTo>
                <a:lnTo>
                  <a:pt x="299034" y="268071"/>
                </a:lnTo>
                <a:lnTo>
                  <a:pt x="246773" y="226466"/>
                </a:lnTo>
                <a:lnTo>
                  <a:pt x="251612" y="216776"/>
                </a:lnTo>
                <a:lnTo>
                  <a:pt x="317423" y="223558"/>
                </a:lnTo>
                <a:lnTo>
                  <a:pt x="402590" y="223558"/>
                </a:lnTo>
                <a:lnTo>
                  <a:pt x="402590" y="179044"/>
                </a:lnTo>
                <a:lnTo>
                  <a:pt x="317423" y="179044"/>
                </a:lnTo>
                <a:lnTo>
                  <a:pt x="251612" y="185813"/>
                </a:lnTo>
                <a:lnTo>
                  <a:pt x="246773" y="176136"/>
                </a:lnTo>
                <a:lnTo>
                  <a:pt x="299034" y="134518"/>
                </a:lnTo>
                <a:lnTo>
                  <a:pt x="359041" y="74523"/>
                </a:lnTo>
                <a:lnTo>
                  <a:pt x="328066" y="43548"/>
                </a:lnTo>
                <a:lnTo>
                  <a:pt x="268071" y="103555"/>
                </a:lnTo>
                <a:lnTo>
                  <a:pt x="226453" y="155816"/>
                </a:lnTo>
                <a:lnTo>
                  <a:pt x="216776" y="150977"/>
                </a:lnTo>
                <a:lnTo>
                  <a:pt x="223558" y="85166"/>
                </a:lnTo>
                <a:lnTo>
                  <a:pt x="22355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DBB97D-0C7C-85EA-B016-D889D1E78F1A}"/>
              </a:ext>
            </a:extLst>
          </p:cNvPr>
          <p:cNvSpPr/>
          <p:nvPr/>
        </p:nvSpPr>
        <p:spPr>
          <a:xfrm>
            <a:off x="1795466" y="2200016"/>
            <a:ext cx="1467068" cy="818908"/>
          </a:xfrm>
          <a:prstGeom prst="roundRect">
            <a:avLst>
              <a:gd name="adj" fmla="val 11894"/>
            </a:avLst>
          </a:prstGeom>
          <a:solidFill>
            <a:srgbClr val="E7D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3EEBC1-D8C3-97C9-F91B-C9DE6A9EE3E3}"/>
              </a:ext>
            </a:extLst>
          </p:cNvPr>
          <p:cNvGrpSpPr/>
          <p:nvPr/>
        </p:nvGrpSpPr>
        <p:grpSpPr>
          <a:xfrm>
            <a:off x="2982671" y="2331636"/>
            <a:ext cx="143897" cy="143897"/>
            <a:chOff x="4794103" y="1588576"/>
            <a:chExt cx="1242488" cy="1242488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9FE982B-ABF1-3ECE-79E7-9BAF43415172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581131-3C2E-1496-5221-D7F3EB4D4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13">
            <a:extLst>
              <a:ext uri="{FF2B5EF4-FFF2-40B4-BE49-F238E27FC236}">
                <a16:creationId xmlns:a16="http://schemas.microsoft.com/office/drawing/2014/main" id="{1E593093-9A11-FBFD-DF1F-6D21BD694444}"/>
              </a:ext>
            </a:extLst>
          </p:cNvPr>
          <p:cNvSpPr>
            <a:spLocks/>
          </p:cNvSpPr>
          <p:nvPr/>
        </p:nvSpPr>
        <p:spPr bwMode="auto">
          <a:xfrm>
            <a:off x="6323163" y="830934"/>
            <a:ext cx="450765" cy="450765"/>
          </a:xfrm>
          <a:custGeom>
            <a:avLst/>
            <a:gdLst>
              <a:gd name="T0" fmla="*/ 276 w 276"/>
              <a:gd name="T1" fmla="*/ 138 h 276"/>
              <a:gd name="T2" fmla="*/ 138 w 276"/>
              <a:gd name="T3" fmla="*/ 276 h 276"/>
              <a:gd name="T4" fmla="*/ 0 w 276"/>
              <a:gd name="T5" fmla="*/ 138 h 276"/>
              <a:gd name="T6" fmla="*/ 138 w 276"/>
              <a:gd name="T7" fmla="*/ 0 h 276"/>
              <a:gd name="T8" fmla="*/ 276 w 276"/>
              <a:gd name="T9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6" h="276">
                <a:moveTo>
                  <a:pt x="276" y="138"/>
                </a:moveTo>
                <a:cubicBezTo>
                  <a:pt x="189" y="166"/>
                  <a:pt x="166" y="189"/>
                  <a:pt x="138" y="276"/>
                </a:cubicBezTo>
                <a:cubicBezTo>
                  <a:pt x="110" y="189"/>
                  <a:pt x="87" y="166"/>
                  <a:pt x="0" y="138"/>
                </a:cubicBezTo>
                <a:cubicBezTo>
                  <a:pt x="87" y="110"/>
                  <a:pt x="110" y="87"/>
                  <a:pt x="138" y="0"/>
                </a:cubicBezTo>
                <a:cubicBezTo>
                  <a:pt x="166" y="87"/>
                  <a:pt x="189" y="110"/>
                  <a:pt x="276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4135B-C975-8F6E-CB02-FC52D3EE4452}"/>
              </a:ext>
            </a:extLst>
          </p:cNvPr>
          <p:cNvSpPr txBox="1"/>
          <p:nvPr/>
        </p:nvSpPr>
        <p:spPr>
          <a:xfrm>
            <a:off x="1871096" y="2228869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/>
              <a:t>Improvement</a:t>
            </a:r>
          </a:p>
          <a:p>
            <a:r>
              <a:rPr lang="en-ID" sz="1200" dirty="0"/>
              <a:t>Target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938B1F-7AF6-27BC-8CB0-E61EBD977161}"/>
              </a:ext>
            </a:extLst>
          </p:cNvPr>
          <p:cNvSpPr txBox="1"/>
          <p:nvPr/>
        </p:nvSpPr>
        <p:spPr>
          <a:xfrm>
            <a:off x="2436320" y="2591655"/>
            <a:ext cx="797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2000" dirty="0"/>
              <a:t>90%</a:t>
            </a: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52CCE-AB8E-77CA-A1BD-19A68387AD39}"/>
              </a:ext>
            </a:extLst>
          </p:cNvPr>
          <p:cNvSpPr txBox="1"/>
          <p:nvPr/>
        </p:nvSpPr>
        <p:spPr>
          <a:xfrm>
            <a:off x="2933373" y="4160395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D" sz="1400" dirty="0"/>
              <a:t>Department of Computer Science</a:t>
            </a:r>
          </a:p>
          <a:p>
            <a:pPr algn="r"/>
            <a:r>
              <a:rPr lang="en-ID" sz="1400" dirty="0" err="1"/>
              <a:t>Dakka</a:t>
            </a:r>
            <a:r>
              <a:rPr lang="en-ID" sz="1400" dirty="0"/>
              <a:t> University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3C1186-122D-B673-3E6A-936B8C47C70E}"/>
              </a:ext>
            </a:extLst>
          </p:cNvPr>
          <p:cNvSpPr txBox="1"/>
          <p:nvPr/>
        </p:nvSpPr>
        <p:spPr>
          <a:xfrm>
            <a:off x="293397" y="6216563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/>
              <a:t>+123 456 7890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6BDB3-F8C6-AE9F-EBDE-8121F2B7F352}"/>
              </a:ext>
            </a:extLst>
          </p:cNvPr>
          <p:cNvSpPr txBox="1"/>
          <p:nvPr/>
        </p:nvSpPr>
        <p:spPr>
          <a:xfrm>
            <a:off x="2820436" y="6216563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ID" dirty="0" err="1"/>
              <a:t>Alex@domain.com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211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8">
      <a:dk1>
        <a:srgbClr val="292929"/>
      </a:dk1>
      <a:lt1>
        <a:srgbClr val="EFECE9"/>
      </a:lt1>
      <a:dk2>
        <a:srgbClr val="000000"/>
      </a:dk2>
      <a:lt2>
        <a:srgbClr val="E7DED0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to">
      <a:majorFont>
        <a:latin typeface="DarkerGrotesque-Bold"/>
        <a:ea typeface=""/>
        <a:cs typeface=""/>
      </a:majorFont>
      <a:minorFont>
        <a:latin typeface="DarkerGrotesque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1176</Words>
  <Application>Microsoft Office PowerPoint</Application>
  <PresentationFormat>Widescreen</PresentationFormat>
  <Paragraphs>420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DarkerGrotesque-Bold</vt:lpstr>
      <vt:lpstr>DarkerGrotesque-Regular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Fakhroo Studio</dc:creator>
  <cp:lastModifiedBy>Legion Five</cp:lastModifiedBy>
  <cp:revision>18</cp:revision>
  <dcterms:created xsi:type="dcterms:W3CDTF">2024-07-17T17:18:34Z</dcterms:created>
  <dcterms:modified xsi:type="dcterms:W3CDTF">2026-06-07T08:30:20Z</dcterms:modified>
</cp:coreProperties>
</file>