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</p:sldIdLst>
  <p:sldSz cx="12192000" cy="6858000" type="wide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5.xml"/><Relationship Id="rId3" Type="http://schemas.openxmlformats.org/officeDocument/2006/relationships/slide" Target="slide7.xml"/><Relationship Id="rId4" Type="http://schemas.openxmlformats.org/officeDocument/2006/relationships/slide" Target="slide9.xml"/><Relationship Id="rId5" Type="http://schemas.openxmlformats.org/officeDocument/2006/relationships/slide" Target="slide11.xml"/><Relationship Id="rId6" Type="http://schemas.openxmlformats.org/officeDocument/2006/relationships/slide" Target="slide13.xml"/><Relationship Id="rId7" Type="http://schemas.openxmlformats.org/officeDocument/2006/relationships/slide" Target="slide15.xml"/><Relationship Id="rId8" Type="http://schemas.openxmlformats.org/officeDocument/2006/relationships/slide" Target="slide17.xml"/><Relationship Id="rId9" Type="http://schemas.openxmlformats.org/officeDocument/2006/relationships/slide" Target="slide19.xml"/><Relationship Id="rId10" Type="http://schemas.openxmlformats.org/officeDocument/2006/relationships/slide" Target="slide21.xml"/><Relationship Id="rId11" Type="http://schemas.openxmlformats.org/officeDocument/2006/relationships/slide" Target="slide23.xml"/><Relationship Id="rId12" Type="http://schemas.openxmlformats.org/officeDocument/2006/relationships/slide" Target="slide25.xml"/><Relationship Id="rId13" Type="http://schemas.openxmlformats.org/officeDocument/2006/relationships/slide" Target="slide27.xml"/><Relationship Id="rId14" Type="http://schemas.openxmlformats.org/officeDocument/2006/relationships/slide" Target="slide29.xml"/><Relationship Id="rId15" Type="http://schemas.openxmlformats.org/officeDocument/2006/relationships/slide" Target="slide31.xml"/><Relationship Id="rId16" Type="http://schemas.openxmlformats.org/officeDocument/2006/relationships/slide" Target="slide33.xml"/><Relationship Id="rId17" Type="http://schemas.openxmlformats.org/officeDocument/2006/relationships/slide" Target="slide36.xml"/><Relationship Id="rId18" Type="http://schemas.openxmlformats.org/officeDocument/2006/relationships/slide" Target="slide38.xml"/><Relationship Id="rId19" Type="http://schemas.openxmlformats.org/officeDocument/2006/relationships/slide" Target="slide40.xml"/><Relationship Id="rId20" Type="http://schemas.openxmlformats.org/officeDocument/2006/relationships/slide" Target="slide42.xml"/><Relationship Id="rId21" Type="http://schemas.openxmlformats.org/officeDocument/2006/relationships/slide" Target="slide44.xml"/><Relationship Id="rId22" Type="http://schemas.openxmlformats.org/officeDocument/2006/relationships/slide" Target="slide46.xml"/><Relationship Id="rId23" Type="http://schemas.openxmlformats.org/officeDocument/2006/relationships/slide" Target="slide48.xml"/><Relationship Id="rId24" Type="http://schemas.openxmlformats.org/officeDocument/2006/relationships/slide" Target="slide50.xml"/><Relationship Id="rId25" Type="http://schemas.openxmlformats.org/officeDocument/2006/relationships/slide" Target="slide52.xml"/><Relationship Id="rId26" Type="http://schemas.openxmlformats.org/officeDocument/2006/relationships/slide" Target="slide54.xml"/><Relationship Id="rId27" Type="http://schemas.openxmlformats.org/officeDocument/2006/relationships/slide" Target="slide56.xml"/><Relationship Id="rId28" Type="http://schemas.openxmlformats.org/officeDocument/2006/relationships/slide" Target="slide58.xml"/><Relationship Id="rId29" Type="http://schemas.openxmlformats.org/officeDocument/2006/relationships/slide" Target="slide60.xml"/><Relationship Id="rId30" Type="http://schemas.openxmlformats.org/officeDocument/2006/relationships/slide" Target="slide62.xml"/><Relationship Id="rId31" Type="http://schemas.openxmlformats.org/officeDocument/2006/relationships/slide" Target="slide64.xml"/><Relationship Id="rId32" Type="http://schemas.openxmlformats.org/officeDocument/2006/relationships/slide" Target="slide66.xml"/><Relationship Id="rId33" Type="http://schemas.openxmlformats.org/officeDocument/2006/relationships/slide" Target="slide68.xml"/><Relationship Id="rId34" Type="http://schemas.openxmlformats.org/officeDocument/2006/relationships/slide" Target="slide70.xml"/><Relationship Id="rId35" Type="http://schemas.openxmlformats.org/officeDocument/2006/relationships/slide" Target="slide72.xml"/><Relationship Id="rId36" Type="http://schemas.openxmlformats.org/officeDocument/2006/relationships/slide" Target="slide74.xml"/><Relationship Id="rId37" Type="http://schemas.openxmlformats.org/officeDocument/2006/relationships/slide" Target="slide76.xml"/><Relationship Id="rId38" Type="http://schemas.openxmlformats.org/officeDocument/2006/relationships/slide" Target="slide78.xml"/><Relationship Id="rId39" Type="http://schemas.openxmlformats.org/officeDocument/2006/relationships/slide" Target="slide80.xml"/><Relationship Id="rId40" Type="http://schemas.openxmlformats.org/officeDocument/2006/relationships/slide" Target="slide82.xml"/><Relationship Id="rId41" Type="http://schemas.openxmlformats.org/officeDocument/2006/relationships/slide" Target="slide84.xml"/><Relationship Id="rId42" Type="http://schemas.openxmlformats.org/officeDocument/2006/relationships/slide" Target="slide86.xml"/><Relationship Id="rId43" Type="http://schemas.openxmlformats.org/officeDocument/2006/relationships/slide" Target="slide88.xml"/><Relationship Id="rId44" Type="http://schemas.openxmlformats.org/officeDocument/2006/relationships/slide" Target="slide90.xml"/><Relationship Id="rId45" Type="http://schemas.openxmlformats.org/officeDocument/2006/relationships/slide" Target="slide9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6.xml"/><Relationship Id="rId3" Type="http://schemas.openxmlformats.org/officeDocument/2006/relationships/slide" Target="slide3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5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8.xml"/><Relationship Id="rId3" Type="http://schemas.openxmlformats.org/officeDocument/2006/relationships/slide" Target="slide3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7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0.xml"/><Relationship Id="rId3" Type="http://schemas.openxmlformats.org/officeDocument/2006/relationships/slide" Target="slide3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9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2.xml"/><Relationship Id="rId3" Type="http://schemas.openxmlformats.org/officeDocument/2006/relationships/slide" Target="slide3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1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13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6.xml"/><Relationship Id="rId3" Type="http://schemas.openxmlformats.org/officeDocument/2006/relationships/slide" Target="slide3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15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8.xml"/><Relationship Id="rId3" Type="http://schemas.openxmlformats.org/officeDocument/2006/relationships/slide" Target="slide3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17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0.xml"/><Relationship Id="rId3" Type="http://schemas.openxmlformats.org/officeDocument/2006/relationships/slide" Target="slide3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19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2.xml"/><Relationship Id="rId3" Type="http://schemas.openxmlformats.org/officeDocument/2006/relationships/slide" Target="slide3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2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4.xml"/><Relationship Id="rId3" Type="http://schemas.openxmlformats.org/officeDocument/2006/relationships/slide" Target="slide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23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6.xml"/><Relationship Id="rId3" Type="http://schemas.openxmlformats.org/officeDocument/2006/relationships/slide" Target="slide3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25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8.xml"/><Relationship Id="rId3" Type="http://schemas.openxmlformats.org/officeDocument/2006/relationships/slide" Target="slide3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27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0.xml"/><Relationship Id="rId3" Type="http://schemas.openxmlformats.org/officeDocument/2006/relationships/slide" Target="slide3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29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2.xml"/><Relationship Id="rId3" Type="http://schemas.openxmlformats.org/officeDocument/2006/relationships/slide" Target="slide3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31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4.xml"/><Relationship Id="rId3" Type="http://schemas.openxmlformats.org/officeDocument/2006/relationships/slide" Target="slide3.xm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33.xm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7.xml"/><Relationship Id="rId3" Type="http://schemas.openxmlformats.org/officeDocument/2006/relationships/slide" Target="slide3.xml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36.xml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9.xml"/><Relationship Id="rId3" Type="http://schemas.openxmlformats.org/officeDocument/2006/relationships/slide" Target="slide3.xml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38.xml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41.xml"/><Relationship Id="rId3" Type="http://schemas.openxmlformats.org/officeDocument/2006/relationships/slide" Target="slide3.xml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40.xml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43.xml"/><Relationship Id="rId3" Type="http://schemas.openxmlformats.org/officeDocument/2006/relationships/slide" Target="slide3.xml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42.xml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45.xml"/><Relationship Id="rId3" Type="http://schemas.openxmlformats.org/officeDocument/2006/relationships/slide" Target="slide3.xml"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44.xml"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47.xml"/><Relationship Id="rId3" Type="http://schemas.openxmlformats.org/officeDocument/2006/relationships/slide" Target="slide3.xml"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46.xml"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49.xml"/><Relationship Id="rId3" Type="http://schemas.openxmlformats.org/officeDocument/2006/relationships/slide" Target="slide3.xml"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48.xml"/></Relationships>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51.xml"/><Relationship Id="rId3" Type="http://schemas.openxmlformats.org/officeDocument/2006/relationships/slide" Target="slide3.xml"/></Relationships>
</file>

<file path=ppt/slides/_rels/slide5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50.xml"/></Relationships>
</file>

<file path=ppt/slides/_rels/slide5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53.xml"/><Relationship Id="rId3" Type="http://schemas.openxmlformats.org/officeDocument/2006/relationships/slide" Target="slide3.xml"/></Relationships>
</file>

<file path=ppt/slides/_rels/slide5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52.xml"/></Relationships>
</file>

<file path=ppt/slides/_rels/slide5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55.xml"/><Relationship Id="rId3" Type="http://schemas.openxmlformats.org/officeDocument/2006/relationships/slide" Target="slide3.xml"/></Relationships>
</file>

<file path=ppt/slides/_rels/slide5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54.xml"/></Relationships>
</file>

<file path=ppt/slides/_rels/slide5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57.xml"/><Relationship Id="rId3" Type="http://schemas.openxmlformats.org/officeDocument/2006/relationships/slide" Target="slide3.xml"/></Relationships>
</file>

<file path=ppt/slides/_rels/slide5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56.xml"/></Relationships>
</file>

<file path=ppt/slides/_rels/slide5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59.xml"/><Relationship Id="rId3" Type="http://schemas.openxmlformats.org/officeDocument/2006/relationships/slide" Target="slide3.xml"/></Relationships>
</file>

<file path=ppt/slides/_rels/slide5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58.xml"/></Relationships>
</file>

<file path=ppt/slides/_rels/slide6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61.xml"/><Relationship Id="rId3" Type="http://schemas.openxmlformats.org/officeDocument/2006/relationships/slide" Target="slide3.xml"/></Relationships>
</file>

<file path=ppt/slides/_rels/slide6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60.xml"/></Relationships>
</file>

<file path=ppt/slides/_rels/slide6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63.xml"/><Relationship Id="rId3" Type="http://schemas.openxmlformats.org/officeDocument/2006/relationships/slide" Target="slide3.xml"/></Relationships>
</file>

<file path=ppt/slides/_rels/slide6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62.xml"/></Relationships>
</file>

<file path=ppt/slides/_rels/slide6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65.xml"/><Relationship Id="rId3" Type="http://schemas.openxmlformats.org/officeDocument/2006/relationships/slide" Target="slide3.xml"/></Relationships>
</file>

<file path=ppt/slides/_rels/slide6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64.xml"/></Relationships>
</file>

<file path=ppt/slides/_rels/slide6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67.xml"/><Relationship Id="rId3" Type="http://schemas.openxmlformats.org/officeDocument/2006/relationships/slide" Target="slide3.xml"/></Relationships>
</file>

<file path=ppt/slides/_rels/slide6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66.xml"/></Relationships>
</file>

<file path=ppt/slides/_rels/slide6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69.xml"/><Relationship Id="rId3" Type="http://schemas.openxmlformats.org/officeDocument/2006/relationships/slide" Target="slide3.xml"/></Relationships>
</file>

<file path=ppt/slides/_rels/slide6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68.xml"/></Relationships>
</file>

<file path=ppt/slides/_rels/slide7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71.xml"/><Relationship Id="rId3" Type="http://schemas.openxmlformats.org/officeDocument/2006/relationships/slide" Target="slide3.xml"/></Relationships>
</file>

<file path=ppt/slides/_rels/slide7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70.xml"/></Relationships>
</file>

<file path=ppt/slides/_rels/slide7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73.xml"/><Relationship Id="rId3" Type="http://schemas.openxmlformats.org/officeDocument/2006/relationships/slide" Target="slide3.xml"/></Relationships>
</file>

<file path=ppt/slides/_rels/slide7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72.xml"/></Relationships>
</file>

<file path=ppt/slides/_rels/slide7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75.xml"/><Relationship Id="rId3" Type="http://schemas.openxmlformats.org/officeDocument/2006/relationships/slide" Target="slide3.xml"/></Relationships>
</file>

<file path=ppt/slides/_rels/slide7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74.xml"/></Relationships>
</file>

<file path=ppt/slides/_rels/slide7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77.xml"/><Relationship Id="rId3" Type="http://schemas.openxmlformats.org/officeDocument/2006/relationships/slide" Target="slide3.xml"/></Relationships>
</file>

<file path=ppt/slides/_rels/slide7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76.xml"/></Relationships>
</file>

<file path=ppt/slides/_rels/slide7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79.xml"/><Relationship Id="rId3" Type="http://schemas.openxmlformats.org/officeDocument/2006/relationships/slide" Target="slide3.xml"/></Relationships>
</file>

<file path=ppt/slides/_rels/slide7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78.xml"/></Relationships>
</file>

<file path=ppt/slides/_rels/slide8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81.xml"/><Relationship Id="rId3" Type="http://schemas.openxmlformats.org/officeDocument/2006/relationships/slide" Target="slide3.xml"/></Relationships>
</file>

<file path=ppt/slides/_rels/slide8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80.xml"/></Relationships>
</file>

<file path=ppt/slides/_rels/slide8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83.xml"/><Relationship Id="rId3" Type="http://schemas.openxmlformats.org/officeDocument/2006/relationships/slide" Target="slide3.xml"/></Relationships>
</file>

<file path=ppt/slides/_rels/slide8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82.xml"/></Relationships>
</file>

<file path=ppt/slides/_rels/slide8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85.xml"/><Relationship Id="rId3" Type="http://schemas.openxmlformats.org/officeDocument/2006/relationships/slide" Target="slide3.xml"/></Relationships>
</file>

<file path=ppt/slides/_rels/slide8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84.xml"/></Relationships>
</file>

<file path=ppt/slides/_rels/slide8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87.xml"/><Relationship Id="rId3" Type="http://schemas.openxmlformats.org/officeDocument/2006/relationships/slide" Target="slide3.xml"/></Relationships>
</file>

<file path=ppt/slides/_rels/slide8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86.xml"/></Relationships>
</file>

<file path=ppt/slides/_rels/slide8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89.xml"/><Relationship Id="rId3" Type="http://schemas.openxmlformats.org/officeDocument/2006/relationships/slide" Target="slide3.xml"/></Relationships>
</file>

<file path=ppt/slides/_rels/slide8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88.xml"/></Relationships>
</file>

<file path=ppt/slides/_rels/slide9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91.xml"/><Relationship Id="rId3" Type="http://schemas.openxmlformats.org/officeDocument/2006/relationships/slide" Target="slide3.xml"/></Relationships>
</file>

<file path=ppt/slides/_rels/slide9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90.xml"/></Relationships>
</file>

<file path=ppt/slides/_rels/slide9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93.xml"/><Relationship Id="rId3" Type="http://schemas.openxmlformats.org/officeDocument/2006/relationships/slide" Target="slide3.xml"/></Relationships>
</file>

<file path=ppt/slides/_rels/slide9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9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666750" y="742950"/>
            <a:ext cx="76200" cy="9144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895350" y="666750"/>
            <a:ext cx="7239000" cy="3238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300" b="1">
                <a:solidFill>
                  <a:srgbClr val="58C98B"/>
                </a:solidFill>
                <a:latin typeface="Aptos"/>
              </a:rPr>
              <a:t>PAMS8 SHOWCASE</a:t>
            </a:r>
            <a:endParaRPr lang="en-US" sz="1300"/>
          </a:p>
        </p:txBody>
      </p:sp>
      <p:sp>
        <p:nvSpPr>
          <p:cNvPr id="22" name="Shape 22"/>
          <p:cNvSpPr/>
          <p:nvPr/>
        </p:nvSpPr>
        <p:spPr>
          <a:xfrm>
            <a:off x="895350" y="1123950"/>
            <a:ext cx="7620000" cy="1123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3600" b="1">
                <a:solidFill>
                  <a:srgbClr val="F4F7F4"/>
                </a:solidFill>
                <a:latin typeface="Aptos"/>
              </a:rPr>
              <a:t>PAMS8: Military Standard 2525D Symbol Drawing Library</a:t>
            </a:r>
            <a:endParaRPr lang="en-US" sz="3600"/>
          </a:p>
        </p:txBody>
      </p:sp>
      <p:sp>
        <p:nvSpPr>
          <p:cNvPr id="23" name="Shape 23"/>
          <p:cNvSpPr/>
          <p:nvPr/>
        </p:nvSpPr>
        <p:spPr>
          <a:xfrm>
            <a:off x="914400" y="2495550"/>
            <a:ext cx="676275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2200">
                <a:solidFill>
                  <a:srgbClr val="A8B7B1"/>
                </a:solidFill>
                <a:latin typeface="Aptos"/>
              </a:rPr>
              <a:t>Draw, edit, analyze, and manage tactical map symbols in 2D and 3D.</a:t>
            </a:r>
            <a:endParaRPr lang="en-US" sz="2200"/>
          </a:p>
        </p:txBody>
      </p:sp>
      <p:sp>
        <p:nvSpPr>
          <p:cNvPr id="24" name="Shape 24"/>
          <p:cNvSpPr/>
          <p:nvPr/>
        </p:nvSpPr>
        <p:spPr>
          <a:xfrm>
            <a:off x="838200" y="3848100"/>
            <a:ext cx="2381250" cy="1066800"/>
          </a:xfrm>
          <a:prstGeom prst="roundRect">
            <a:avLst/>
          </a:prstGeom>
          <a:solidFill>
            <a:srgbClr val="1B292F"/>
          </a:solidFill>
          <a:ln w="1778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25" name="Shape 25"/>
          <p:cNvSpPr/>
          <p:nvPr/>
        </p:nvSpPr>
        <p:spPr>
          <a:xfrm>
            <a:off x="1047750" y="3981450"/>
            <a:ext cx="2000250" cy="5524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4200" b="1">
                <a:solidFill>
                  <a:srgbClr val="58C98B"/>
                </a:solidFill>
                <a:latin typeface="Aptos"/>
              </a:rPr>
              <a:t>954</a:t>
            </a:r>
            <a:endParaRPr lang="en-US" sz="4200"/>
          </a:p>
        </p:txBody>
      </p:sp>
      <p:sp>
        <p:nvSpPr>
          <p:cNvPr id="26" name="Shape 26"/>
          <p:cNvSpPr/>
          <p:nvPr/>
        </p:nvSpPr>
        <p:spPr>
          <a:xfrm>
            <a:off x="1047750" y="4591050"/>
            <a:ext cx="20002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 b="1">
                <a:solidFill>
                  <a:srgbClr val="F4F7F4"/>
                </a:solidFill>
                <a:latin typeface="Aptos"/>
              </a:rPr>
              <a:t>symbol definitions</a:t>
            </a:r>
            <a:endParaRPr lang="en-US" sz="1400"/>
          </a:p>
        </p:txBody>
      </p:sp>
      <p:sp>
        <p:nvSpPr>
          <p:cNvPr id="27" name="Shape 27"/>
          <p:cNvSpPr/>
          <p:nvPr/>
        </p:nvSpPr>
        <p:spPr>
          <a:xfrm>
            <a:off x="7010400" y="781050"/>
            <a:ext cx="3771900" cy="4248150"/>
          </a:xfrm>
          <a:prstGeom prst="roundRect">
            <a:avLst/>
          </a:prstGeom>
          <a:solidFill>
            <a:srgbClr val="12191D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8" name="Shape 28"/>
          <p:cNvSpPr/>
          <p:nvPr/>
        </p:nvSpPr>
        <p:spPr>
          <a:xfrm>
            <a:off x="7353300" y="1219200"/>
            <a:ext cx="3086100" cy="7810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600" b="1">
                <a:solidFill>
                  <a:srgbClr val="F4F7F4"/>
                </a:solidFill>
                <a:latin typeface="Aptos"/>
              </a:rPr>
              <a:t>Native tactical drawing + analysis workflows</a:t>
            </a:r>
            <a:endParaRPr lang="en-US" sz="2600"/>
          </a:p>
        </p:txBody>
      </p:sp>
      <p:sp>
        <p:nvSpPr>
          <p:cNvPr id="29" name="Shape 29"/>
          <p:cNvSpPr/>
          <p:nvPr/>
        </p:nvSpPr>
        <p:spPr>
          <a:xfrm>
            <a:off x="7429500" y="2476500"/>
            <a:ext cx="2933700" cy="14287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600">
                <a:solidFill>
                  <a:srgbClr val="A8B7B1"/>
                </a:solidFill>
                <a:latin typeface="Aptos"/>
              </a:rPr>
              <a:t>2D / 3D view support</a:t>
            </a:r>
            <a:endParaRPr lang="en-US" sz="1600"/>
          </a:p>
          <a:p>
            <a:pPr marL="285750" indent="-171450">
              <a:buChar char="-"/>
            </a:pPr>
            <a:r>
              <a:rPr lang="en-US" sz="1600">
                <a:solidFill>
                  <a:srgbClr val="A8B7B1"/>
                </a:solidFill>
                <a:latin typeface="Aptos"/>
              </a:rPr>
              <a:t>MIL-STD-2525D rendering</a:t>
            </a:r>
            <a:endParaRPr lang="en-US" sz="1600"/>
          </a:p>
          <a:p>
            <a:pPr marL="285750" indent="-171450">
              <a:buChar char="-"/>
            </a:pPr>
            <a:r>
              <a:rPr lang="en-US" sz="1600">
                <a:solidFill>
                  <a:srgbClr val="A8B7B1"/>
                </a:solidFill>
                <a:latin typeface="Aptos"/>
              </a:rPr>
              <a:t>Editable symbols and plans</a:t>
            </a:r>
            <a:endParaRPr lang="en-US" sz="1600"/>
          </a:p>
          <a:p>
            <a:pPr marL="285750" indent="-171450">
              <a:buChar char="-"/>
            </a:pPr>
            <a:r>
              <a:rPr lang="en-US" sz="1600">
                <a:solidFill>
                  <a:srgbClr val="A8B7B1"/>
                </a:solidFill>
                <a:latin typeface="Aptos"/>
              </a:rPr>
              <a:t>Terrain and route analysis</a:t>
            </a:r>
            <a:endParaRPr lang="en-US" sz="1600"/>
          </a:p>
        </p:txBody>
      </p:sp>
      <p:sp>
        <p:nvSpPr>
          <p:cNvPr id="30" name="Shape 30">
            <a:hlinkClick r:id="rId2" action="ppaction://hlinksldjump"/>
          </p:cNvPr>
          <p:cNvSpPr/>
          <p:nvPr/>
        </p:nvSpPr>
        <p:spPr>
          <a:xfrm>
            <a:off x="8991600" y="6096000"/>
            <a:ext cx="180975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Open Index</a:t>
            </a:r>
            <a:endParaRPr lang="en-US" sz="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OPENING PROOF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Symbol Catalog Snapshot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81050" y="1695450"/>
            <a:ext cx="1733550" cy="1104900"/>
          </a:xfrm>
          <a:prstGeom prst="roundRect">
            <a:avLst/>
          </a:prstGeom>
          <a:solidFill>
            <a:srgbClr val="20382D"/>
          </a:solidFill>
          <a:ln w="1270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60" name="Shape 60"/>
          <p:cNvSpPr/>
          <p:nvPr/>
        </p:nvSpPr>
        <p:spPr>
          <a:xfrm>
            <a:off x="876300" y="1866900"/>
            <a:ext cx="154305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3600" b="1">
                <a:solidFill>
                  <a:srgbClr val="58C98B"/>
                </a:solidFill>
                <a:latin typeface="Aptos"/>
              </a:rPr>
              <a:t>954</a:t>
            </a:r>
            <a:endParaRPr lang="en-US" sz="3600"/>
          </a:p>
        </p:txBody>
      </p:sp>
      <p:sp>
        <p:nvSpPr>
          <p:cNvPr id="80" name="Shape 80"/>
          <p:cNvSpPr/>
          <p:nvPr/>
        </p:nvSpPr>
        <p:spPr>
          <a:xfrm>
            <a:off x="895350" y="2362200"/>
            <a:ext cx="15049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A8B7B1"/>
                </a:solidFill>
                <a:latin typeface="Aptos"/>
              </a:rPr>
              <a:t>Total symbols</a:t>
            </a:r>
            <a:endParaRPr lang="en-US" sz="1300"/>
          </a:p>
        </p:txBody>
      </p:sp>
      <p:sp>
        <p:nvSpPr>
          <p:cNvPr id="41" name="Shape 41"/>
          <p:cNvSpPr/>
          <p:nvPr/>
        </p:nvSpPr>
        <p:spPr>
          <a:xfrm>
            <a:off x="2971800" y="1695450"/>
            <a:ext cx="1733550" cy="11049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1" name="Shape 61"/>
          <p:cNvSpPr/>
          <p:nvPr/>
        </p:nvSpPr>
        <p:spPr>
          <a:xfrm>
            <a:off x="3067050" y="1866900"/>
            <a:ext cx="154305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3100" b="1">
                <a:solidFill>
                  <a:srgbClr val="F4F7F4"/>
                </a:solidFill>
                <a:latin typeface="Aptos"/>
              </a:rPr>
              <a:t>511</a:t>
            </a:r>
            <a:endParaRPr lang="en-US" sz="3100"/>
          </a:p>
        </p:txBody>
      </p:sp>
      <p:sp>
        <p:nvSpPr>
          <p:cNvPr id="81" name="Shape 81"/>
          <p:cNvSpPr/>
          <p:nvPr/>
        </p:nvSpPr>
        <p:spPr>
          <a:xfrm>
            <a:off x="3086100" y="2362200"/>
            <a:ext cx="15049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A8B7B1"/>
                </a:solidFill>
                <a:latin typeface="Aptos"/>
              </a:rPr>
              <a:t>Force point</a:t>
            </a:r>
            <a:endParaRPr lang="en-US" sz="1300"/>
          </a:p>
        </p:txBody>
      </p:sp>
      <p:sp>
        <p:nvSpPr>
          <p:cNvPr id="42" name="Shape 42"/>
          <p:cNvSpPr/>
          <p:nvPr/>
        </p:nvSpPr>
        <p:spPr>
          <a:xfrm>
            <a:off x="5162550" y="1695450"/>
            <a:ext cx="1733550" cy="11049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2" name="Shape 62"/>
          <p:cNvSpPr/>
          <p:nvPr/>
        </p:nvSpPr>
        <p:spPr>
          <a:xfrm>
            <a:off x="5257800" y="1866900"/>
            <a:ext cx="154305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3100" b="1">
                <a:solidFill>
                  <a:srgbClr val="F4F7F4"/>
                </a:solidFill>
                <a:latin typeface="Aptos"/>
              </a:rPr>
              <a:t>325</a:t>
            </a:r>
            <a:endParaRPr lang="en-US" sz="3100"/>
          </a:p>
        </p:txBody>
      </p:sp>
      <p:sp>
        <p:nvSpPr>
          <p:cNvPr id="82" name="Shape 82"/>
          <p:cNvSpPr/>
          <p:nvPr/>
        </p:nvSpPr>
        <p:spPr>
          <a:xfrm>
            <a:off x="5276850" y="2362200"/>
            <a:ext cx="15049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A8B7B1"/>
                </a:solidFill>
                <a:latin typeface="Aptos"/>
              </a:rPr>
              <a:t>Tactical point</a:t>
            </a:r>
            <a:endParaRPr lang="en-US" sz="1300"/>
          </a:p>
        </p:txBody>
      </p:sp>
      <p:sp>
        <p:nvSpPr>
          <p:cNvPr id="43" name="Shape 43"/>
          <p:cNvSpPr/>
          <p:nvPr/>
        </p:nvSpPr>
        <p:spPr>
          <a:xfrm>
            <a:off x="7353300" y="1695450"/>
            <a:ext cx="1733550" cy="11049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3" name="Shape 63"/>
          <p:cNvSpPr/>
          <p:nvPr/>
        </p:nvSpPr>
        <p:spPr>
          <a:xfrm>
            <a:off x="7448550" y="1866900"/>
            <a:ext cx="154305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3100" b="1">
                <a:solidFill>
                  <a:srgbClr val="F4F7F4"/>
                </a:solidFill>
                <a:latin typeface="Aptos"/>
              </a:rPr>
              <a:t>62</a:t>
            </a:r>
            <a:endParaRPr lang="en-US" sz="3100"/>
          </a:p>
        </p:txBody>
      </p:sp>
      <p:sp>
        <p:nvSpPr>
          <p:cNvPr id="83" name="Shape 83"/>
          <p:cNvSpPr/>
          <p:nvPr/>
        </p:nvSpPr>
        <p:spPr>
          <a:xfrm>
            <a:off x="7467600" y="2362200"/>
            <a:ext cx="15049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A8B7B1"/>
                </a:solidFill>
                <a:latin typeface="Aptos"/>
              </a:rPr>
              <a:t>Area</a:t>
            </a:r>
            <a:endParaRPr lang="en-US" sz="1300"/>
          </a:p>
        </p:txBody>
      </p:sp>
      <p:sp>
        <p:nvSpPr>
          <p:cNvPr id="44" name="Shape 44"/>
          <p:cNvSpPr/>
          <p:nvPr/>
        </p:nvSpPr>
        <p:spPr>
          <a:xfrm>
            <a:off x="9544050" y="1695450"/>
            <a:ext cx="1733550" cy="11049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4" name="Shape 64"/>
          <p:cNvSpPr/>
          <p:nvPr/>
        </p:nvSpPr>
        <p:spPr>
          <a:xfrm>
            <a:off x="9639300" y="1866900"/>
            <a:ext cx="154305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3100" b="1">
                <a:solidFill>
                  <a:srgbClr val="F4F7F4"/>
                </a:solidFill>
                <a:latin typeface="Aptos"/>
              </a:rPr>
              <a:t>56</a:t>
            </a:r>
            <a:endParaRPr lang="en-US" sz="3100"/>
          </a:p>
        </p:txBody>
      </p:sp>
      <p:sp>
        <p:nvSpPr>
          <p:cNvPr id="84" name="Shape 84"/>
          <p:cNvSpPr/>
          <p:nvPr/>
        </p:nvSpPr>
        <p:spPr>
          <a:xfrm>
            <a:off x="9658350" y="2362200"/>
            <a:ext cx="15049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A8B7B1"/>
                </a:solidFill>
                <a:latin typeface="Aptos"/>
              </a:rPr>
              <a:t>Line</a:t>
            </a:r>
            <a:endParaRPr lang="en-US" sz="1300"/>
          </a:p>
        </p:txBody>
      </p:sp>
      <p:sp>
        <p:nvSpPr>
          <p:cNvPr id="90" name="Shape 90"/>
          <p:cNvSpPr/>
          <p:nvPr/>
        </p:nvSpPr>
        <p:spPr>
          <a:xfrm>
            <a:off x="971550" y="3695700"/>
            <a:ext cx="9810750" cy="1371600"/>
          </a:xfrm>
          <a:prstGeom prst="roundRect">
            <a:avLst/>
          </a:prstGeom>
          <a:solidFill>
            <a:srgbClr val="151D21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91" name="Shape 91"/>
          <p:cNvSpPr/>
          <p:nvPr/>
        </p:nvSpPr>
        <p:spPr>
          <a:xfrm>
            <a:off x="1295400" y="4000500"/>
            <a:ext cx="4286250" cy="4000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400" b="1">
                <a:solidFill>
                  <a:srgbClr val="F4F7F4"/>
                </a:solidFill>
                <a:latin typeface="Aptos"/>
              </a:rPr>
              <a:t>What this proves</a:t>
            </a:r>
            <a:endParaRPr lang="en-US" sz="2400"/>
          </a:p>
        </p:txBody>
      </p:sp>
      <p:sp>
        <p:nvSpPr>
          <p:cNvPr id="92" name="Shape 92"/>
          <p:cNvSpPr/>
          <p:nvPr/>
        </p:nvSpPr>
        <p:spPr>
          <a:xfrm>
            <a:off x="1295400" y="4514850"/>
            <a:ext cx="87630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800">
                <a:solidFill>
                  <a:srgbClr val="A8B7B1"/>
                </a:solidFill>
                <a:latin typeface="Aptos"/>
              </a:rPr>
              <a:t>PAMS8 is not a single-symbol demo. It is a broad tactical drawing and planning library with force symbols, tactical points, areas, lines, and analysis workflows operating across both 2D and 3D map views.</a:t>
            </a:r>
            <a:endParaRPr lang="en-US" sz="1800"/>
          </a:p>
        </p:txBody>
      </p:sp>
      <p:sp>
        <p:nvSpPr>
          <p:cNvPr id="93" name="Shape 93">
            <a:hlinkClick r:id="rId2" action="ppaction://hlinksldjump"/>
          </p:cNvPr>
          <p:cNvSpPr/>
          <p:nvPr/>
        </p:nvSpPr>
        <p:spPr>
          <a:xfrm>
            <a:off x="8991600" y="6096000"/>
            <a:ext cx="180975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Open Index</a:t>
            </a:r>
            <a:endParaRPr lang="en-US"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NAVIGATION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Clickable Index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30" name="Shape 30"/>
          <p:cNvSpPr/>
          <p:nvPr/>
        </p:nvSpPr>
        <p:spPr>
          <a:xfrm>
            <a:off x="685800" y="1200150"/>
            <a:ext cx="10668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Click any item to jump to the feature intro slide. Use Back to Index on each slide to return here.</a:t>
            </a:r>
            <a:endParaRPr lang="en-US" sz="1400"/>
          </a:p>
        </p:txBody>
      </p:sp>
      <p:sp>
        <p:nvSpPr>
          <p:cNvPr id="31" name="Shape 31"/>
          <p:cNvSpPr/>
          <p:nvPr/>
        </p:nvSpPr>
        <p:spPr>
          <a:xfrm>
            <a:off x="781050" y="16002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800" b="1">
                <a:solidFill>
                  <a:srgbClr val="58C98B"/>
                </a:solidFill>
                <a:latin typeface="Aptos"/>
              </a:rPr>
              <a:t>Core Features</a:t>
            </a:r>
            <a:endParaRPr lang="en-US" sz="1800"/>
          </a:p>
        </p:txBody>
      </p:sp>
      <p:sp>
        <p:nvSpPr>
          <p:cNvPr id="32" name="Shape 32"/>
          <p:cNvSpPr/>
          <p:nvPr/>
        </p:nvSpPr>
        <p:spPr>
          <a:xfrm>
            <a:off x="5962650" y="16002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800" b="1">
                <a:solidFill>
                  <a:srgbClr val="EF9F27"/>
                </a:solidFill>
                <a:latin typeface="Aptos"/>
              </a:rPr>
              <a:t>Engines</a:t>
            </a:r>
            <a:endParaRPr lang="en-US" sz="1800"/>
          </a:p>
        </p:txBody>
      </p:sp>
      <p:sp>
        <p:nvSpPr>
          <p:cNvPr id="100" name="Shape 100">
            <a:hlinkClick r:id="rId2" action="ppaction://hlinksldjump"/>
          </p:cNvPr>
          <p:cNvSpPr/>
          <p:nvPr/>
        </p:nvSpPr>
        <p:spPr>
          <a:xfrm>
            <a:off x="781050" y="19431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Drawing &amp; Symbol Creation</a:t>
            </a:r>
            <a:endParaRPr lang="en-US" sz="1150"/>
          </a:p>
        </p:txBody>
      </p:sp>
      <p:sp>
        <p:nvSpPr>
          <p:cNvPr id="101" name="Shape 101">
            <a:hlinkClick r:id="rId3" action="ppaction://hlinksldjump"/>
          </p:cNvPr>
          <p:cNvSpPr/>
          <p:nvPr/>
        </p:nvSpPr>
        <p:spPr>
          <a:xfrm>
            <a:off x="781050" y="22860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Symbol Catalog</a:t>
            </a:r>
            <a:endParaRPr lang="en-US" sz="1150"/>
          </a:p>
        </p:txBody>
      </p:sp>
      <p:sp>
        <p:nvSpPr>
          <p:cNvPr id="102" name="Shape 102">
            <a:hlinkClick r:id="rId4" action="ppaction://hlinksldjump"/>
          </p:cNvPr>
          <p:cNvSpPr/>
          <p:nvPr/>
        </p:nvSpPr>
        <p:spPr>
          <a:xfrm>
            <a:off x="781050" y="26289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Edit</a:t>
            </a:r>
            <a:endParaRPr lang="en-US" sz="1150"/>
          </a:p>
        </p:txBody>
      </p:sp>
      <p:sp>
        <p:nvSpPr>
          <p:cNvPr id="103" name="Shape 103">
            <a:hlinkClick r:id="rId5" action="ppaction://hlinksldjump"/>
          </p:cNvPr>
          <p:cNvSpPr/>
          <p:nvPr/>
        </p:nvSpPr>
        <p:spPr>
          <a:xfrm>
            <a:off x="781050" y="29718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Control Points</a:t>
            </a:r>
            <a:endParaRPr lang="en-US" sz="1150"/>
          </a:p>
        </p:txBody>
      </p:sp>
      <p:sp>
        <p:nvSpPr>
          <p:cNvPr id="104" name="Shape 104">
            <a:hlinkClick r:id="rId6" action="ppaction://hlinksldjump"/>
          </p:cNvPr>
          <p:cNvSpPr/>
          <p:nvPr/>
        </p:nvSpPr>
        <p:spPr>
          <a:xfrm>
            <a:off x="781050" y="33147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Selection</a:t>
            </a:r>
            <a:endParaRPr lang="en-US" sz="1150"/>
          </a:p>
        </p:txBody>
      </p:sp>
      <p:sp>
        <p:nvSpPr>
          <p:cNvPr id="105" name="Shape 105">
            <a:hlinkClick r:id="rId7" action="ppaction://hlinksldjump"/>
          </p:cNvPr>
          <p:cNvSpPr/>
          <p:nvPr/>
        </p:nvSpPr>
        <p:spPr>
          <a:xfrm>
            <a:off x="781050" y="36576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Batch Selection Operations</a:t>
            </a:r>
            <a:endParaRPr lang="en-US" sz="1150"/>
          </a:p>
        </p:txBody>
      </p:sp>
      <p:sp>
        <p:nvSpPr>
          <p:cNvPr id="106" name="Shape 106">
            <a:hlinkClick r:id="rId8" action="ppaction://hlinksldjump"/>
          </p:cNvPr>
          <p:cNvSpPr/>
          <p:nvPr/>
        </p:nvSpPr>
        <p:spPr>
          <a:xfrm>
            <a:off x="781050" y="40005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Copy / Paste</a:t>
            </a:r>
            <a:endParaRPr lang="en-US" sz="1150"/>
          </a:p>
        </p:txBody>
      </p:sp>
      <p:sp>
        <p:nvSpPr>
          <p:cNvPr id="107" name="Shape 107">
            <a:hlinkClick r:id="rId9" action="ppaction://hlinksldjump"/>
          </p:cNvPr>
          <p:cNvSpPr/>
          <p:nvPr/>
        </p:nvSpPr>
        <p:spPr>
          <a:xfrm>
            <a:off x="781050" y="43434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Undo / Redo</a:t>
            </a:r>
            <a:endParaRPr lang="en-US" sz="1150"/>
          </a:p>
        </p:txBody>
      </p:sp>
      <p:sp>
        <p:nvSpPr>
          <p:cNvPr id="108" name="Shape 108">
            <a:hlinkClick r:id="rId10" action="ppaction://hlinksldjump"/>
          </p:cNvPr>
          <p:cNvSpPr/>
          <p:nvPr/>
        </p:nvSpPr>
        <p:spPr>
          <a:xfrm>
            <a:off x="781050" y="46863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Context Menu</a:t>
            </a:r>
            <a:endParaRPr lang="en-US" sz="1150"/>
          </a:p>
        </p:txBody>
      </p:sp>
      <p:sp>
        <p:nvSpPr>
          <p:cNvPr id="109" name="Shape 109">
            <a:hlinkClick r:id="rId11" action="ppaction://hlinksldjump"/>
          </p:cNvPr>
          <p:cNvSpPr/>
          <p:nvPr/>
        </p:nvSpPr>
        <p:spPr>
          <a:xfrm>
            <a:off x="781050" y="50292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Measurement</a:t>
            </a:r>
            <a:endParaRPr lang="en-US" sz="1150"/>
          </a:p>
        </p:txBody>
      </p:sp>
      <p:sp>
        <p:nvSpPr>
          <p:cNvPr id="110" name="Shape 110">
            <a:hlinkClick r:id="rId12" action="ppaction://hlinksldjump"/>
          </p:cNvPr>
          <p:cNvSpPr/>
          <p:nvPr/>
        </p:nvSpPr>
        <p:spPr>
          <a:xfrm>
            <a:off x="781050" y="53721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Drawing Assistance</a:t>
            </a:r>
            <a:endParaRPr lang="en-US" sz="1150"/>
          </a:p>
        </p:txBody>
      </p:sp>
      <p:sp>
        <p:nvSpPr>
          <p:cNvPr id="111" name="Shape 111">
            <a:hlinkClick r:id="rId13" action="ppaction://hlinksldjump"/>
          </p:cNvPr>
          <p:cNvSpPr/>
          <p:nvPr/>
        </p:nvSpPr>
        <p:spPr>
          <a:xfrm>
            <a:off x="781050" y="57150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Proximity / Snapping</a:t>
            </a:r>
            <a:endParaRPr lang="en-US" sz="1150"/>
          </a:p>
        </p:txBody>
      </p:sp>
      <p:sp>
        <p:nvSpPr>
          <p:cNvPr id="112" name="Shape 112">
            <a:hlinkClick r:id="rId14" action="ppaction://hlinksldjump"/>
          </p:cNvPr>
          <p:cNvSpPr/>
          <p:nvPr/>
        </p:nvSpPr>
        <p:spPr>
          <a:xfrm>
            <a:off x="781050" y="60579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MGRS</a:t>
            </a:r>
            <a:endParaRPr lang="en-US" sz="1150"/>
          </a:p>
        </p:txBody>
      </p:sp>
      <p:sp>
        <p:nvSpPr>
          <p:cNvPr id="113" name="Shape 113">
            <a:hlinkClick r:id="rId15" action="ppaction://hlinksldjump"/>
          </p:cNvPr>
          <p:cNvSpPr/>
          <p:nvPr/>
        </p:nvSpPr>
        <p:spPr>
          <a:xfrm>
            <a:off x="781050" y="64008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Import / Export</a:t>
            </a:r>
            <a:endParaRPr lang="en-US" sz="1150"/>
          </a:p>
        </p:txBody>
      </p:sp>
      <p:sp>
        <p:nvSpPr>
          <p:cNvPr id="114" name="Shape 114">
            <a:hlinkClick r:id="rId16" action="ppaction://hlinksldjump"/>
          </p:cNvPr>
          <p:cNvSpPr/>
          <p:nvPr/>
        </p:nvSpPr>
        <p:spPr>
          <a:xfrm>
            <a:off x="781050" y="67437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Settings / Widgets</a:t>
            </a:r>
            <a:endParaRPr lang="en-US" sz="1150"/>
          </a:p>
        </p:txBody>
      </p:sp>
      <p:sp>
        <p:nvSpPr>
          <p:cNvPr id="150" name="Shape 150">
            <a:hlinkClick r:id="rId17" action="ppaction://hlinksldjump"/>
          </p:cNvPr>
          <p:cNvSpPr/>
          <p:nvPr/>
        </p:nvSpPr>
        <p:spPr>
          <a:xfrm>
            <a:off x="5962650" y="19431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SymbolEngine</a:t>
            </a:r>
            <a:endParaRPr lang="en-US" sz="970"/>
          </a:p>
        </p:txBody>
      </p:sp>
      <p:sp>
        <p:nvSpPr>
          <p:cNvPr id="151" name="Shape 151">
            <a:hlinkClick r:id="rId18" action="ppaction://hlinksldjump"/>
          </p:cNvPr>
          <p:cNvSpPr/>
          <p:nvPr/>
        </p:nvSpPr>
        <p:spPr>
          <a:xfrm>
            <a:off x="5962650" y="22860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EditEngine</a:t>
            </a:r>
            <a:endParaRPr lang="en-US" sz="970"/>
          </a:p>
        </p:txBody>
      </p:sp>
      <p:sp>
        <p:nvSpPr>
          <p:cNvPr id="152" name="Shape 152">
            <a:hlinkClick r:id="rId19" action="ppaction://hlinksldjump"/>
          </p:cNvPr>
          <p:cNvSpPr/>
          <p:nvPr/>
        </p:nvSpPr>
        <p:spPr>
          <a:xfrm>
            <a:off x="5962650" y="26289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SelectionEngine</a:t>
            </a:r>
            <a:endParaRPr lang="en-US" sz="970"/>
          </a:p>
        </p:txBody>
      </p:sp>
      <p:sp>
        <p:nvSpPr>
          <p:cNvPr id="153" name="Shape 153">
            <a:hlinkClick r:id="rId20" action="ppaction://hlinksldjump"/>
          </p:cNvPr>
          <p:cNvSpPr/>
          <p:nvPr/>
        </p:nvSpPr>
        <p:spPr>
          <a:xfrm>
            <a:off x="5962650" y="29718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ClipboardEngine</a:t>
            </a:r>
            <a:endParaRPr lang="en-US" sz="970"/>
          </a:p>
        </p:txBody>
      </p:sp>
      <p:sp>
        <p:nvSpPr>
          <p:cNvPr id="154" name="Shape 154">
            <a:hlinkClick r:id="rId21" action="ppaction://hlinksldjump"/>
          </p:cNvPr>
          <p:cNvSpPr/>
          <p:nvPr/>
        </p:nvSpPr>
        <p:spPr>
          <a:xfrm>
            <a:off x="5962650" y="33147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UndoRedoManager</a:t>
            </a:r>
            <a:endParaRPr lang="en-US" sz="970"/>
          </a:p>
        </p:txBody>
      </p:sp>
      <p:sp>
        <p:nvSpPr>
          <p:cNvPr id="155" name="Shape 155">
            <a:hlinkClick r:id="rId22" action="ppaction://hlinksldjump"/>
          </p:cNvPr>
          <p:cNvSpPr/>
          <p:nvPr/>
        </p:nvSpPr>
        <p:spPr>
          <a:xfrm>
            <a:off x="5962650" y="36576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KeyboardShortcutManager</a:t>
            </a:r>
            <a:endParaRPr lang="en-US" sz="970"/>
          </a:p>
        </p:txBody>
      </p:sp>
      <p:sp>
        <p:nvSpPr>
          <p:cNvPr id="156" name="Shape 156">
            <a:hlinkClick r:id="rId23" action="ppaction://hlinksldjump"/>
          </p:cNvPr>
          <p:cNvSpPr/>
          <p:nvPr/>
        </p:nvSpPr>
        <p:spPr>
          <a:xfrm>
            <a:off x="5962650" y="40005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AnnotationEngine</a:t>
            </a:r>
            <a:endParaRPr lang="en-US" sz="970"/>
          </a:p>
        </p:txBody>
      </p:sp>
      <p:sp>
        <p:nvSpPr>
          <p:cNvPr id="157" name="Shape 157">
            <a:hlinkClick r:id="rId24" action="ppaction://hlinksldjump"/>
          </p:cNvPr>
          <p:cNvSpPr/>
          <p:nvPr/>
        </p:nvSpPr>
        <p:spPr>
          <a:xfrm>
            <a:off x="5962650" y="43434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MeasurementEngine</a:t>
            </a:r>
            <a:endParaRPr lang="en-US" sz="970"/>
          </a:p>
        </p:txBody>
      </p:sp>
      <p:sp>
        <p:nvSpPr>
          <p:cNvPr id="158" name="Shape 158">
            <a:hlinkClick r:id="rId25" action="ppaction://hlinksldjump"/>
          </p:cNvPr>
          <p:cNvSpPr/>
          <p:nvPr/>
        </p:nvSpPr>
        <p:spPr>
          <a:xfrm>
            <a:off x="5962650" y="46863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DrawingCueEngine</a:t>
            </a:r>
            <a:endParaRPr lang="en-US" sz="970"/>
          </a:p>
        </p:txBody>
      </p:sp>
      <p:sp>
        <p:nvSpPr>
          <p:cNvPr id="159" name="Shape 159">
            <a:hlinkClick r:id="rId26" action="ppaction://hlinksldjump"/>
          </p:cNvPr>
          <p:cNvSpPr/>
          <p:nvPr/>
        </p:nvSpPr>
        <p:spPr>
          <a:xfrm>
            <a:off x="5962650" y="50292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ProximityEngine</a:t>
            </a:r>
            <a:endParaRPr lang="en-US" sz="970"/>
          </a:p>
        </p:txBody>
      </p:sp>
      <p:sp>
        <p:nvSpPr>
          <p:cNvPr id="160" name="Shape 160">
            <a:hlinkClick r:id="rId27" action="ppaction://hlinksldjump"/>
          </p:cNvPr>
          <p:cNvSpPr/>
          <p:nvPr/>
        </p:nvSpPr>
        <p:spPr>
          <a:xfrm>
            <a:off x="5962650" y="53721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MGRSEngine</a:t>
            </a:r>
            <a:endParaRPr lang="en-US" sz="970"/>
          </a:p>
        </p:txBody>
      </p:sp>
      <p:sp>
        <p:nvSpPr>
          <p:cNvPr id="161" name="Shape 161">
            <a:hlinkClick r:id="rId28" action="ppaction://hlinksldjump"/>
          </p:cNvPr>
          <p:cNvSpPr/>
          <p:nvPr/>
        </p:nvSpPr>
        <p:spPr>
          <a:xfrm>
            <a:off x="5962650" y="57150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Symbol Support Engines</a:t>
            </a:r>
            <a:endParaRPr lang="en-US" sz="970"/>
          </a:p>
        </p:txBody>
      </p:sp>
      <p:sp>
        <p:nvSpPr>
          <p:cNvPr id="162" name="Shape 162">
            <a:hlinkClick r:id="rId29" action="ppaction://hlinksldjump"/>
          </p:cNvPr>
          <p:cNvSpPr/>
          <p:nvPr/>
        </p:nvSpPr>
        <p:spPr>
          <a:xfrm>
            <a:off x="5962650" y="60579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Visualization / Declutter</a:t>
            </a:r>
            <a:endParaRPr lang="en-US" sz="970"/>
          </a:p>
        </p:txBody>
      </p:sp>
      <p:sp>
        <p:nvSpPr>
          <p:cNvPr id="163" name="Shape 163">
            <a:hlinkClick r:id="rId30" action="ppaction://hlinksldjump"/>
          </p:cNvPr>
          <p:cNvSpPr/>
          <p:nvPr/>
        </p:nvSpPr>
        <p:spPr>
          <a:xfrm>
            <a:off x="5962650" y="64008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MorphixEngine</a:t>
            </a:r>
            <a:endParaRPr lang="en-US" sz="970"/>
          </a:p>
        </p:txBody>
      </p:sp>
      <p:sp>
        <p:nvSpPr>
          <p:cNvPr id="164" name="Shape 164">
            <a:hlinkClick r:id="rId31" action="ppaction://hlinksldjump"/>
          </p:cNvPr>
          <p:cNvSpPr/>
          <p:nvPr/>
        </p:nvSpPr>
        <p:spPr>
          <a:xfrm>
            <a:off x="5962650" y="67437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ImportExport Engines</a:t>
            </a:r>
            <a:endParaRPr lang="en-US" sz="970"/>
          </a:p>
        </p:txBody>
      </p:sp>
      <p:sp>
        <p:nvSpPr>
          <p:cNvPr id="165" name="Shape 165">
            <a:hlinkClick r:id="rId32" action="ppaction://hlinksldjump"/>
          </p:cNvPr>
          <p:cNvSpPr/>
          <p:nvPr/>
        </p:nvSpPr>
        <p:spPr>
          <a:xfrm>
            <a:off x="8572500" y="19431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DeploymentBuilder / MissionPlanner</a:t>
            </a:r>
            <a:endParaRPr lang="en-US" sz="970"/>
          </a:p>
        </p:txBody>
      </p:sp>
      <p:sp>
        <p:nvSpPr>
          <p:cNvPr id="166" name="Shape 166">
            <a:hlinkClick r:id="rId33" action="ppaction://hlinksldjump"/>
          </p:cNvPr>
          <p:cNvSpPr/>
          <p:nvPr/>
        </p:nvSpPr>
        <p:spPr>
          <a:xfrm>
            <a:off x="8572500" y="22860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OCOKA</a:t>
            </a:r>
            <a:endParaRPr lang="en-US" sz="970"/>
          </a:p>
        </p:txBody>
      </p:sp>
      <p:sp>
        <p:nvSpPr>
          <p:cNvPr id="167" name="Shape 167">
            <a:hlinkClick r:id="rId34" action="ppaction://hlinksldjump"/>
          </p:cNvPr>
          <p:cNvSpPr/>
          <p:nvPr/>
        </p:nvSpPr>
        <p:spPr>
          <a:xfrm>
            <a:off x="8572500" y="26289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RoadNetwork / Trafficability</a:t>
            </a:r>
            <a:endParaRPr lang="en-US" sz="970"/>
          </a:p>
        </p:txBody>
      </p:sp>
      <p:sp>
        <p:nvSpPr>
          <p:cNvPr id="168" name="Shape 168">
            <a:hlinkClick r:id="rId35" action="ppaction://hlinksldjump"/>
          </p:cNvPr>
          <p:cNvSpPr/>
          <p:nvPr/>
        </p:nvSpPr>
        <p:spPr>
          <a:xfrm>
            <a:off x="8572500" y="29718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KeyTerrainIdentificationEngine</a:t>
            </a:r>
            <a:endParaRPr lang="en-US" sz="970"/>
          </a:p>
        </p:txBody>
      </p:sp>
      <p:sp>
        <p:nvSpPr>
          <p:cNvPr id="169" name="Shape 169">
            <a:hlinkClick r:id="rId36" action="ppaction://hlinksldjump"/>
          </p:cNvPr>
          <p:cNvSpPr/>
          <p:nvPr/>
        </p:nvSpPr>
        <p:spPr>
          <a:xfrm>
            <a:off x="8572500" y="33147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PosDefScorerEngine</a:t>
            </a:r>
            <a:endParaRPr lang="en-US" sz="970"/>
          </a:p>
        </p:txBody>
      </p:sp>
      <p:sp>
        <p:nvSpPr>
          <p:cNvPr id="170" name="Shape 170">
            <a:hlinkClick r:id="rId37" action="ppaction://hlinksldjump"/>
          </p:cNvPr>
          <p:cNvSpPr/>
          <p:nvPr/>
        </p:nvSpPr>
        <p:spPr>
          <a:xfrm>
            <a:off x="8572500" y="36576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OpRankerEngine</a:t>
            </a:r>
            <a:endParaRPr lang="en-US" sz="970"/>
          </a:p>
        </p:txBody>
      </p:sp>
      <p:sp>
        <p:nvSpPr>
          <p:cNvPr id="171" name="Shape 171">
            <a:hlinkClick r:id="rId38" action="ppaction://hlinksldjump"/>
          </p:cNvPr>
          <p:cNvSpPr/>
          <p:nvPr/>
        </p:nvSpPr>
        <p:spPr>
          <a:xfrm>
            <a:off x="8572500" y="40005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LocalPeaksEngine</a:t>
            </a:r>
            <a:endParaRPr lang="en-US" sz="970"/>
          </a:p>
        </p:txBody>
      </p:sp>
      <p:sp>
        <p:nvSpPr>
          <p:cNvPr id="172" name="Shape 172">
            <a:hlinkClick r:id="rId39" action="ppaction://hlinksldjump"/>
          </p:cNvPr>
          <p:cNvSpPr/>
          <p:nvPr/>
        </p:nvSpPr>
        <p:spPr>
          <a:xfrm>
            <a:off x="8572500" y="43434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DeadGroundMapper</a:t>
            </a:r>
            <a:endParaRPr lang="en-US" sz="970"/>
          </a:p>
        </p:txBody>
      </p:sp>
      <p:sp>
        <p:nvSpPr>
          <p:cNvPr id="173" name="Shape 173">
            <a:hlinkClick r:id="rId40" action="ppaction://hlinksldjump"/>
          </p:cNvPr>
          <p:cNvSpPr/>
          <p:nvPr/>
        </p:nvSpPr>
        <p:spPr>
          <a:xfrm>
            <a:off x="8572500" y="46863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LOSEngine</a:t>
            </a:r>
            <a:endParaRPr lang="en-US" sz="970"/>
          </a:p>
        </p:txBody>
      </p:sp>
      <p:sp>
        <p:nvSpPr>
          <p:cNvPr id="174" name="Shape 174">
            <a:hlinkClick r:id="rId41" action="ppaction://hlinksldjump"/>
          </p:cNvPr>
          <p:cNvSpPr/>
          <p:nvPr/>
        </p:nvSpPr>
        <p:spPr>
          <a:xfrm>
            <a:off x="8572500" y="50292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WeaponEffectEngine</a:t>
            </a:r>
            <a:endParaRPr lang="en-US" sz="970"/>
          </a:p>
        </p:txBody>
      </p:sp>
      <p:sp>
        <p:nvSpPr>
          <p:cNvPr id="175" name="Shape 175">
            <a:hlinkClick r:id="rId42" action="ppaction://hlinksldjump"/>
          </p:cNvPr>
          <p:cNvSpPr/>
          <p:nvPr/>
        </p:nvSpPr>
        <p:spPr>
          <a:xfrm>
            <a:off x="8572500" y="53721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TrajectoryEngine</a:t>
            </a:r>
            <a:endParaRPr lang="en-US" sz="970"/>
          </a:p>
        </p:txBody>
      </p:sp>
      <p:sp>
        <p:nvSpPr>
          <p:cNvPr id="176" name="Shape 176">
            <a:hlinkClick r:id="rId43" action="ppaction://hlinksldjump"/>
          </p:cNvPr>
          <p:cNvSpPr/>
          <p:nvPr/>
        </p:nvSpPr>
        <p:spPr>
          <a:xfrm>
            <a:off x="8572500" y="57150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BufferEngine</a:t>
            </a:r>
            <a:endParaRPr lang="en-US" sz="970"/>
          </a:p>
        </p:txBody>
      </p:sp>
      <p:sp>
        <p:nvSpPr>
          <p:cNvPr id="177" name="Shape 177">
            <a:hlinkClick r:id="rId44" action="ppaction://hlinksldjump"/>
          </p:cNvPr>
          <p:cNvSpPr/>
          <p:nvPr/>
        </p:nvSpPr>
        <p:spPr>
          <a:xfrm>
            <a:off x="8572500" y="60579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CorridorEngine</a:t>
            </a:r>
            <a:endParaRPr lang="en-US" sz="970"/>
          </a:p>
        </p:txBody>
      </p:sp>
      <p:sp>
        <p:nvSpPr>
          <p:cNvPr id="178" name="Shape 178">
            <a:hlinkClick r:id="rId45" action="ppaction://hlinksldjump"/>
          </p:cNvPr>
          <p:cNvSpPr/>
          <p:nvPr/>
        </p:nvSpPr>
        <p:spPr>
          <a:xfrm>
            <a:off x="8572500" y="64008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EffectEngine / FlightEngine</a:t>
            </a:r>
            <a:endParaRPr lang="en-US" sz="97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723900" y="1009650"/>
            <a:ext cx="76200" cy="23241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1028700" y="1066800"/>
            <a:ext cx="8572500" cy="7429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4800" b="1">
                <a:solidFill>
                  <a:srgbClr val="F4F7F4"/>
                </a:solidFill>
                <a:latin typeface="Aptos"/>
              </a:rPr>
              <a:t>Core Features</a:t>
            </a:r>
            <a:endParaRPr lang="en-US" sz="4800"/>
          </a:p>
        </p:txBody>
      </p:sp>
      <p:sp>
        <p:nvSpPr>
          <p:cNvPr id="22" name="Shape 22"/>
          <p:cNvSpPr/>
          <p:nvPr/>
        </p:nvSpPr>
        <p:spPr>
          <a:xfrm>
            <a:off x="1066800" y="2038350"/>
            <a:ext cx="7620000" cy="6286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2200">
                <a:solidFill>
                  <a:srgbClr val="A8B7B1"/>
                </a:solidFill>
                <a:latin typeface="Aptos"/>
              </a:rPr>
              <a:t>Drawing, editing, selection, measurement, navigation, and plan exchange.</a:t>
            </a:r>
            <a:endParaRPr lang="en-US" sz="2200"/>
          </a:p>
        </p:txBody>
      </p:sp>
      <p:sp>
        <p:nvSpPr>
          <p:cNvPr id="23" name="Shape 23"/>
          <p:cNvSpPr/>
          <p:nvPr/>
        </p:nvSpPr>
        <p:spPr>
          <a:xfrm>
            <a:off x="1028700" y="3467100"/>
            <a:ext cx="4000500" cy="6858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700" b="1">
                <a:solidFill>
                  <a:srgbClr val="F4F7F4"/>
                </a:solidFill>
                <a:latin typeface="Aptos"/>
              </a:rPr>
              <a:t>Use the index to jump directly to any topic.</a:t>
            </a:r>
            <a:endParaRPr lang="en-US" sz="1700"/>
          </a:p>
        </p:txBody>
      </p:sp>
      <p:sp>
        <p:nvSpPr>
          <p:cNvPr id="24" name="Shape 24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Drawing &amp; Symbol Creation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Create MIL-STD-2525D tactical graphics on 2D and 3D maps.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User selects a symbol and starts interactive drawing.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Symbol classes emit draw progress and completion events.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SymbolEngine renders the final graphic into the right managed layer.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Symbol/SIDC, location, draw settings, amplifier data.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Tactical symbol graphics on FORCE, TACT_PT, TACT, or annotation layers.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Uses DrawEssentials, Amplifier, SIDC metadata, Mapper, and symbol draw events. Final geometry is routed to symbol layers by geometry type.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Drawing &amp; Symbol Creation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Symbol Catalog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Provide a searchable catalog of tactical symbol definitions.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Symbol metadata is loaded from Symbols.json.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Search/autocomplete returns key and display name matches.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Selected definitions map to concrete symbol classes.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Symbol key, SIDC, search text, category/type.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Selected metadata, symbol class, rendered tactical symbol.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Backed by MS/Data/Symbols.json and SymbolMetadataService. Class names resolve through Mapper into concrete symbol implementations.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Symbol Catalog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Edit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Modify existing map graphics without redrawing them.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Point symbols move or scale.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Line and area symbols transform through move, rotate, and scale.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Completed edits refresh annotations and create undo entries.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Selected graphic, edit mode, move/scale/rotate values.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Updated geometry, refreshed labels, undoable edit state.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Uses SketchViewModel transform behavior plus stored pre-edit snapshots. CTRL_PTS and BASE_LN_PTS stay synchronized after geometry changes.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Edit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Control Points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Reshape tactical lines and areas with precise handles.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Handles appear on stored CTRL_PTS.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Dragging a handle updates draw essentials.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The symbol redraws live from the new control points.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CTRL_PTS, optional BASE_LN_PTS, selected line/area graphic.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Live-redrawn geometry and updated control point state.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Control handles modify the source control-point arrays, then symbol create/redraw logic rebuilds the tactical geometry.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Control Points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Selection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Select and filter symbols for focused or batch actions.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Click selects a symbol; Shift-click toggles membership.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Lasso and freehand lasso select multiple graphics.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Filters select by SIDC, echelon, identity, and geometry type.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Click, Shift-click, lasso polygon, filters.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Selected symbol set and hover/highlight state.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Scans managed symbol layers, tracks selected Graphic instances, and applies type/SIDC/echelon filters from graphic attributes and draw metadata.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Selection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Batch Selection Operations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Organize many symbols quickly during planning.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Batch actions operate on the current selection.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Alignment and arrangement preserve relative map scale.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Every operation is captured as one undoable change.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Selected graphics and operation: move, delete, align, arrange.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Moved, aligned, distributed, arranged, or deleted groups.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Geometry deltas and formation positions are computed from selected symbol centroids/extents, then applied as one undoable operation.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Batch Selection Operations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Copy / Paste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Duplicate single symbols or complete formations.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Clipboard stores deep symbol clones.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Paste places the copied centroid at the clicked point.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Multi-symbol paste preserves relative layout and optional offsets.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Selected/right-clicked graphics, paste location, optional offset.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Cloned symbols with preserved geometry, attributes, and layout.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Clones geometry, symbol, drawEssentials, and attributes. Multi-symbol paste offsets from the clipboard centroid to preserve formation layout.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Copy / Paste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Undo / Redo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Recover from changes and replay reverted operations.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Operations push labelled undo entries.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Pre-edit snapshots capture geometry and control points.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Clear-all drops stacks to release graphic references.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Add, edit, delete, paste, move, align, arrange operations.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Restored or replayed map state.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Stores labelled closures plus geometry/control-point snapshots. Redo stack clears whenever a new operation is pushed.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Undo / Redo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Context Menu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Expose the right action at the graphic location.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Right-click resolves target graphic and layer.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Menu groups actions by edit, selection, clipboard, measurement, and analysis.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Dynamic providers add runtime-specific actions.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Right-click target graphic and map point.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Contextual action menu and command palette entries.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ContextMenuManager resolves the right-clicked graphic/layer, then renders registered and dynamic action trees.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Context Menu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Measurement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Show live tactical measurements during drawing and inspection.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Draw progress feeds current geometry and control points.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Engine computes segment, total, area, bearing, extent, and ETA values.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Optional road ETA enriches route-like lines when the service exists.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Geometry, control points, units, speed, declination, optional road network.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Length, area, bearing, ETA, labels, and measurement snapshot.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Computes geodesic or planar metrics from geometry. Optional magnetic declination, slant range, marching speed, and road ETA refine the result.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Measurement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Drawing Assistance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Improve precision while placing tactical graphics.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Pointer movement updates rubber-band geometry.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Guides show bearings, snap angles, rings, and cursor coordinates.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Nearby symbols can be highlighted during placement.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Cursor position, last control point, drawing cue settings.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Rubber band, distance rings, angular guides, compass overlays.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Uses pointer updates and the last committed control point to draw temporary overlay graphics on a cue layer.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Drawing Assistance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Proximity / Snapping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Relate new drawings to existing map symbols.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Existing symbol layers are snap candidates.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Pointer movement finds nearest vertex or coordinate.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A reusable indicator renders the dot, line, and distance label.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Cursor position, target layers, snap radius/settings.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Nearest point indicator, distance label, snap hint.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Snapshots candidate graphics from target layers and tests nearest vertex/coordinate per animation frame.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Proximity / Snapping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MGRS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Render a military grid reference overlay.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The active view drives the current grid extent.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Grid levels are generated from GZD through fine sub-grids.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Labels and grid density adapt to enabled settings.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Active 2D/3D view and grid-level settings.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GZD, 100 km, 10 km, 1 km, or 100 m grid lines and labels.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Generates grid lines with GZD and UTM/MGRS math; level visibility is controlled by settings and zoom.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MGRS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Import / Export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Save, reload, and exchange tactical plans.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Graphics serialize into JSON-safe symbol records.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Control points and geometry reconstruct through the drawing pipeline.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GeoJSON and template paths support external workflows.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PAMS8 JSON, Plan JSON, GeoJSON, templates, file picker.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Restored symbols, saved plans, GeoJSON, and templates.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Serializes JSON-safe symbol state including GEOM, CTRL_PTS, and BASE_LN_PTS; restore replays the rendering pipeline.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Import / Export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Settings / Widgets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Control feature behavior without code changes.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Settings widgets mutate runtime settings.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SymbolEngine forwards changes to active engines.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Feature flags enable or disable subsystems cleanly.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Toggles, units, colors, thresholds, feature flags.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Updated engine configuration and visible UI behavior.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Feature flags and runtime settings are read by SymbolEngine and forwarded to active engines via setOptions/updateConfig.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Settings / Widgets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723900" y="1009650"/>
            <a:ext cx="76200" cy="23241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1028700" y="1066800"/>
            <a:ext cx="8572500" cy="7429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4800" b="1">
                <a:solidFill>
                  <a:srgbClr val="F4F7F4"/>
                </a:solidFill>
                <a:latin typeface="Aptos"/>
              </a:rPr>
              <a:t>Engines</a:t>
            </a:r>
            <a:endParaRPr lang="en-US" sz="4800"/>
          </a:p>
        </p:txBody>
      </p:sp>
      <p:sp>
        <p:nvSpPr>
          <p:cNvPr id="22" name="Shape 22"/>
          <p:cNvSpPr/>
          <p:nvPr/>
        </p:nvSpPr>
        <p:spPr>
          <a:xfrm>
            <a:off x="1066800" y="2038350"/>
            <a:ext cx="7620000" cy="6286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2200">
                <a:solidFill>
                  <a:srgbClr val="A8B7B1"/>
                </a:solidFill>
                <a:latin typeface="Aptos"/>
              </a:rPr>
              <a:t>The implementation modules behind the showcase features.</a:t>
            </a:r>
            <a:endParaRPr lang="en-US" sz="2200"/>
          </a:p>
        </p:txBody>
      </p:sp>
      <p:sp>
        <p:nvSpPr>
          <p:cNvPr id="23" name="Shape 23"/>
          <p:cNvSpPr/>
          <p:nvPr/>
        </p:nvSpPr>
        <p:spPr>
          <a:xfrm>
            <a:off x="1028700" y="3467100"/>
            <a:ext cx="4000500" cy="6858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700" b="1">
                <a:solidFill>
                  <a:srgbClr val="F4F7F4"/>
                </a:solidFill>
                <a:latin typeface="Aptos"/>
              </a:rPr>
              <a:t>Use the index to jump directly to any topic.</a:t>
            </a:r>
            <a:endParaRPr lang="en-US" sz="1700"/>
          </a:p>
        </p:txBody>
      </p:sp>
      <p:sp>
        <p:nvSpPr>
          <p:cNvPr id="24" name="Shape 24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SymbolEngine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Central coordinator for drawing, symbol creation, editing, selection, clipboard, settings, import/export, and engine access.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Coordinates symbol lifecycle events and delegates specialized work to sub-engines.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DrawEssentials, Amplifier, symbol metadata, active view, settings.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Final graphics, events, updated layers, engine accessors.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Main mediator: initializes engines, listens to symbol events, manages layers, exposes public APIs, and handles view switches.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SymbolEngine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EditEngine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Interactive move, rotate, scale, reshape, point scaling, and mixed/group transform support.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Uses SketchViewModel for transform operations and control-point handles for reshape.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Selected graphic, optional additional graphics, scale factor, control points.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Updated geometry, synced CTRL_PTS/BASE_LN_PTS, edit events.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Combines SketchViewModel with custom mixed-transform math so grouped symbols can move, rotate, and scale together.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EditEngine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SelectionEngine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Manages selection state, lasso, filters, alignment, arrangement, delete, and move selected.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Tracks selected graphics and applies geometry transforms or filters across target layers.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Clicks, lasso geometry, target layers, selected graphics.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Selection set, highlights, arranged/moved/deleted graphics.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Maintains selected graphics, highlights, lasso sketching, clone-drag hooks, and batch geometry transforms.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SelectionEngine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ClipboardEngine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Owns copy, paste, paste mode, offset paste, and clone building.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Stores deep clones and rebuilds symbols at a target point while preserving relative layouts.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Source graphics, layer IDs, paste point, optional offset.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Pasted graphics and undoable clone operations.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Transforms cloned geometries from original centroid to target paste point; integrates undo and annotation refresh.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ClipboardEngine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UndoRedoManager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Owns undo/redo stacks and edit snapshots.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Captures pre-edit geometry/control points and stores redoable operation closures.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Operation entries, edited graphics, label options.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Undo/redo counts, labels, restored map state.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EditEngine events trigger snapshot-based undo entries for both primary and additional graphics.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UndoRedoManager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KeyboardShortcutManager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Routes global shortcuts for edit, copy/paste, undo/redo, delete, lasso, and navigation actions.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Listens for document keydown events and forwards to SymbolEngine delegates.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Keyboard events and current graphic/selection state.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Triggered edit, selection, clipboard, undo, redo, or navigation action.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Document-level keydown router suppresses inputs/textareas and delegates to current graphic or selection state.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KeyboardShortcutManager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AnnotationEngine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Creates and refreshes symbol labels and annotations.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Reads symbol/amplifier label options and places text graphics on annotation layers.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Graphic, DrawEssentials, Amplifier, label settings.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Annotation graphics and refreshed labels after edits.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Annotation state is rebuilt after draw, edit, paste, and selection movement to keep labels attached to symbols.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AnnotationEngine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MeasurementEngine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Calculates lengths, bearings, area, ETA, and measurement labels.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Consumes geometry/control point updates and formats values using configured units.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Geometry, control points, unit settings, speed, declination.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Measurement labels, HUD events, formatted snapshot.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Formats distance/area/bearing snapshots and emits document events for HUD/widgets.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MeasurementEngine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DrawingCueEngine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Provides live drawing overlays: guides, rings, rubber band, coordinates, and compass.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Activates during drawing and updates visual overlays on pointer movement.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Active view, target layers, cursor, last control point.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Guides, protractor, rings, compass, nearby highlights.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Maintains a temporary overlay layer and coalesces cursor-driven updates for drawing precision.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DrawingCueEngine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ProximityEngine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Finds nearest existing geometry while drawing and renders snap indicators.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Snapshots candidate layers and checks nearest vertex/coordinate per pointer frame.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Target layers, pointer event, snap radius, distance unit.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Snap dot, dashed line, distance/direction label.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Uses screen-space snap radius plus map-space distance ranking; optimized by candidate extents and reusable graphics.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ProximityEngine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MGRSEngine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Renders configurable MGRS grid overlays.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Builds grid lines and labels for enabled levels as the view changes.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Active view, grid options, zoom/extent.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MGRS grid graphics and labels.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Rebuilds overlay on view changes, supporting 2D and 3D views with configurable line/label styles.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MGRSEngine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Symbol Support Engines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TemplateEngine, SymbolMetadataService, Mapper, and TextBoxEngine support symbol lookup, mapping, templates, and text boxes.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Metadata lookup maps user selections to concrete symbol classes and reusable templates.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Symbol key, search text, template data, text settings.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Resolved symbol definition, placement workflow, text graphics.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Keeps catalog lookup, template placement, class mapping, and text-box drawing separate from the core SymbolEngine.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Symbol Support Engines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Visualization / Declutter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Force overlays, clustering, label placement, leader lines, marker dispersal, priority, and spatial indexing.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Declutter sub-engines reduce visual overload while preserving tactical priority.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Graphics, zoom, density, echelon, label placement settings.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Clusters, ladders, displaced markers, placed labels, leader lines.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Spatial indexing, priority resolution, clustering, marker dispersal, and label placement reduce dense tactical-map clutter.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Visualization / Declutter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MorphixEngine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Reads and patches editable symbol state.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Extracts current symbol state and applies partial edits through the same render pipeline.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Graphic state, amplifier patch, drawEssentials patch, options patch.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Updated symbol graphic with preserved geometry.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Reads editable symbol state and applies partial patches without losing existing geometry.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MorphixEngine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ImportExport Engines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IOEngine, SerializationEngine, and Plan provide plan persistence and data exchange.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Serialize graphics and reconstruct through saved symbol state and geometry.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Plan JSON, PAMS8 JSON, GeoJSON, symbol layers.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Saved/loaded plans and exchange files.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Plan serialization owns whole-map persistence while SymbolEngine keeps backward-compatible save/load delegates.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ImportExport Engines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DeploymentBuilder / MissionPlanner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Planning workflows for reusable deployments and integrated terrain analysis.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DeploymentBuilder places prepared tactical plans; MissionPlanner orchestrates terrain engines.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AO, observers, symbols, unit/mission settings, optional road network.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Deployment graphics, ranked mission terrain features, reports.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MissionPlanner composes existing terrain engines rather than duplicating terrain math.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DeploymentBuilder / MissionPlanner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OCOKA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Evaluate avenues of approach.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Extracts approach corridors and scores them against terrain and mission factors.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AO center/radius, force type, slope threshold, optional road network.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Ranked corridors, chokepoints, score labels, slope/width overlays.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211F1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Scoring / 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Width, masking, trafficability, observation exposure, cover/concealment, and obstacle restriction.</a:t>
            </a:r>
            <a:endParaRPr lang="en-US" sz="1220"/>
          </a:p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Corridors degrade gracefully to pure terrain scoring when road-network enrichment is unavailable.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OCOKA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RoadNetwork / Trafficability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Provide route and mobility context when an external road service is available.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Computes road-following distance/time and trafficability summaries for selected routes.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Start/end points, road service, force/mobility settings.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Road distance, drive time, trafficability summary.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External road service is optional; failed calls leave straight-line or terrain-only results intact.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RoadNetwork / Trafficability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KeyTerrainIdentificationEngine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Find tactically significant terrain.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Samples elevation, smooths terrain, computes curvature/prominence, detects terrain forms, then scores viewshed.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AO center/extent, radius, cell size, sensitivity, optional road network.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Ranked dominant ground, ridges, saddles, re-entrants, spurs, viewshed overlay.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211F1A"/>
          </a:solidFill>
          <a:ln w="12700">
            <a:solidFill>
              <a:srgbClr val="65A7FF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Scoring / 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35% prominence + 40% viewshed + 15% elevation + 10% tactical type weight.</a:t>
            </a:r>
            <a:endParaRPr lang="en-US" sz="1220"/>
          </a:p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Terrain grid sampling produces elevation, curvature, prominence, and 36-ray viewshed components before final ranking.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KeyTerrainIdentificationEngine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PosDefScorerEngine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Score defensive or fighting positions.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Checks observation, fields of fire, cover, concealment, egress, and rear dead ground.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Position point, observer height, observation radius, slope radius, threat bearing, egress waypoints, optional road network.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Defensibility grade, factor radar, LOS spokes, egress routes, history.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211F1A"/>
          </a:solidFill>
          <a:ln w="12700">
            <a:solidFill>
              <a:srgbClr val="65A7FF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Scoring / 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Six factors score 0-20, then combine into a 0-100 composite with adjustable weights.</a:t>
            </a:r>
            <a:endParaRPr lang="en-US" sz="1220"/>
          </a:p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Position is evaluated radially: LOS horizons, slopes, egress rays, and rear dead ground feed the six factors.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PosDefScorerEngine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OpRankerEngine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Rank candidate observation posts.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Computes viewshed raster for each OP, then compares total and unique AO coverage.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Candidate OP points, AO radius, observer height, max range.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Ranked OP list, recommended optimal set, coverage heatmap, gap zones.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211F1A"/>
          </a:solidFill>
          <a:ln w="12700">
            <a:solidFill>
              <a:srgbClr val="65A7FF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Scoring / 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Unique coverage is highest priority, then total viewshed, with masking/gap penalties.</a:t>
            </a:r>
            <a:endParaRPr lang="en-US" sz="1220"/>
          </a:p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Each OP gets its own viewshed raster; final recommendation uses greedy max-coverage over AO cells.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OpRankerEngine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LocalPeaksEngine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Detect terrain peaks or valleys.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Samples elevation, smooths noise, detects local maxima/minima, filters by prominence and isolation.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AOI, cell size, search radius, prominence threshold, isolation threshold.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Ranked peaks/valleys, elevation profile, CSV/GeoJSON/Shapefile export.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211F1A"/>
          </a:solidFill>
          <a:ln w="12700">
            <a:solidFill>
              <a:srgbClr val="65A7FF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Scoring / 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Ranks by prominence/elevation/isolation after threshold filtering.</a:t>
            </a:r>
            <a:endParaRPr lang="en-US" sz="1220"/>
          </a:p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Neighborhood comparison filters false peaks; prominence and isolation thresholds control mission-scale sensitivity.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LocalPeaksEngine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DeadGroundMapper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Identify areas hidden from observation.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Compares terrain profiles from an observer to AO sample cells to separate visible and masked ground.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Observer point, observer height, AO/range, terrain/elevation.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Visible zones, dead-ground zones, summary metrics.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211F1A"/>
          </a:solidFill>
          <a:ln w="12700">
            <a:solidFill>
              <a:srgbClr val="65A7FF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Scoring / 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Visibility is determined by terrain line-of-sight obstruction.</a:t>
            </a:r>
            <a:endParaRPr lang="en-US" sz="1220"/>
          </a:p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Observer-to-cell terrain profiles classify masked ground, useful for concealed movement and blind zones.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DeadGroundMapper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LOSEngine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Analyze line of sight and viewshed style coverage.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Tests observer-to-target rays against terrain elevation.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Observer/target points, observer height, terrain/elevation.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Visible/blocked segments or coverage overlays.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211F1A"/>
          </a:solidFill>
          <a:ln w="12700">
            <a:solidFill>
              <a:srgbClr val="65A7FF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Scoring / 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Terrain obstruction determines visible versus blocked paths.</a:t>
            </a:r>
            <a:endParaRPr lang="en-US" sz="1220"/>
          </a:p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Line-of-sight rays compare terrain elevation against the observer-to-target sightline.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LOSEngine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WeaponEffectEngine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Show weapon engagement zones.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Builds a directional sector from weapon range, traverse, and elevation envelope; optional terrain masking subtracts blocked areas.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Firing point, weapon preset/range, direction, traverse/elevation limits, optional terrain masking.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Engagement sector, range zones, terrain-masked areas.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211F1A"/>
          </a:solidFill>
          <a:ln w="12700">
            <a:solidFill>
              <a:srgbClr val="65A7FF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Scoring / 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Range limits, arc/traverse, elevation envelope, and terrain mask.</a:t>
            </a:r>
            <a:endParaRPr lang="en-US" sz="1220"/>
          </a:p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Weapon presets provide range bands and elevation envelope; terrain masking is mainly a 3D refinement.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WeaponEffectEngine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TrajectoryEngine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Analyze projectile trajectory.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Computes and displays projectile path context against range and elevation settings.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Origin, target/range, launch parameters, elevation.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Trajectory path and impact/clearance context.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211F1A"/>
          </a:solidFill>
          <a:ln w="12700">
            <a:solidFill>
              <a:srgbClr val="65A7FF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Scoring / 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Ballistic path parameters and terrain/elevation context.</a:t>
            </a:r>
            <a:endParaRPr lang="en-US" sz="1220"/>
          </a:p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Projectile path depends on origin, target/range, launch parameters, and terrain/elevation context.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TrajectoryEngine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BufferEngine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Create threat rings and distance buffers.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Builds configured radius zones around source graphics and highlights overlaps.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Source point/graphic and radius presets.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Rings, buffer zones, overlap/contested areas.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211F1A"/>
          </a:solidFill>
          <a:ln w="12700">
            <a:solidFill>
              <a:srgbClr val="65A7FF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Scoring / 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Distance thresholds and configured radius presets.</a:t>
            </a:r>
            <a:endParaRPr lang="en-US" sz="1220"/>
          </a:p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Buffers are distance-based graphics around sources; overlap highlights contested or mutually covered areas.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BufferEngine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CorridorEngine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Analyze corridors along routes.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Scores route segments inside a corridor against width and threat/intersection context.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Route/waypoints, corridor width, threat geometries.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Corridor segments and scores.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211F1A"/>
          </a:solidFill>
          <a:ln w="12700">
            <a:solidFill>
              <a:srgbClr val="65A7FF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Scoring / 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Segment score combines route corridor context and nearby threat geometry.</a:t>
            </a:r>
            <a:endParaRPr lang="en-US" sz="1220"/>
          </a:p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Dense route segments are scored against corridor width and nearby threat geometries.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CorridorEngine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EffectEngine / FlightEngine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Show effects radius overlays and UAV route/coverage analysis.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EffectEngine draws effects zones; FlightEngine supports UAV mission route and coverage workflows.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Effect source/radius or UAV route/mission inputs.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Effects overlays, UAV route and coverage analysis.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211F1A"/>
          </a:solidFill>
          <a:ln w="12700">
            <a:solidFill>
              <a:srgbClr val="65A7FF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Scoring / 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Configured radius/mission parameters and route coverage context.</a:t>
            </a:r>
            <a:endParaRPr lang="en-US" sz="1220"/>
          </a:p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Effects are radius overlays; flight workflows focus on UAV routing and coverage visualization.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EffectEngine / FlightEngine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MS8 Tactical">
  <a:themeElements>
    <a:clrScheme name="PAMS8">
      <a:dk1>
        <a:srgbClr val="111619"/>
      </a:dk1>
      <a:lt1>
        <a:srgbClr val="F4F7F4"/>
      </a:lt1>
      <a:dk2>
        <a:srgbClr val="182127"/>
      </a:dk2>
      <a:lt2>
        <a:srgbClr val="A8B7B1"/>
      </a:lt2>
      <a:accent1>
        <a:srgbClr val="58C98B"/>
      </a:accent1>
      <a:accent2>
        <a:srgbClr val="EF9F27"/>
      </a:accent2>
      <a:accent3>
        <a:srgbClr val="65A7FF"/>
      </a:accent3>
      <a:accent4>
        <a:srgbClr val="DC3C30"/>
      </a:accent4>
      <a:accent5>
        <a:srgbClr val="7A8C92"/>
      </a:accent5>
      <a:accent6>
        <a:srgbClr val="C7D1CC"/>
      </a:accent6>
      <a:hlink>
        <a:srgbClr val="58C98B"/>
      </a:hlink>
      <a:folHlink>
        <a:srgbClr val="EF9F27"/>
      </a:folHlink>
    </a:clrScheme>
    <a:fontScheme name="PAMS8">
      <a:majorFont>
        <a:latin typeface="Aptos Display"/>
      </a:majorFont>
      <a:minorFont>
        <a:latin typeface="Aptos"/>
      </a:minorFont>
    </a:fontScheme>
    <a:fmtScheme name="PAMS8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Widescreen</PresentationFormat>
  <Slides>93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PAMS8 Feature Showcase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PAMS8 Feature Showcase</dc:title>
  <dc:creator>Codex</dc:creator>
  <cp:lastModifiedBy>Codex</cp:lastModifiedBy>
  <dcterms:created xsi:type="dcterms:W3CDTF">2026-06-03T00:00:00Z</dcterms:created>
  <dcterms:modified xsi:type="dcterms:W3CDTF">2026-06-03T00:00:00Z</dcterms:modified>
</cp:coreProperties>
</file>