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495300" y="400050"/>
            <a:ext cx="66675" cy="457200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85800" y="361950"/>
            <a:ext cx="9334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ENGINE</a:t>
            </a:r>
            <a:endParaRPr lang="en-US" sz="1100"/>
          </a:p>
        </p:txBody>
      </p:sp>
      <p:sp>
        <p:nvSpPr>
          <p:cNvPr id="22" name="Shape 22"/>
          <p:cNvSpPr/>
          <p:nvPr/>
        </p:nvSpPr>
        <p:spPr>
          <a:xfrm>
            <a:off x="685800" y="57150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2700" b="1">
                <a:solidFill>
                  <a:srgbClr val="F4F7F4"/>
                </a:solidFill>
                <a:latin typeface="Aptos"/>
              </a:rPr>
              <a:t>DrawingCueEngine</a:t>
            </a:r>
            <a:endParaRPr lang="en-US" sz="2700"/>
          </a:p>
        </p:txBody>
      </p:sp>
      <p:cxnSp>
        <p:nvCxnSpPr>
          <p:cNvPr id="23" name="Line 23"/>
          <p:cNvCxnSpPr/>
          <p:nvPr/>
        </p:nvCxnSpPr>
        <p:spPr>
          <a:xfrm flipV="0">
            <a:off x="495300" y="1123950"/>
            <a:ext cx="11201400" cy="9525"/>
          </a:xfrm>
          <a:prstGeom prst="line">
            <a:avLst/>
          </a:prstGeom>
          <a:ln w="12700">
            <a:solidFill>
              <a:srgbClr val="33444B"/>
            </a:solidFill>
          </a:ln>
        </p:spPr>
        <p:style/>
      </p:cxnSp>
      <p:sp>
        <p:nvSpPr>
          <p:cNvPr id="40" name="Shape 40"/>
          <p:cNvSpPr/>
          <p:nvPr/>
        </p:nvSpPr>
        <p:spPr>
          <a:xfrm>
            <a:off x="7124700" y="1447800"/>
            <a:ext cx="4210050" cy="3638550"/>
          </a:xfrm>
          <a:prstGeom prst="roundRect">
            <a:avLst/>
          </a:prstGeom>
          <a:solidFill>
            <a:srgbClr val="12191D"/>
          </a:solidFill>
          <a:ln w="16510">
            <a:solidFill>
              <a:srgbClr val="EF9F27"/>
            </a:solidFill>
          </a:ln>
        </p:spPr>
        <p:txBody>
          <a:bodyPr/>
          <a:lstStyle/>
          <a:p/>
        </p:txBody>
      </p:sp>
      <p:cxnSp>
        <p:nvCxnSpPr>
          <p:cNvPr id="41" name="Line 41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cxnSp>
        <p:nvCxnSpPr>
          <p:cNvPr id="42" name="Line 42"/>
          <p:cNvCxnSpPr/>
          <p:nvPr/>
        </p:nvCxnSpPr>
        <p:spPr>
          <a:xfrm flipV="0">
            <a:off x="7353300" y="1676400"/>
            <a:ext cx="3752850" cy="3181350"/>
          </a:xfrm>
          <a:prstGeom prst="line">
            <a:avLst/>
          </a:prstGeom>
          <a:ln w="12700">
            <a:solidFill>
              <a:srgbClr val="40545D"/>
            </a:solidFill>
          </a:ln>
        </p:spPr>
        <p:style/>
      </p:cxnSp>
      <p:sp>
        <p:nvSpPr>
          <p:cNvPr id="43" name="Shape 43"/>
          <p:cNvSpPr/>
          <p:nvPr/>
        </p:nvSpPr>
        <p:spPr>
          <a:xfrm>
            <a:off x="7391400" y="3019425"/>
            <a:ext cx="36766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000" b="1">
                <a:solidFill>
                  <a:srgbClr val="A8B7B1"/>
                </a:solidFill>
                <a:latin typeface="Aptos"/>
              </a:rPr>
              <a:t>Add screenshot here</a:t>
            </a:r>
            <a:endParaRPr lang="en-US" sz="2000"/>
          </a:p>
        </p:txBody>
      </p:sp>
      <p:sp>
        <p:nvSpPr>
          <p:cNvPr id="44" name="Shape 44">
            <a:hlinkClick r:id="rId2" action="ppaction://hlinksldjump"/>
          </p:cNvPr>
          <p:cNvSpPr/>
          <p:nvPr/>
        </p:nvSpPr>
        <p:spPr>
          <a:xfrm>
            <a:off x="8172450" y="5257800"/>
            <a:ext cx="1962150" cy="323850"/>
          </a:xfrm>
          <a:prstGeom prst="roundRect">
            <a:avLst/>
          </a:prstGeom>
          <a:solidFill>
            <a:srgbClr val="1B272C"/>
          </a:solidFill>
          <a:ln w="12700">
            <a:solidFill>
              <a:srgbClr val="EF9F27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150" b="1">
                <a:solidFill>
                  <a:srgbClr val="F4F7F4"/>
                </a:solidFill>
                <a:latin typeface="Aptos"/>
              </a:rPr>
              <a:t>Open screenshot slide</a:t>
            </a:r>
            <a:endParaRPr lang="en-US" sz="1150"/>
          </a:p>
        </p:txBody>
      </p:sp>
      <p:sp>
        <p:nvSpPr>
          <p:cNvPr id="60" name="Shape 60"/>
          <p:cNvSpPr/>
          <p:nvPr/>
        </p:nvSpPr>
        <p:spPr>
          <a:xfrm>
            <a:off x="685800" y="14287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Purpose</a:t>
            </a:r>
            <a:endParaRPr lang="en-US" sz="1100"/>
          </a:p>
        </p:txBody>
      </p:sp>
      <p:sp>
        <p:nvSpPr>
          <p:cNvPr id="61" name="Shape 61"/>
          <p:cNvSpPr/>
          <p:nvPr/>
        </p:nvSpPr>
        <p:spPr>
          <a:xfrm>
            <a:off x="685800" y="1657350"/>
            <a:ext cx="581025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900" b="1">
                <a:solidFill>
                  <a:srgbClr val="F4F7F4"/>
                </a:solidFill>
                <a:latin typeface="Aptos"/>
              </a:rPr>
              <a:t>Provides live drawing overlays: guides, rings, rubber band, coordinates, and compass.</a:t>
            </a:r>
            <a:endParaRPr lang="en-US" sz="1900"/>
          </a:p>
        </p:txBody>
      </p:sp>
      <p:sp>
        <p:nvSpPr>
          <p:cNvPr id="62" name="Shape 62"/>
          <p:cNvSpPr/>
          <p:nvPr/>
        </p:nvSpPr>
        <p:spPr>
          <a:xfrm>
            <a:off x="685800" y="2343150"/>
            <a:ext cx="5810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How it works</a:t>
            </a:r>
            <a:endParaRPr lang="en-US" sz="1100"/>
          </a:p>
        </p:txBody>
      </p:sp>
      <p:sp>
        <p:nvSpPr>
          <p:cNvPr id="63" name="Shape 63"/>
          <p:cNvSpPr/>
          <p:nvPr/>
        </p:nvSpPr>
        <p:spPr>
          <a:xfrm>
            <a:off x="685800" y="2628900"/>
            <a:ext cx="581025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450">
                <a:solidFill>
                  <a:srgbClr val="F4F7F4"/>
                </a:solidFill>
                <a:latin typeface="Aptos"/>
              </a:rPr>
              <a:t>Activates during drawing and updates visual overlays on pointer movement.</a:t>
            </a:r>
            <a:endParaRPr lang="en-US" sz="1450"/>
          </a:p>
        </p:txBody>
      </p:sp>
      <p:sp>
        <p:nvSpPr>
          <p:cNvPr id="64" name="Shape 64"/>
          <p:cNvSpPr/>
          <p:nvPr/>
        </p:nvSpPr>
        <p:spPr>
          <a:xfrm>
            <a:off x="685800" y="3695700"/>
            <a:ext cx="2714625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5" name="Shape 65"/>
          <p:cNvSpPr/>
          <p:nvPr/>
        </p:nvSpPr>
        <p:spPr>
          <a:xfrm>
            <a:off x="85725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Inputs</a:t>
            </a:r>
            <a:endParaRPr lang="en-US" sz="1100"/>
          </a:p>
        </p:txBody>
      </p:sp>
      <p:sp>
        <p:nvSpPr>
          <p:cNvPr id="66" name="Shape 66"/>
          <p:cNvSpPr/>
          <p:nvPr/>
        </p:nvSpPr>
        <p:spPr>
          <a:xfrm>
            <a:off x="857250" y="409575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Active view, target layers, cursor, last control point.</a:t>
            </a:r>
            <a:endParaRPr lang="en-US" sz="1350"/>
          </a:p>
        </p:txBody>
      </p:sp>
      <p:sp>
        <p:nvSpPr>
          <p:cNvPr id="67" name="Shape 67"/>
          <p:cNvSpPr/>
          <p:nvPr/>
        </p:nvSpPr>
        <p:spPr>
          <a:xfrm>
            <a:off x="3638550" y="3695700"/>
            <a:ext cx="2857500" cy="1219200"/>
          </a:xfrm>
          <a:prstGeom prst="roundRect">
            <a:avLst/>
          </a:prstGeom>
          <a:solidFill>
            <a:srgbClr val="1A252A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68" name="Shape 68"/>
          <p:cNvSpPr/>
          <p:nvPr/>
        </p:nvSpPr>
        <p:spPr>
          <a:xfrm>
            <a:off x="3810000" y="38290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Outputs</a:t>
            </a:r>
            <a:endParaRPr lang="en-US" sz="1100"/>
          </a:p>
        </p:txBody>
      </p:sp>
      <p:sp>
        <p:nvSpPr>
          <p:cNvPr id="69" name="Shape 69"/>
          <p:cNvSpPr/>
          <p:nvPr/>
        </p:nvSpPr>
        <p:spPr>
          <a:xfrm>
            <a:off x="3810000" y="4095750"/>
            <a:ext cx="247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350">
                <a:solidFill>
                  <a:srgbClr val="F4F7F4"/>
                </a:solidFill>
                <a:latin typeface="Aptos"/>
              </a:rPr>
              <a:t>Guides, protractor, rings, compass, nearby highlights.</a:t>
            </a:r>
            <a:endParaRPr lang="en-US" sz="1350"/>
          </a:p>
        </p:txBody>
      </p:sp>
      <p:sp>
        <p:nvSpPr>
          <p:cNvPr id="70" name="Shape 70"/>
          <p:cNvSpPr/>
          <p:nvPr/>
        </p:nvSpPr>
        <p:spPr>
          <a:xfrm>
            <a:off x="685800" y="5105400"/>
            <a:ext cx="5810250" cy="800100"/>
          </a:xfrm>
          <a:prstGeom prst="roundRect">
            <a:avLst/>
          </a:prstGeom>
          <a:solidFill>
            <a:srgbClr val="17232A"/>
          </a:solidFill>
          <a:ln w="12700">
            <a:solidFill>
              <a:srgbClr val="EF9F27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857250" y="5181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100" b="1">
                <a:solidFill>
                  <a:srgbClr val="EF9F27"/>
                </a:solidFill>
                <a:latin typeface="Aptos"/>
              </a:rPr>
              <a:t>Technical basis</a:t>
            </a:r>
            <a:endParaRPr lang="en-US" sz="1100"/>
          </a:p>
        </p:txBody>
      </p:sp>
      <p:sp>
        <p:nvSpPr>
          <p:cNvPr id="72" name="Shape 72"/>
          <p:cNvSpPr/>
          <p:nvPr/>
        </p:nvSpPr>
        <p:spPr>
          <a:xfrm>
            <a:off x="857250" y="541020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1220">
                <a:solidFill>
                  <a:srgbClr val="F4F7F4"/>
                </a:solidFill>
                <a:latin typeface="Aptos"/>
              </a:rPr>
              <a:t>Maintains a temporary overlay layer and coalesces cursor-driven updates for drawing precision.</a:t>
            </a:r>
            <a:endParaRPr lang="en-US" sz="1220"/>
          </a:p>
        </p:txBody>
      </p:sp>
      <p:sp>
        <p:nvSpPr>
          <p:cNvPr id="90" name="Shape 90">
            <a:hlinkClick r:id="rId3" action="ppaction://hlinksldjump"/>
          </p:cNvPr>
          <p:cNvSpPr/>
          <p:nvPr/>
        </p:nvSpPr>
        <p:spPr>
          <a:xfrm>
            <a:off x="495300" y="6096000"/>
            <a:ext cx="160020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Back to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