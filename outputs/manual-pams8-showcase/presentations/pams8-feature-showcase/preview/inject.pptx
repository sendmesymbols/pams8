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411E7-314F-D2D3-1544-E2424AE6C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45E14-94A8-9C57-32DE-6E018F8CA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16800-9868-1130-A715-AED3B6F4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E0D85-DAD9-5549-72D6-AB69CADC7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FDC38-CEA1-66AC-E339-654B29E5B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6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6B9F-C084-BD71-05A6-41B7611C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C3C8-CBB8-1733-5C37-72D19C616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03EA7-E2A1-E411-64E4-0FAD4A39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6599-4874-5E58-673A-170EA3B5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1EF94-EA1C-BAF6-10BF-E27DC830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39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B8E3-FE33-5BD2-1DB1-6126F570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7808-B6A8-2C97-C8DC-C95B68171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BDCCE-C350-41AC-33A6-C1260E0F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69B9-137A-2022-0BC1-318009E7D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1BFB0-E5D6-BF2D-FB8B-14DE882A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3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533A-C4E5-7EA0-3482-7477ECE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5F1D7-F36C-E5BC-AE89-74F594BBF6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ED3E4-BABD-6341-0FCA-F8253A7AE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49692-FB16-99AB-EA7D-9B783F8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B820B-5BF4-FA75-2CFF-F6E93C81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A45F1-0302-C2DC-812D-ED2BA1BF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90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69063-2496-0AD5-95E4-F50E46FC0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ACD2B-372A-3443-BC25-AF2C67B29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FC670-C8A8-3B14-B37E-092A7E1F2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B5171-900A-29AD-F381-B627FA2028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ACA4D-79F9-C0FD-F9B0-19869A8E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D3053-CC23-EA5E-9F25-048673E2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FEB309-DD09-B23A-6C86-60366926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1840D-480E-A94A-FD95-AFA77442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825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91-B2F6-701D-DDE6-EE77C52A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224114-B3F6-29AA-C757-3160D7077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45B5B-B95E-6797-31AB-90C589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BDA99-C6D6-DAD3-3807-FB0C59A9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9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A7591-42C7-E6E5-8B90-A19BCD63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B6988-ABA5-BF09-E107-B35F723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7FD1-AF78-4791-0C68-19750BD6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7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7114-EF6A-F8C0-C322-6D9E6CEB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22A9D-1E0A-F5BD-A9DC-5370BE824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06883-C29D-7F4A-2D13-D7FB688A0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84A7B-B38F-F3A9-871A-1AE64ABF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0723-7D8C-6511-283E-5796926A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86B48-4CA5-75FA-BC6D-CC3A5E68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56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42E3-C702-2784-0E69-299DDDE9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51F40-7507-5855-22C3-485FDCFB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23F9A-4926-DE31-0B57-D4F7C2570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1DCDE-F15C-0E3D-0F07-0DDBC8E2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C7975-BA67-5342-193A-0616545F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9297-8456-7244-9C2A-40EC071F5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6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10E7-F054-CF0C-007D-EF8F65449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784BB-66B4-E106-003E-7C23B3589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B22EE-99D0-9BBD-C320-467C78EF1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41AD-754B-EC2F-58B6-128F2614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FBD08-FBBC-3310-4143-738766D4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5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953C87-87BD-508D-00AD-E92F6E04A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9F5426-ECDB-D354-4EB4-FEC6D9EA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59B6C-5B71-8AF7-0D16-70F3971C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ECB35-9076-C3E0-D89D-B4B7A5DC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0874-7E97-CBA1-961F-91A2B8B0B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5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95AB6-8059-960B-DD23-ED225B2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DF056-0E0F-4EA9-963B-37A0FCE2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FE922-7BE1-B720-5EA5-F80FC5EF3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A8EF-445D-45F2-8EC6-491E8A963838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4752A-5539-C19F-7FD1-4553EF105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C5B35-05BC-5ABE-91C8-C0B0B4489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4A08A-8609-476B-9C8F-35BB358336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619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12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304800" y="304800"/>
            <a:ext cx="11582400" cy="6248400"/>
          </a:xfrm>
          <a:prstGeom prst="roundRect">
            <a:avLst/>
          </a:prstGeom>
          <a:solidFill>
            <a:srgbClr val="151D21"/>
          </a:solidFill>
          <a:ln w="1524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666750" y="742950"/>
            <a:ext cx="76200" cy="914400"/>
          </a:xfrm>
          <a:prstGeom prst="rect">
            <a:avLst/>
          </a:prstGeom>
          <a:solidFill>
            <a:srgbClr val="58C98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895350" y="666750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>
              <a:buNone/>
            </a:pPr>
            <a:r>
              <a:rPr lang="en-US" sz="1300" b="1">
                <a:solidFill>
                  <a:srgbClr val="58C98B"/>
                </a:solidFill>
                <a:latin typeface="Aptos"/>
              </a:rPr>
              <a:t>PAMS8 SHOWCASE</a:t>
            </a:r>
            <a:endParaRPr lang="en-US" sz="1300"/>
          </a:p>
        </p:txBody>
      </p:sp>
      <p:sp>
        <p:nvSpPr>
          <p:cNvPr id="22" name="Shape 22"/>
          <p:cNvSpPr/>
          <p:nvPr/>
        </p:nvSpPr>
        <p:spPr>
          <a:xfrm>
            <a:off x="895350" y="1123950"/>
            <a:ext cx="7620000" cy="11239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3600" b="1">
                <a:solidFill>
                  <a:srgbClr val="F4F7F4"/>
                </a:solidFill>
                <a:latin typeface="Aptos"/>
              </a:rPr>
              <a:t>PAMS8: Military Standard 2525D Symbol Drawing Library</a:t>
            </a:r>
            <a:endParaRPr lang="en-US" sz="3600"/>
          </a:p>
        </p:txBody>
      </p:sp>
      <p:sp>
        <p:nvSpPr>
          <p:cNvPr id="23" name="Shape 23"/>
          <p:cNvSpPr/>
          <p:nvPr/>
        </p:nvSpPr>
        <p:spPr>
          <a:xfrm>
            <a:off x="914400" y="2495550"/>
            <a:ext cx="676275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>
              <a:buNone/>
            </a:pPr>
            <a:r>
              <a:rPr lang="en-US" sz="2200">
                <a:solidFill>
                  <a:srgbClr val="A8B7B1"/>
                </a:solidFill>
                <a:latin typeface="Aptos"/>
              </a:rPr>
              <a:t>Draw, edit, analyze, and manage tactical map symbols in 2D and 3D.</a:t>
            </a:r>
            <a:endParaRPr lang="en-US" sz="2200"/>
          </a:p>
        </p:txBody>
      </p:sp>
      <p:sp>
        <p:nvSpPr>
          <p:cNvPr id="24" name="Shape 24"/>
          <p:cNvSpPr/>
          <p:nvPr/>
        </p:nvSpPr>
        <p:spPr>
          <a:xfrm>
            <a:off x="838200" y="3848100"/>
            <a:ext cx="2381250" cy="1066800"/>
          </a:xfrm>
          <a:prstGeom prst="roundRect">
            <a:avLst/>
          </a:prstGeom>
          <a:solidFill>
            <a:srgbClr val="1B292F"/>
          </a:solidFill>
          <a:ln w="17780">
            <a:solidFill>
              <a:srgbClr val="58C98B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1047750" y="3981450"/>
            <a:ext cx="20002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4200" b="1">
                <a:solidFill>
                  <a:srgbClr val="58C98B"/>
                </a:solidFill>
                <a:latin typeface="Aptos"/>
              </a:rPr>
              <a:t>954</a:t>
            </a:r>
            <a:endParaRPr lang="en-US" sz="4200"/>
          </a:p>
        </p:txBody>
      </p:sp>
      <p:sp>
        <p:nvSpPr>
          <p:cNvPr id="26" name="Shape 26"/>
          <p:cNvSpPr/>
          <p:nvPr/>
        </p:nvSpPr>
        <p:spPr>
          <a:xfrm>
            <a:off x="1047750" y="4591050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400" b="1">
                <a:solidFill>
                  <a:srgbClr val="F4F7F4"/>
                </a:solidFill>
                <a:latin typeface="Aptos"/>
              </a:rPr>
              <a:t>symbol definitions</a:t>
            </a: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7010400" y="781050"/>
            <a:ext cx="3771900" cy="4248150"/>
          </a:xfrm>
          <a:prstGeom prst="roundRect">
            <a:avLst/>
          </a:prstGeom>
          <a:solidFill>
            <a:srgbClr val="12191D"/>
          </a:solidFill>
          <a:ln w="12700">
            <a:solidFill>
              <a:srgbClr val="33444B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7353300" y="1219200"/>
            <a:ext cx="30861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2600" b="1">
                <a:solidFill>
                  <a:srgbClr val="F4F7F4"/>
                </a:solidFill>
                <a:latin typeface="Aptos"/>
              </a:rPr>
              <a:t>Native tactical drawing + analysis workflows</a:t>
            </a:r>
            <a:endParaRPr lang="en-US" sz="2600"/>
          </a:p>
        </p:txBody>
      </p:sp>
      <p:sp>
        <p:nvSpPr>
          <p:cNvPr id="29" name="Shape 29"/>
          <p:cNvSpPr/>
          <p:nvPr/>
        </p:nvSpPr>
        <p:spPr>
          <a:xfrm>
            <a:off x="7429500" y="2476500"/>
            <a:ext cx="2933700" cy="14287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rIns="95250" tIns="95250" bIns="95250"/>
          <a:lstStyle/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2D / 3D view support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MIL-STD-2525D rendering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Editable symbols and plans</a:t>
            </a:r>
            <a:endParaRPr lang="en-US" sz="1600"/>
          </a:p>
          <a:p>
            <a:pPr marL="285750" indent="-171450">
              <a:buChar char="-"/>
            </a:pPr>
            <a:r>
              <a:rPr lang="en-US" sz="1600">
                <a:solidFill>
                  <a:srgbClr val="A8B7B1"/>
                </a:solidFill>
                <a:latin typeface="Aptos"/>
              </a:rPr>
              <a:t>Terrain and route analysis</a:t>
            </a:r>
            <a:endParaRPr lang="en-US" sz="1600"/>
          </a:p>
        </p:txBody>
      </p:sp>
      <p:sp>
        <p:nvSpPr>
          <p:cNvPr id="30" name="Shape 30">
            <a:hlinkClick r:id="rId2" action="ppaction://hlinksldjump"/>
          </p:cNvPr>
          <p:cNvSpPr/>
          <p:nvPr/>
        </p:nvSpPr>
        <p:spPr>
          <a:xfrm>
            <a:off x="8991600" y="6096000"/>
            <a:ext cx="1809750" cy="361950"/>
          </a:xfrm>
          <a:prstGeom prst="roundRect">
            <a:avLst/>
          </a:prstGeom>
          <a:solidFill>
            <a:srgbClr val="223139"/>
          </a:solidFill>
          <a:ln w="12700">
            <a:solidFill>
              <a:srgbClr val="58C98B"/>
            </a:solidFill>
          </a:ln>
        </p:spPr>
        <p:txBody>
          <a:bodyPr wrap="square" anchor="ctr" lIns="95250" rIns="95250" tIns="95250" bIns="95250"/>
          <a:lstStyle/>
          <a:p>
            <a:pPr algn="ctr">
              <a:buNone/>
            </a:pPr>
            <a:r>
              <a:rPr lang="en-US" sz="1300" b="1">
                <a:solidFill>
                  <a:srgbClr val="F4F7F4"/>
                </a:solidFill>
                <a:latin typeface="Aptos"/>
              </a:rPr>
              <a:t>Open Index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2026-06-03T11:01:19Z</dcterms:created>
  <dcterms:modified xsi:type="dcterms:W3CDTF">2026-06-03T11:01:19Z</dcterms:modified>
</cp:coreProperties>
</file>