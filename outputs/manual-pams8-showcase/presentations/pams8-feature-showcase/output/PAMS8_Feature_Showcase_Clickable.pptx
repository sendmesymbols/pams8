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</p:sldIdLst>
  <p:sldSz cx="12192000" cy="6858000" type="wide"/>
  <p:notesSz cx="6858000" cy="9144000"/>
  <p:defaultTextStyle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5.xml"/><Relationship Id="rId3" Type="http://schemas.openxmlformats.org/officeDocument/2006/relationships/slide" Target="slide7.xml"/><Relationship Id="rId4" Type="http://schemas.openxmlformats.org/officeDocument/2006/relationships/slide" Target="slide9.xml"/><Relationship Id="rId5" Type="http://schemas.openxmlformats.org/officeDocument/2006/relationships/slide" Target="slide11.xml"/><Relationship Id="rId6" Type="http://schemas.openxmlformats.org/officeDocument/2006/relationships/slide" Target="slide13.xml"/><Relationship Id="rId7" Type="http://schemas.openxmlformats.org/officeDocument/2006/relationships/slide" Target="slide15.xml"/><Relationship Id="rId8" Type="http://schemas.openxmlformats.org/officeDocument/2006/relationships/slide" Target="slide17.xml"/><Relationship Id="rId9" Type="http://schemas.openxmlformats.org/officeDocument/2006/relationships/slide" Target="slide19.xml"/><Relationship Id="rId10" Type="http://schemas.openxmlformats.org/officeDocument/2006/relationships/slide" Target="slide21.xml"/><Relationship Id="rId11" Type="http://schemas.openxmlformats.org/officeDocument/2006/relationships/slide" Target="slide23.xml"/><Relationship Id="rId12" Type="http://schemas.openxmlformats.org/officeDocument/2006/relationships/slide" Target="slide25.xml"/><Relationship Id="rId13" Type="http://schemas.openxmlformats.org/officeDocument/2006/relationships/slide" Target="slide27.xml"/><Relationship Id="rId14" Type="http://schemas.openxmlformats.org/officeDocument/2006/relationships/slide" Target="slide29.xml"/><Relationship Id="rId15" Type="http://schemas.openxmlformats.org/officeDocument/2006/relationships/slide" Target="slide31.xml"/><Relationship Id="rId16" Type="http://schemas.openxmlformats.org/officeDocument/2006/relationships/slide" Target="slide33.xml"/><Relationship Id="rId17" Type="http://schemas.openxmlformats.org/officeDocument/2006/relationships/slide" Target="slide36.xml"/><Relationship Id="rId18" Type="http://schemas.openxmlformats.org/officeDocument/2006/relationships/slide" Target="slide38.xml"/><Relationship Id="rId19" Type="http://schemas.openxmlformats.org/officeDocument/2006/relationships/slide" Target="slide40.xml"/><Relationship Id="rId20" Type="http://schemas.openxmlformats.org/officeDocument/2006/relationships/slide" Target="slide42.xml"/><Relationship Id="rId21" Type="http://schemas.openxmlformats.org/officeDocument/2006/relationships/slide" Target="slide44.xml"/><Relationship Id="rId22" Type="http://schemas.openxmlformats.org/officeDocument/2006/relationships/slide" Target="slide46.xml"/><Relationship Id="rId23" Type="http://schemas.openxmlformats.org/officeDocument/2006/relationships/slide" Target="slide48.xml"/><Relationship Id="rId24" Type="http://schemas.openxmlformats.org/officeDocument/2006/relationships/slide" Target="slide50.xml"/><Relationship Id="rId25" Type="http://schemas.openxmlformats.org/officeDocument/2006/relationships/slide" Target="slide52.xml"/><Relationship Id="rId26" Type="http://schemas.openxmlformats.org/officeDocument/2006/relationships/slide" Target="slide54.xml"/><Relationship Id="rId27" Type="http://schemas.openxmlformats.org/officeDocument/2006/relationships/slide" Target="slide56.xml"/><Relationship Id="rId28" Type="http://schemas.openxmlformats.org/officeDocument/2006/relationships/slide" Target="slide58.xml"/><Relationship Id="rId29" Type="http://schemas.openxmlformats.org/officeDocument/2006/relationships/slide" Target="slide60.xml"/><Relationship Id="rId30" Type="http://schemas.openxmlformats.org/officeDocument/2006/relationships/slide" Target="slide62.xml"/><Relationship Id="rId31" Type="http://schemas.openxmlformats.org/officeDocument/2006/relationships/slide" Target="slide64.xml"/><Relationship Id="rId32" Type="http://schemas.openxmlformats.org/officeDocument/2006/relationships/slide" Target="slide66.xml"/><Relationship Id="rId33" Type="http://schemas.openxmlformats.org/officeDocument/2006/relationships/slide" Target="slide68.xml"/><Relationship Id="rId34" Type="http://schemas.openxmlformats.org/officeDocument/2006/relationships/slide" Target="slide70.xml"/><Relationship Id="rId35" Type="http://schemas.openxmlformats.org/officeDocument/2006/relationships/slide" Target="slide72.xml"/><Relationship Id="rId36" Type="http://schemas.openxmlformats.org/officeDocument/2006/relationships/slide" Target="slide74.xml"/><Relationship Id="rId37" Type="http://schemas.openxmlformats.org/officeDocument/2006/relationships/slide" Target="slide76.xml"/><Relationship Id="rId38" Type="http://schemas.openxmlformats.org/officeDocument/2006/relationships/slide" Target="slide78.xml"/><Relationship Id="rId39" Type="http://schemas.openxmlformats.org/officeDocument/2006/relationships/slide" Target="slide80.xml"/><Relationship Id="rId40" Type="http://schemas.openxmlformats.org/officeDocument/2006/relationships/slide" Target="slide82.xml"/><Relationship Id="rId41" Type="http://schemas.openxmlformats.org/officeDocument/2006/relationships/slide" Target="slide84.xml"/><Relationship Id="rId42" Type="http://schemas.openxmlformats.org/officeDocument/2006/relationships/slide" Target="slide86.xml"/><Relationship Id="rId43" Type="http://schemas.openxmlformats.org/officeDocument/2006/relationships/slide" Target="slide88.xml"/><Relationship Id="rId44" Type="http://schemas.openxmlformats.org/officeDocument/2006/relationships/slide" Target="slide90.xml"/><Relationship Id="rId45" Type="http://schemas.openxmlformats.org/officeDocument/2006/relationships/slide" Target="slide92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6.xml"/><Relationship Id="rId3" Type="http://schemas.openxmlformats.org/officeDocument/2006/relationships/slide" Target="slide3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5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8.xml"/><Relationship Id="rId3" Type="http://schemas.openxmlformats.org/officeDocument/2006/relationships/slide" Target="slide3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7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0.xml"/><Relationship Id="rId3" Type="http://schemas.openxmlformats.org/officeDocument/2006/relationships/slide" Target="slide3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9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2.xml"/><Relationship Id="rId3" Type="http://schemas.openxmlformats.org/officeDocument/2006/relationships/slide" Target="slide3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1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4.xml"/><Relationship Id="rId3" Type="http://schemas.openxmlformats.org/officeDocument/2006/relationships/slide" Target="slide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13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6.xml"/><Relationship Id="rId3" Type="http://schemas.openxmlformats.org/officeDocument/2006/relationships/slide" Target="slide3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15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8.xml"/><Relationship Id="rId3" Type="http://schemas.openxmlformats.org/officeDocument/2006/relationships/slide" Target="slide3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17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20.xml"/><Relationship Id="rId3" Type="http://schemas.openxmlformats.org/officeDocument/2006/relationships/slide" Target="slide3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19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22.xml"/><Relationship Id="rId3" Type="http://schemas.openxmlformats.org/officeDocument/2006/relationships/slide" Target="slide3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2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24.xml"/><Relationship Id="rId3" Type="http://schemas.openxmlformats.org/officeDocument/2006/relationships/slide" Target="slide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23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26.xml"/><Relationship Id="rId3" Type="http://schemas.openxmlformats.org/officeDocument/2006/relationships/slide" Target="slide3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25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28.xml"/><Relationship Id="rId3" Type="http://schemas.openxmlformats.org/officeDocument/2006/relationships/slide" Target="slide3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27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0.xml"/><Relationship Id="rId3" Type="http://schemas.openxmlformats.org/officeDocument/2006/relationships/slide" Target="slide3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29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2.xml"/><Relationship Id="rId3" Type="http://schemas.openxmlformats.org/officeDocument/2006/relationships/slide" Target="slide3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31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4.xml"/><Relationship Id="rId3" Type="http://schemas.openxmlformats.org/officeDocument/2006/relationships/slide" Target="slide3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33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7.xml"/><Relationship Id="rId3" Type="http://schemas.openxmlformats.org/officeDocument/2006/relationships/slide" Target="slide3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36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9.xml"/><Relationship Id="rId3" Type="http://schemas.openxmlformats.org/officeDocument/2006/relationships/slide" Target="slide3.xml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38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41.xml"/><Relationship Id="rId3" Type="http://schemas.openxmlformats.org/officeDocument/2006/relationships/slide" Target="slide3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40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43.xml"/><Relationship Id="rId3" Type="http://schemas.openxmlformats.org/officeDocument/2006/relationships/slide" Target="slide3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42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45.xml"/><Relationship Id="rId3" Type="http://schemas.openxmlformats.org/officeDocument/2006/relationships/slide" Target="slide3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44.xml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47.xml"/><Relationship Id="rId3" Type="http://schemas.openxmlformats.org/officeDocument/2006/relationships/slide" Target="slide3.xml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46.xml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49.xml"/><Relationship Id="rId3" Type="http://schemas.openxmlformats.org/officeDocument/2006/relationships/slide" Target="slide3.xml"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48.xml"/></Relationships>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51.xml"/><Relationship Id="rId3" Type="http://schemas.openxmlformats.org/officeDocument/2006/relationships/slide" Target="slide3.xml"/></Relationships>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50.xml"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53.xml"/><Relationship Id="rId3" Type="http://schemas.openxmlformats.org/officeDocument/2006/relationships/slide" Target="slide3.xml"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52.xml"/></Relationships>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55.xml"/><Relationship Id="rId3" Type="http://schemas.openxmlformats.org/officeDocument/2006/relationships/slide" Target="slide3.xml"/></Relationships>
</file>

<file path=ppt/slides/_rels/slide5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54.xml"/></Relationships>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57.xml"/><Relationship Id="rId3" Type="http://schemas.openxmlformats.org/officeDocument/2006/relationships/slide" Target="slide3.xml"/></Relationships>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56.xml"/></Relationships>
</file>

<file path=ppt/slides/_rels/slide5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59.xml"/><Relationship Id="rId3" Type="http://schemas.openxmlformats.org/officeDocument/2006/relationships/slide" Target="slide3.xml"/></Relationships>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58.xml"/></Relationships>
</file>

<file path=ppt/slides/_rels/slide6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61.xml"/><Relationship Id="rId3" Type="http://schemas.openxmlformats.org/officeDocument/2006/relationships/slide" Target="slide3.xml"/></Relationships>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60.xml"/></Relationships>
</file>

<file path=ppt/slides/_rels/slide6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63.xml"/><Relationship Id="rId3" Type="http://schemas.openxmlformats.org/officeDocument/2006/relationships/slide" Target="slide3.xml"/></Relationships>
</file>

<file path=ppt/slides/_rels/slide6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62.xml"/></Relationships>
</file>

<file path=ppt/slides/_rels/slide6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65.xml"/><Relationship Id="rId3" Type="http://schemas.openxmlformats.org/officeDocument/2006/relationships/slide" Target="slide3.xml"/></Relationships>
</file>

<file path=ppt/slides/_rels/slide6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64.xml"/></Relationships>
</file>

<file path=ppt/slides/_rels/slide6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67.xml"/><Relationship Id="rId3" Type="http://schemas.openxmlformats.org/officeDocument/2006/relationships/slide" Target="slide3.xml"/></Relationships>
</file>

<file path=ppt/slides/_rels/slide6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66.xml"/></Relationships>
</file>

<file path=ppt/slides/_rels/slide6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69.xml"/><Relationship Id="rId3" Type="http://schemas.openxmlformats.org/officeDocument/2006/relationships/slide" Target="slide3.xml"/></Relationships>
</file>

<file path=ppt/slides/_rels/slide6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68.xml"/></Relationships>
</file>

<file path=ppt/slides/_rels/slide7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71.xml"/><Relationship Id="rId3" Type="http://schemas.openxmlformats.org/officeDocument/2006/relationships/slide" Target="slide3.xml"/></Relationships>
</file>

<file path=ppt/slides/_rels/slide7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70.xml"/></Relationships>
</file>

<file path=ppt/slides/_rels/slide7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73.xml"/><Relationship Id="rId3" Type="http://schemas.openxmlformats.org/officeDocument/2006/relationships/slide" Target="slide3.xml"/></Relationships>
</file>

<file path=ppt/slides/_rels/slide7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72.xml"/></Relationships>
</file>

<file path=ppt/slides/_rels/slide7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75.xml"/><Relationship Id="rId3" Type="http://schemas.openxmlformats.org/officeDocument/2006/relationships/slide" Target="slide3.xml"/></Relationships>
</file>

<file path=ppt/slides/_rels/slide7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74.xml"/></Relationships>
</file>

<file path=ppt/slides/_rels/slide7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77.xml"/><Relationship Id="rId3" Type="http://schemas.openxmlformats.org/officeDocument/2006/relationships/slide" Target="slide3.xml"/></Relationships>
</file>

<file path=ppt/slides/_rels/slide7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76.xml"/></Relationships>
</file>

<file path=ppt/slides/_rels/slide7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79.xml"/><Relationship Id="rId3" Type="http://schemas.openxmlformats.org/officeDocument/2006/relationships/slide" Target="slide3.xml"/></Relationships>
</file>

<file path=ppt/slides/_rels/slide7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78.xml"/></Relationships>
</file>

<file path=ppt/slides/_rels/slide8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81.xml"/><Relationship Id="rId3" Type="http://schemas.openxmlformats.org/officeDocument/2006/relationships/slide" Target="slide3.xml"/></Relationships>
</file>

<file path=ppt/slides/_rels/slide8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80.xml"/></Relationships>
</file>

<file path=ppt/slides/_rels/slide8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83.xml"/><Relationship Id="rId3" Type="http://schemas.openxmlformats.org/officeDocument/2006/relationships/slide" Target="slide3.xml"/></Relationships>
</file>

<file path=ppt/slides/_rels/slide8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82.xml"/></Relationships>
</file>

<file path=ppt/slides/_rels/slide8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85.xml"/><Relationship Id="rId3" Type="http://schemas.openxmlformats.org/officeDocument/2006/relationships/slide" Target="slide3.xml"/></Relationships>
</file>

<file path=ppt/slides/_rels/slide8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84.xml"/></Relationships>
</file>

<file path=ppt/slides/_rels/slide8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87.xml"/><Relationship Id="rId3" Type="http://schemas.openxmlformats.org/officeDocument/2006/relationships/slide" Target="slide3.xml"/></Relationships>
</file>

<file path=ppt/slides/_rels/slide8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86.xml"/></Relationships>
</file>

<file path=ppt/slides/_rels/slide8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89.xml"/><Relationship Id="rId3" Type="http://schemas.openxmlformats.org/officeDocument/2006/relationships/slide" Target="slide3.xml"/></Relationships>
</file>

<file path=ppt/slides/_rels/slide8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88.xml"/></Relationships>
</file>

<file path=ppt/slides/_rels/slide9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91.xml"/><Relationship Id="rId3" Type="http://schemas.openxmlformats.org/officeDocument/2006/relationships/slide" Target="slide3.xml"/></Relationships>
</file>

<file path=ppt/slides/_rels/slide9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90.xml"/></Relationships>
</file>

<file path=ppt/slides/_rels/slide9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93.xml"/><Relationship Id="rId3" Type="http://schemas.openxmlformats.org/officeDocument/2006/relationships/slide" Target="slide3.xml"/></Relationships>
</file>

<file path=ppt/slides/_rels/slide9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9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666750" y="742950"/>
            <a:ext cx="76200" cy="9144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895350" y="666750"/>
            <a:ext cx="7239000" cy="3238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300" b="1">
                <a:solidFill>
                  <a:srgbClr val="58C98B"/>
                </a:solidFill>
                <a:latin typeface="Aptos"/>
              </a:rPr>
              <a:t>PAMS8 SHOWCASE</a:t>
            </a:r>
            <a:endParaRPr lang="en-US" sz="1300"/>
          </a:p>
        </p:txBody>
      </p:sp>
      <p:sp>
        <p:nvSpPr>
          <p:cNvPr id="22" name="Shape 22"/>
          <p:cNvSpPr/>
          <p:nvPr/>
        </p:nvSpPr>
        <p:spPr>
          <a:xfrm>
            <a:off x="895350" y="1123950"/>
            <a:ext cx="7620000" cy="112395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3600" b="1">
                <a:solidFill>
                  <a:srgbClr val="F4F7F4"/>
                </a:solidFill>
                <a:latin typeface="Aptos"/>
              </a:rPr>
              <a:t>PAMS8: Military Standard 2525D Symbol Drawing Library</a:t>
            </a:r>
            <a:endParaRPr lang="en-US" sz="3600"/>
          </a:p>
        </p:txBody>
      </p:sp>
      <p:sp>
        <p:nvSpPr>
          <p:cNvPr id="23" name="Shape 23"/>
          <p:cNvSpPr/>
          <p:nvPr/>
        </p:nvSpPr>
        <p:spPr>
          <a:xfrm>
            <a:off x="914400" y="2495550"/>
            <a:ext cx="676275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2200">
                <a:solidFill>
                  <a:srgbClr val="A8B7B1"/>
                </a:solidFill>
                <a:latin typeface="Aptos"/>
              </a:rPr>
              <a:t>Draw, edit, analyze, and manage tactical map symbols in 2D and 3D.</a:t>
            </a:r>
            <a:endParaRPr lang="en-US" sz="2200"/>
          </a:p>
        </p:txBody>
      </p:sp>
      <p:sp>
        <p:nvSpPr>
          <p:cNvPr id="24" name="Shape 24"/>
          <p:cNvSpPr/>
          <p:nvPr/>
        </p:nvSpPr>
        <p:spPr>
          <a:xfrm>
            <a:off x="838200" y="3848100"/>
            <a:ext cx="2381250" cy="1066800"/>
          </a:xfrm>
          <a:prstGeom prst="roundRect">
            <a:avLst/>
          </a:prstGeom>
          <a:solidFill>
            <a:srgbClr val="1B292F"/>
          </a:solidFill>
          <a:ln w="17780">
            <a:solidFill>
              <a:srgbClr val="58C98B"/>
            </a:solidFill>
          </a:ln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1047750" y="3981450"/>
            <a:ext cx="2000250" cy="552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4200" b="1">
                <a:solidFill>
                  <a:srgbClr val="58C98B"/>
                </a:solidFill>
                <a:latin typeface="Aptos"/>
              </a:rPr>
              <a:t>954</a:t>
            </a:r>
            <a:endParaRPr lang="en-US" sz="4200"/>
          </a:p>
        </p:txBody>
      </p:sp>
      <p:sp>
        <p:nvSpPr>
          <p:cNvPr id="26" name="Shape 26"/>
          <p:cNvSpPr/>
          <p:nvPr/>
        </p:nvSpPr>
        <p:spPr>
          <a:xfrm>
            <a:off x="1047750" y="4591050"/>
            <a:ext cx="20002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F4F7F4"/>
                </a:solidFill>
                <a:latin typeface="Aptos"/>
              </a:rPr>
              <a:t>symbol definitions</a:t>
            </a:r>
            <a:endParaRPr lang="en-US" sz="1400"/>
          </a:p>
        </p:txBody>
      </p:sp>
      <p:sp>
        <p:nvSpPr>
          <p:cNvPr id="27" name="Shape 27"/>
          <p:cNvSpPr/>
          <p:nvPr/>
        </p:nvSpPr>
        <p:spPr>
          <a:xfrm>
            <a:off x="7010400" y="781050"/>
            <a:ext cx="3771900" cy="4248150"/>
          </a:xfrm>
          <a:prstGeom prst="roundRect">
            <a:avLst/>
          </a:prstGeom>
          <a:solidFill>
            <a:srgbClr val="12191D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8" name="Shape 28"/>
          <p:cNvSpPr/>
          <p:nvPr/>
        </p:nvSpPr>
        <p:spPr>
          <a:xfrm>
            <a:off x="7353300" y="1219200"/>
            <a:ext cx="3086100" cy="781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600" b="1">
                <a:solidFill>
                  <a:srgbClr val="F4F7F4"/>
                </a:solidFill>
                <a:latin typeface="Aptos"/>
              </a:rPr>
              <a:t>Native tactical drawing + analysis workflows</a:t>
            </a:r>
            <a:endParaRPr lang="en-US" sz="2600"/>
          </a:p>
        </p:txBody>
      </p:sp>
      <p:sp>
        <p:nvSpPr>
          <p:cNvPr id="29" name="Shape 29"/>
          <p:cNvSpPr/>
          <p:nvPr/>
        </p:nvSpPr>
        <p:spPr>
          <a:xfrm>
            <a:off x="7429500" y="2476500"/>
            <a:ext cx="2933700" cy="142875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600">
                <a:solidFill>
                  <a:srgbClr val="A8B7B1"/>
                </a:solidFill>
                <a:latin typeface="Aptos"/>
              </a:rPr>
              <a:t>2D / 3D view support</a:t>
            </a:r>
            <a:endParaRPr lang="en-US" sz="1600"/>
          </a:p>
          <a:p>
            <a:pPr marL="285750" indent="-171450">
              <a:buChar char="-"/>
            </a:pPr>
            <a:r>
              <a:rPr lang="en-US" sz="1600">
                <a:solidFill>
                  <a:srgbClr val="A8B7B1"/>
                </a:solidFill>
                <a:latin typeface="Aptos"/>
              </a:rPr>
              <a:t>MIL-STD-2525D rendering</a:t>
            </a:r>
            <a:endParaRPr lang="en-US" sz="1600"/>
          </a:p>
          <a:p>
            <a:pPr marL="285750" indent="-171450">
              <a:buChar char="-"/>
            </a:pPr>
            <a:r>
              <a:rPr lang="en-US" sz="1600">
                <a:solidFill>
                  <a:srgbClr val="A8B7B1"/>
                </a:solidFill>
                <a:latin typeface="Aptos"/>
              </a:rPr>
              <a:t>Editable symbols and plans</a:t>
            </a:r>
            <a:endParaRPr lang="en-US" sz="1600"/>
          </a:p>
          <a:p>
            <a:pPr marL="285750" indent="-171450">
              <a:buChar char="-"/>
            </a:pPr>
            <a:r>
              <a:rPr lang="en-US" sz="1600">
                <a:solidFill>
                  <a:srgbClr val="A8B7B1"/>
                </a:solidFill>
                <a:latin typeface="Aptos"/>
              </a:rPr>
              <a:t>Terrain and route analysis</a:t>
            </a:r>
            <a:endParaRPr lang="en-US" sz="1600"/>
          </a:p>
        </p:txBody>
      </p:sp>
      <p:sp>
        <p:nvSpPr>
          <p:cNvPr id="30" name="Shape 30">
            <a:hlinkClick r:id="rId2" action="ppaction://hlinksldjump"/>
          </p:cNvPr>
          <p:cNvSpPr/>
          <p:nvPr/>
        </p:nvSpPr>
        <p:spPr>
          <a:xfrm>
            <a:off x="8991600" y="6096000"/>
            <a:ext cx="180975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Open Index</a:t>
            </a:r>
            <a:endParaRPr lang="en-US" sz="1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OPENING PROOF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Symbol Catalog Snapshot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81050" y="1695450"/>
            <a:ext cx="1733550" cy="1104900"/>
          </a:xfrm>
          <a:prstGeom prst="roundRect">
            <a:avLst/>
          </a:prstGeom>
          <a:solidFill>
            <a:srgbClr val="20382D"/>
          </a:solidFill>
          <a:ln w="12700">
            <a:solidFill>
              <a:srgbClr val="58C98B"/>
            </a:solidFill>
          </a:ln>
        </p:spPr>
        <p:txBody>
          <a:bodyPr/>
          <a:lstStyle/>
          <a:p/>
        </p:txBody>
      </p:sp>
      <p:sp>
        <p:nvSpPr>
          <p:cNvPr id="60" name="Shape 60"/>
          <p:cNvSpPr/>
          <p:nvPr/>
        </p:nvSpPr>
        <p:spPr>
          <a:xfrm>
            <a:off x="876300" y="1866900"/>
            <a:ext cx="154305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3600" b="1">
                <a:solidFill>
                  <a:srgbClr val="58C98B"/>
                </a:solidFill>
                <a:latin typeface="Aptos"/>
              </a:rPr>
              <a:t>954</a:t>
            </a:r>
            <a:endParaRPr lang="en-US" sz="3600"/>
          </a:p>
        </p:txBody>
      </p:sp>
      <p:sp>
        <p:nvSpPr>
          <p:cNvPr id="80" name="Shape 80"/>
          <p:cNvSpPr/>
          <p:nvPr/>
        </p:nvSpPr>
        <p:spPr>
          <a:xfrm>
            <a:off x="895350" y="2362200"/>
            <a:ext cx="1504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A8B7B1"/>
                </a:solidFill>
                <a:latin typeface="Aptos"/>
              </a:rPr>
              <a:t>Total symbols</a:t>
            </a:r>
            <a:endParaRPr lang="en-US" sz="1300"/>
          </a:p>
        </p:txBody>
      </p:sp>
      <p:sp>
        <p:nvSpPr>
          <p:cNvPr id="41" name="Shape 41"/>
          <p:cNvSpPr/>
          <p:nvPr/>
        </p:nvSpPr>
        <p:spPr>
          <a:xfrm>
            <a:off x="2971800" y="1695450"/>
            <a:ext cx="1733550" cy="11049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1" name="Shape 61"/>
          <p:cNvSpPr/>
          <p:nvPr/>
        </p:nvSpPr>
        <p:spPr>
          <a:xfrm>
            <a:off x="3067050" y="1866900"/>
            <a:ext cx="154305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3100" b="1">
                <a:solidFill>
                  <a:srgbClr val="F4F7F4"/>
                </a:solidFill>
                <a:latin typeface="Aptos"/>
              </a:rPr>
              <a:t>511</a:t>
            </a:r>
            <a:endParaRPr lang="en-US" sz="3100"/>
          </a:p>
        </p:txBody>
      </p:sp>
      <p:sp>
        <p:nvSpPr>
          <p:cNvPr id="81" name="Shape 81"/>
          <p:cNvSpPr/>
          <p:nvPr/>
        </p:nvSpPr>
        <p:spPr>
          <a:xfrm>
            <a:off x="3086100" y="2362200"/>
            <a:ext cx="1504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A8B7B1"/>
                </a:solidFill>
                <a:latin typeface="Aptos"/>
              </a:rPr>
              <a:t>Force point</a:t>
            </a:r>
            <a:endParaRPr lang="en-US" sz="1300"/>
          </a:p>
        </p:txBody>
      </p:sp>
      <p:sp>
        <p:nvSpPr>
          <p:cNvPr id="42" name="Shape 42"/>
          <p:cNvSpPr/>
          <p:nvPr/>
        </p:nvSpPr>
        <p:spPr>
          <a:xfrm>
            <a:off x="5162550" y="1695450"/>
            <a:ext cx="1733550" cy="11049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2" name="Shape 62"/>
          <p:cNvSpPr/>
          <p:nvPr/>
        </p:nvSpPr>
        <p:spPr>
          <a:xfrm>
            <a:off x="5257800" y="1866900"/>
            <a:ext cx="154305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3100" b="1">
                <a:solidFill>
                  <a:srgbClr val="F4F7F4"/>
                </a:solidFill>
                <a:latin typeface="Aptos"/>
              </a:rPr>
              <a:t>325</a:t>
            </a:r>
            <a:endParaRPr lang="en-US" sz="3100"/>
          </a:p>
        </p:txBody>
      </p:sp>
      <p:sp>
        <p:nvSpPr>
          <p:cNvPr id="82" name="Shape 82"/>
          <p:cNvSpPr/>
          <p:nvPr/>
        </p:nvSpPr>
        <p:spPr>
          <a:xfrm>
            <a:off x="5276850" y="2362200"/>
            <a:ext cx="1504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A8B7B1"/>
                </a:solidFill>
                <a:latin typeface="Aptos"/>
              </a:rPr>
              <a:t>Tactical point</a:t>
            </a:r>
            <a:endParaRPr lang="en-US" sz="1300"/>
          </a:p>
        </p:txBody>
      </p:sp>
      <p:sp>
        <p:nvSpPr>
          <p:cNvPr id="43" name="Shape 43"/>
          <p:cNvSpPr/>
          <p:nvPr/>
        </p:nvSpPr>
        <p:spPr>
          <a:xfrm>
            <a:off x="7353300" y="1695450"/>
            <a:ext cx="1733550" cy="11049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3" name="Shape 63"/>
          <p:cNvSpPr/>
          <p:nvPr/>
        </p:nvSpPr>
        <p:spPr>
          <a:xfrm>
            <a:off x="7448550" y="1866900"/>
            <a:ext cx="154305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3100" b="1">
                <a:solidFill>
                  <a:srgbClr val="F4F7F4"/>
                </a:solidFill>
                <a:latin typeface="Aptos"/>
              </a:rPr>
              <a:t>62</a:t>
            </a:r>
            <a:endParaRPr lang="en-US" sz="3100"/>
          </a:p>
        </p:txBody>
      </p:sp>
      <p:sp>
        <p:nvSpPr>
          <p:cNvPr id="83" name="Shape 83"/>
          <p:cNvSpPr/>
          <p:nvPr/>
        </p:nvSpPr>
        <p:spPr>
          <a:xfrm>
            <a:off x="7467600" y="2362200"/>
            <a:ext cx="1504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A8B7B1"/>
                </a:solidFill>
                <a:latin typeface="Aptos"/>
              </a:rPr>
              <a:t>Area</a:t>
            </a:r>
            <a:endParaRPr lang="en-US" sz="1300"/>
          </a:p>
        </p:txBody>
      </p:sp>
      <p:sp>
        <p:nvSpPr>
          <p:cNvPr id="44" name="Shape 44"/>
          <p:cNvSpPr/>
          <p:nvPr/>
        </p:nvSpPr>
        <p:spPr>
          <a:xfrm>
            <a:off x="9544050" y="1695450"/>
            <a:ext cx="1733550" cy="11049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4" name="Shape 64"/>
          <p:cNvSpPr/>
          <p:nvPr/>
        </p:nvSpPr>
        <p:spPr>
          <a:xfrm>
            <a:off x="9639300" y="1866900"/>
            <a:ext cx="154305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3100" b="1">
                <a:solidFill>
                  <a:srgbClr val="F4F7F4"/>
                </a:solidFill>
                <a:latin typeface="Aptos"/>
              </a:rPr>
              <a:t>56</a:t>
            </a:r>
            <a:endParaRPr lang="en-US" sz="3100"/>
          </a:p>
        </p:txBody>
      </p:sp>
      <p:sp>
        <p:nvSpPr>
          <p:cNvPr id="84" name="Shape 84"/>
          <p:cNvSpPr/>
          <p:nvPr/>
        </p:nvSpPr>
        <p:spPr>
          <a:xfrm>
            <a:off x="9658350" y="2362200"/>
            <a:ext cx="1504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A8B7B1"/>
                </a:solidFill>
                <a:latin typeface="Aptos"/>
              </a:rPr>
              <a:t>Line</a:t>
            </a:r>
            <a:endParaRPr lang="en-US" sz="1300"/>
          </a:p>
        </p:txBody>
      </p:sp>
      <p:sp>
        <p:nvSpPr>
          <p:cNvPr id="90" name="Shape 90"/>
          <p:cNvSpPr/>
          <p:nvPr/>
        </p:nvSpPr>
        <p:spPr>
          <a:xfrm>
            <a:off x="971550" y="3695700"/>
            <a:ext cx="9810750" cy="1371600"/>
          </a:xfrm>
          <a:prstGeom prst="roundRect">
            <a:avLst/>
          </a:prstGeom>
          <a:solidFill>
            <a:srgbClr val="151D21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91" name="Shape 91"/>
          <p:cNvSpPr/>
          <p:nvPr/>
        </p:nvSpPr>
        <p:spPr>
          <a:xfrm>
            <a:off x="1295400" y="4000500"/>
            <a:ext cx="42862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400" b="1">
                <a:solidFill>
                  <a:srgbClr val="F4F7F4"/>
                </a:solidFill>
                <a:latin typeface="Aptos"/>
              </a:rPr>
              <a:t>What this proves</a:t>
            </a:r>
            <a:endParaRPr lang="en-US" sz="2400"/>
          </a:p>
        </p:txBody>
      </p:sp>
      <p:sp>
        <p:nvSpPr>
          <p:cNvPr id="92" name="Shape 92"/>
          <p:cNvSpPr/>
          <p:nvPr/>
        </p:nvSpPr>
        <p:spPr>
          <a:xfrm>
            <a:off x="1295400" y="4514850"/>
            <a:ext cx="87630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800">
                <a:solidFill>
                  <a:srgbClr val="A8B7B1"/>
                </a:solidFill>
                <a:latin typeface="Aptos"/>
              </a:rPr>
              <a:t>PAMS8 is not a single-symbol demo. It is a broad tactical drawing and planning library with force symbols, tactical points, areas, lines, and analysis workflows operating across both 2D and 3D map views.</a:t>
            </a:r>
            <a:endParaRPr lang="en-US" sz="1800"/>
          </a:p>
        </p:txBody>
      </p:sp>
      <p:sp>
        <p:nvSpPr>
          <p:cNvPr id="93" name="Shape 93">
            <a:hlinkClick r:id="rId2" action="ppaction://hlinksldjump"/>
          </p:cNvPr>
          <p:cNvSpPr/>
          <p:nvPr/>
        </p:nvSpPr>
        <p:spPr>
          <a:xfrm>
            <a:off x="8991600" y="6096000"/>
            <a:ext cx="180975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Open Index</a:t>
            </a:r>
            <a:endParaRPr lang="en-US" sz="13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NAVIGATION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Clickable Index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30" name="Shape 30"/>
          <p:cNvSpPr/>
          <p:nvPr/>
        </p:nvSpPr>
        <p:spPr>
          <a:xfrm>
            <a:off x="685800" y="1200150"/>
            <a:ext cx="10668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250">
                <a:solidFill>
                  <a:srgbClr val="A8B7B1"/>
                </a:solidFill>
                <a:latin typeface="Aptos"/>
              </a:rPr>
              <a:t>Click any tile to jump to its feature slide. Each slide has a Back to Index button.</a:t>
            </a:r>
            <a:endParaRPr lang="en-US" sz="1250"/>
          </a:p>
        </p:txBody>
      </p:sp>
      <p:sp>
        <p:nvSpPr>
          <p:cNvPr id="100" name="Shape 100"/>
          <p:cNvSpPr/>
          <p:nvPr/>
        </p:nvSpPr>
        <p:spPr>
          <a:xfrm>
            <a:off x="533400" y="1600200"/>
            <a:ext cx="57150" cy="4191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01" name="Shape 101"/>
          <p:cNvSpPr/>
          <p:nvPr/>
        </p:nvSpPr>
        <p:spPr>
          <a:xfrm>
            <a:off x="685800" y="163830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58C98B"/>
                </a:solidFill>
                <a:latin typeface="Aptos"/>
              </a:rPr>
              <a:t>01</a:t>
            </a:r>
            <a:endParaRPr lang="en-US" sz="950"/>
          </a:p>
        </p:txBody>
      </p:sp>
      <p:sp>
        <p:nvSpPr>
          <p:cNvPr id="102" name="Shape 102"/>
          <p:cNvSpPr/>
          <p:nvPr/>
        </p:nvSpPr>
        <p:spPr>
          <a:xfrm>
            <a:off x="685800" y="1771650"/>
            <a:ext cx="285750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700" b="1">
                <a:solidFill>
                  <a:srgbClr val="F4F7F4"/>
                </a:solidFill>
                <a:latin typeface="Aptos"/>
              </a:rPr>
              <a:t>Core Features</a:t>
            </a:r>
            <a:endParaRPr lang="en-US" sz="1700"/>
          </a:p>
        </p:txBody>
      </p:sp>
      <p:sp>
        <p:nvSpPr>
          <p:cNvPr id="103" name="Shape 103"/>
          <p:cNvSpPr/>
          <p:nvPr/>
        </p:nvSpPr>
        <p:spPr>
          <a:xfrm>
            <a:off x="3619500" y="1714500"/>
            <a:ext cx="533400" cy="209550"/>
          </a:xfrm>
          <a:prstGeom prst="roundRect">
            <a:avLst/>
          </a:prstGeom>
          <a:solidFill>
            <a:srgbClr val="17242A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950" b="1">
                <a:solidFill>
                  <a:srgbClr val="58C98B"/>
                </a:solidFill>
                <a:latin typeface="Aptos"/>
              </a:rPr>
              <a:t>15 items</a:t>
            </a:r>
            <a:endParaRPr lang="en-US" sz="950"/>
          </a:p>
        </p:txBody>
      </p:sp>
      <p:cxnSp>
        <p:nvCxnSpPr>
          <p:cNvPr id="104" name="Line 104"/>
          <p:cNvCxnSpPr/>
          <p:nvPr/>
        </p:nvCxnSpPr>
        <p:spPr>
          <a:xfrm flipV="0">
            <a:off x="533400" y="2057400"/>
            <a:ext cx="3619500" cy="9525"/>
          </a:xfrm>
          <a:prstGeom prst="line">
            <a:avLst/>
          </a:prstGeom>
          <a:ln w="15240">
            <a:solidFill>
              <a:srgbClr val="58C98B"/>
            </a:solidFill>
          </a:ln>
        </p:spPr>
        <p:style/>
      </p:cxnSp>
      <p:sp>
        <p:nvSpPr>
          <p:cNvPr id="105" name="Shape 105">
            <a:hlinkClick r:id="rId2" action="ppaction://hlinksldjump"/>
          </p:cNvPr>
          <p:cNvSpPr/>
          <p:nvPr/>
        </p:nvSpPr>
        <p:spPr>
          <a:xfrm>
            <a:off x="533400" y="21526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6" name="Shape 106"/>
          <p:cNvSpPr/>
          <p:nvPr/>
        </p:nvSpPr>
        <p:spPr>
          <a:xfrm>
            <a:off x="533400" y="2152650"/>
            <a:ext cx="28575" cy="28575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07" name="Shape 107"/>
          <p:cNvSpPr/>
          <p:nvPr/>
        </p:nvSpPr>
        <p:spPr>
          <a:xfrm>
            <a:off x="609600" y="21526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58C98B"/>
                </a:solidFill>
                <a:latin typeface="Consolas"/>
              </a:rPr>
              <a:t>01</a:t>
            </a:r>
            <a:endParaRPr lang="en-US" sz="850"/>
          </a:p>
        </p:txBody>
      </p:sp>
      <p:sp>
        <p:nvSpPr>
          <p:cNvPr id="108" name="Shape 108"/>
          <p:cNvSpPr/>
          <p:nvPr/>
        </p:nvSpPr>
        <p:spPr>
          <a:xfrm>
            <a:off x="914400" y="21526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Drawing &amp; Symbol Creation</a:t>
            </a:r>
            <a:endParaRPr lang="en-US" sz="950"/>
          </a:p>
        </p:txBody>
      </p:sp>
      <p:sp>
        <p:nvSpPr>
          <p:cNvPr id="109" name="Shape 109"/>
          <p:cNvSpPr/>
          <p:nvPr/>
        </p:nvSpPr>
        <p:spPr>
          <a:xfrm>
            <a:off x="2133600" y="21526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58C98B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110" name="Shape 110">
            <a:hlinkClick r:id="rId3" action="ppaction://hlinksldjump"/>
          </p:cNvPr>
          <p:cNvSpPr/>
          <p:nvPr/>
        </p:nvSpPr>
        <p:spPr>
          <a:xfrm>
            <a:off x="533400" y="24955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11" name="Shape 111"/>
          <p:cNvSpPr/>
          <p:nvPr/>
        </p:nvSpPr>
        <p:spPr>
          <a:xfrm>
            <a:off x="533400" y="2495550"/>
            <a:ext cx="28575" cy="28575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12" name="Shape 112"/>
          <p:cNvSpPr/>
          <p:nvPr/>
        </p:nvSpPr>
        <p:spPr>
          <a:xfrm>
            <a:off x="609600" y="24955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58C98B"/>
                </a:solidFill>
                <a:latin typeface="Consolas"/>
              </a:rPr>
              <a:t>02</a:t>
            </a:r>
            <a:endParaRPr lang="en-US" sz="850"/>
          </a:p>
        </p:txBody>
      </p:sp>
      <p:sp>
        <p:nvSpPr>
          <p:cNvPr id="113" name="Shape 113"/>
          <p:cNvSpPr/>
          <p:nvPr/>
        </p:nvSpPr>
        <p:spPr>
          <a:xfrm>
            <a:off x="914400" y="24955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Symbol Catalog</a:t>
            </a:r>
            <a:endParaRPr lang="en-US" sz="950"/>
          </a:p>
        </p:txBody>
      </p:sp>
      <p:sp>
        <p:nvSpPr>
          <p:cNvPr id="114" name="Shape 114"/>
          <p:cNvSpPr/>
          <p:nvPr/>
        </p:nvSpPr>
        <p:spPr>
          <a:xfrm>
            <a:off x="2133600" y="24955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58C98B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115" name="Shape 115">
            <a:hlinkClick r:id="rId4" action="ppaction://hlinksldjump"/>
          </p:cNvPr>
          <p:cNvSpPr/>
          <p:nvPr/>
        </p:nvSpPr>
        <p:spPr>
          <a:xfrm>
            <a:off x="533400" y="28384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16" name="Shape 116"/>
          <p:cNvSpPr/>
          <p:nvPr/>
        </p:nvSpPr>
        <p:spPr>
          <a:xfrm>
            <a:off x="533400" y="2838450"/>
            <a:ext cx="28575" cy="28575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17" name="Shape 117"/>
          <p:cNvSpPr/>
          <p:nvPr/>
        </p:nvSpPr>
        <p:spPr>
          <a:xfrm>
            <a:off x="609600" y="28384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58C98B"/>
                </a:solidFill>
                <a:latin typeface="Consolas"/>
              </a:rPr>
              <a:t>03</a:t>
            </a:r>
            <a:endParaRPr lang="en-US" sz="850"/>
          </a:p>
        </p:txBody>
      </p:sp>
      <p:sp>
        <p:nvSpPr>
          <p:cNvPr id="118" name="Shape 118"/>
          <p:cNvSpPr/>
          <p:nvPr/>
        </p:nvSpPr>
        <p:spPr>
          <a:xfrm>
            <a:off x="914400" y="28384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Edit</a:t>
            </a:r>
            <a:endParaRPr lang="en-US" sz="950"/>
          </a:p>
        </p:txBody>
      </p:sp>
      <p:sp>
        <p:nvSpPr>
          <p:cNvPr id="119" name="Shape 119"/>
          <p:cNvSpPr/>
          <p:nvPr/>
        </p:nvSpPr>
        <p:spPr>
          <a:xfrm>
            <a:off x="2133600" y="28384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58C98B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120" name="Shape 120">
            <a:hlinkClick r:id="rId5" action="ppaction://hlinksldjump"/>
          </p:cNvPr>
          <p:cNvSpPr/>
          <p:nvPr/>
        </p:nvSpPr>
        <p:spPr>
          <a:xfrm>
            <a:off x="533400" y="31813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21" name="Shape 121"/>
          <p:cNvSpPr/>
          <p:nvPr/>
        </p:nvSpPr>
        <p:spPr>
          <a:xfrm>
            <a:off x="533400" y="3181350"/>
            <a:ext cx="28575" cy="28575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22" name="Shape 122"/>
          <p:cNvSpPr/>
          <p:nvPr/>
        </p:nvSpPr>
        <p:spPr>
          <a:xfrm>
            <a:off x="609600" y="31813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58C98B"/>
                </a:solidFill>
                <a:latin typeface="Consolas"/>
              </a:rPr>
              <a:t>04</a:t>
            </a:r>
            <a:endParaRPr lang="en-US" sz="850"/>
          </a:p>
        </p:txBody>
      </p:sp>
      <p:sp>
        <p:nvSpPr>
          <p:cNvPr id="123" name="Shape 123"/>
          <p:cNvSpPr/>
          <p:nvPr/>
        </p:nvSpPr>
        <p:spPr>
          <a:xfrm>
            <a:off x="914400" y="31813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Control Points</a:t>
            </a:r>
            <a:endParaRPr lang="en-US" sz="950"/>
          </a:p>
        </p:txBody>
      </p:sp>
      <p:sp>
        <p:nvSpPr>
          <p:cNvPr id="124" name="Shape 124"/>
          <p:cNvSpPr/>
          <p:nvPr/>
        </p:nvSpPr>
        <p:spPr>
          <a:xfrm>
            <a:off x="2133600" y="31813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58C98B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125" name="Shape 125">
            <a:hlinkClick r:id="rId6" action="ppaction://hlinksldjump"/>
          </p:cNvPr>
          <p:cNvSpPr/>
          <p:nvPr/>
        </p:nvSpPr>
        <p:spPr>
          <a:xfrm>
            <a:off x="533400" y="35242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26" name="Shape 126"/>
          <p:cNvSpPr/>
          <p:nvPr/>
        </p:nvSpPr>
        <p:spPr>
          <a:xfrm>
            <a:off x="533400" y="3524250"/>
            <a:ext cx="28575" cy="28575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27" name="Shape 127"/>
          <p:cNvSpPr/>
          <p:nvPr/>
        </p:nvSpPr>
        <p:spPr>
          <a:xfrm>
            <a:off x="609600" y="35242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58C98B"/>
                </a:solidFill>
                <a:latin typeface="Consolas"/>
              </a:rPr>
              <a:t>05</a:t>
            </a:r>
            <a:endParaRPr lang="en-US" sz="850"/>
          </a:p>
        </p:txBody>
      </p:sp>
      <p:sp>
        <p:nvSpPr>
          <p:cNvPr id="128" name="Shape 128"/>
          <p:cNvSpPr/>
          <p:nvPr/>
        </p:nvSpPr>
        <p:spPr>
          <a:xfrm>
            <a:off x="914400" y="35242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Selection</a:t>
            </a:r>
            <a:endParaRPr lang="en-US" sz="950"/>
          </a:p>
        </p:txBody>
      </p:sp>
      <p:sp>
        <p:nvSpPr>
          <p:cNvPr id="129" name="Shape 129"/>
          <p:cNvSpPr/>
          <p:nvPr/>
        </p:nvSpPr>
        <p:spPr>
          <a:xfrm>
            <a:off x="2133600" y="35242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58C98B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130" name="Shape 130">
            <a:hlinkClick r:id="rId7" action="ppaction://hlinksldjump"/>
          </p:cNvPr>
          <p:cNvSpPr/>
          <p:nvPr/>
        </p:nvSpPr>
        <p:spPr>
          <a:xfrm>
            <a:off x="533400" y="38671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1" name="Shape 131"/>
          <p:cNvSpPr/>
          <p:nvPr/>
        </p:nvSpPr>
        <p:spPr>
          <a:xfrm>
            <a:off x="533400" y="3867150"/>
            <a:ext cx="28575" cy="28575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2" name="Shape 132"/>
          <p:cNvSpPr/>
          <p:nvPr/>
        </p:nvSpPr>
        <p:spPr>
          <a:xfrm>
            <a:off x="609600" y="38671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58C98B"/>
                </a:solidFill>
                <a:latin typeface="Consolas"/>
              </a:rPr>
              <a:t>06</a:t>
            </a:r>
            <a:endParaRPr lang="en-US" sz="850"/>
          </a:p>
        </p:txBody>
      </p:sp>
      <p:sp>
        <p:nvSpPr>
          <p:cNvPr id="133" name="Shape 133"/>
          <p:cNvSpPr/>
          <p:nvPr/>
        </p:nvSpPr>
        <p:spPr>
          <a:xfrm>
            <a:off x="914400" y="38671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Batch Selection Operations</a:t>
            </a:r>
            <a:endParaRPr lang="en-US" sz="950"/>
          </a:p>
        </p:txBody>
      </p:sp>
      <p:sp>
        <p:nvSpPr>
          <p:cNvPr id="134" name="Shape 134"/>
          <p:cNvSpPr/>
          <p:nvPr/>
        </p:nvSpPr>
        <p:spPr>
          <a:xfrm>
            <a:off x="2133600" y="38671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58C98B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135" name="Shape 135">
            <a:hlinkClick r:id="rId8" action="ppaction://hlinksldjump"/>
          </p:cNvPr>
          <p:cNvSpPr/>
          <p:nvPr/>
        </p:nvSpPr>
        <p:spPr>
          <a:xfrm>
            <a:off x="533400" y="42100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6" name="Shape 136"/>
          <p:cNvSpPr/>
          <p:nvPr/>
        </p:nvSpPr>
        <p:spPr>
          <a:xfrm>
            <a:off x="533400" y="4210050"/>
            <a:ext cx="28575" cy="28575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7" name="Shape 137"/>
          <p:cNvSpPr/>
          <p:nvPr/>
        </p:nvSpPr>
        <p:spPr>
          <a:xfrm>
            <a:off x="609600" y="42100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58C98B"/>
                </a:solidFill>
                <a:latin typeface="Consolas"/>
              </a:rPr>
              <a:t>07</a:t>
            </a:r>
            <a:endParaRPr lang="en-US" sz="850"/>
          </a:p>
        </p:txBody>
      </p:sp>
      <p:sp>
        <p:nvSpPr>
          <p:cNvPr id="138" name="Shape 138"/>
          <p:cNvSpPr/>
          <p:nvPr/>
        </p:nvSpPr>
        <p:spPr>
          <a:xfrm>
            <a:off x="914400" y="42100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Copy / Paste</a:t>
            </a:r>
            <a:endParaRPr lang="en-US" sz="950"/>
          </a:p>
        </p:txBody>
      </p:sp>
      <p:sp>
        <p:nvSpPr>
          <p:cNvPr id="139" name="Shape 139"/>
          <p:cNvSpPr/>
          <p:nvPr/>
        </p:nvSpPr>
        <p:spPr>
          <a:xfrm>
            <a:off x="2133600" y="42100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58C98B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140" name="Shape 140">
            <a:hlinkClick r:id="rId9" action="ppaction://hlinksldjump"/>
          </p:cNvPr>
          <p:cNvSpPr/>
          <p:nvPr/>
        </p:nvSpPr>
        <p:spPr>
          <a:xfrm>
            <a:off x="533400" y="45529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41" name="Shape 141"/>
          <p:cNvSpPr/>
          <p:nvPr/>
        </p:nvSpPr>
        <p:spPr>
          <a:xfrm>
            <a:off x="533400" y="4552950"/>
            <a:ext cx="28575" cy="28575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42" name="Shape 142"/>
          <p:cNvSpPr/>
          <p:nvPr/>
        </p:nvSpPr>
        <p:spPr>
          <a:xfrm>
            <a:off x="609600" y="45529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58C98B"/>
                </a:solidFill>
                <a:latin typeface="Consolas"/>
              </a:rPr>
              <a:t>08</a:t>
            </a:r>
            <a:endParaRPr lang="en-US" sz="850"/>
          </a:p>
        </p:txBody>
      </p:sp>
      <p:sp>
        <p:nvSpPr>
          <p:cNvPr id="143" name="Shape 143"/>
          <p:cNvSpPr/>
          <p:nvPr/>
        </p:nvSpPr>
        <p:spPr>
          <a:xfrm>
            <a:off x="914400" y="45529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Undo / Redo</a:t>
            </a:r>
            <a:endParaRPr lang="en-US" sz="950"/>
          </a:p>
        </p:txBody>
      </p:sp>
      <p:sp>
        <p:nvSpPr>
          <p:cNvPr id="144" name="Shape 144"/>
          <p:cNvSpPr/>
          <p:nvPr/>
        </p:nvSpPr>
        <p:spPr>
          <a:xfrm>
            <a:off x="2133600" y="45529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58C98B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145" name="Shape 145">
            <a:hlinkClick r:id="rId10" action="ppaction://hlinksldjump"/>
          </p:cNvPr>
          <p:cNvSpPr/>
          <p:nvPr/>
        </p:nvSpPr>
        <p:spPr>
          <a:xfrm>
            <a:off x="2381250" y="21526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46" name="Shape 146"/>
          <p:cNvSpPr/>
          <p:nvPr/>
        </p:nvSpPr>
        <p:spPr>
          <a:xfrm>
            <a:off x="2381250" y="2152650"/>
            <a:ext cx="28575" cy="28575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47" name="Shape 147"/>
          <p:cNvSpPr/>
          <p:nvPr/>
        </p:nvSpPr>
        <p:spPr>
          <a:xfrm>
            <a:off x="2457450" y="21526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58C98B"/>
                </a:solidFill>
                <a:latin typeface="Consolas"/>
              </a:rPr>
              <a:t>09</a:t>
            </a:r>
            <a:endParaRPr lang="en-US" sz="850"/>
          </a:p>
        </p:txBody>
      </p:sp>
      <p:sp>
        <p:nvSpPr>
          <p:cNvPr id="148" name="Shape 148"/>
          <p:cNvSpPr/>
          <p:nvPr/>
        </p:nvSpPr>
        <p:spPr>
          <a:xfrm>
            <a:off x="2762250" y="21526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Context Menu</a:t>
            </a:r>
            <a:endParaRPr lang="en-US" sz="950"/>
          </a:p>
        </p:txBody>
      </p:sp>
      <p:sp>
        <p:nvSpPr>
          <p:cNvPr id="149" name="Shape 149"/>
          <p:cNvSpPr/>
          <p:nvPr/>
        </p:nvSpPr>
        <p:spPr>
          <a:xfrm>
            <a:off x="3981450" y="21526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58C98B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150" name="Shape 150">
            <a:hlinkClick r:id="rId11" action="ppaction://hlinksldjump"/>
          </p:cNvPr>
          <p:cNvSpPr/>
          <p:nvPr/>
        </p:nvSpPr>
        <p:spPr>
          <a:xfrm>
            <a:off x="2381250" y="24955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51" name="Shape 151"/>
          <p:cNvSpPr/>
          <p:nvPr/>
        </p:nvSpPr>
        <p:spPr>
          <a:xfrm>
            <a:off x="2381250" y="2495550"/>
            <a:ext cx="28575" cy="28575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52" name="Shape 152"/>
          <p:cNvSpPr/>
          <p:nvPr/>
        </p:nvSpPr>
        <p:spPr>
          <a:xfrm>
            <a:off x="2457450" y="24955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58C98B"/>
                </a:solidFill>
                <a:latin typeface="Consolas"/>
              </a:rPr>
              <a:t>10</a:t>
            </a:r>
            <a:endParaRPr lang="en-US" sz="850"/>
          </a:p>
        </p:txBody>
      </p:sp>
      <p:sp>
        <p:nvSpPr>
          <p:cNvPr id="153" name="Shape 153"/>
          <p:cNvSpPr/>
          <p:nvPr/>
        </p:nvSpPr>
        <p:spPr>
          <a:xfrm>
            <a:off x="2762250" y="24955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Measurement</a:t>
            </a:r>
            <a:endParaRPr lang="en-US" sz="950"/>
          </a:p>
        </p:txBody>
      </p:sp>
      <p:sp>
        <p:nvSpPr>
          <p:cNvPr id="154" name="Shape 154"/>
          <p:cNvSpPr/>
          <p:nvPr/>
        </p:nvSpPr>
        <p:spPr>
          <a:xfrm>
            <a:off x="3981450" y="24955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58C98B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155" name="Shape 155">
            <a:hlinkClick r:id="rId12" action="ppaction://hlinksldjump"/>
          </p:cNvPr>
          <p:cNvSpPr/>
          <p:nvPr/>
        </p:nvSpPr>
        <p:spPr>
          <a:xfrm>
            <a:off x="2381250" y="28384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56" name="Shape 156"/>
          <p:cNvSpPr/>
          <p:nvPr/>
        </p:nvSpPr>
        <p:spPr>
          <a:xfrm>
            <a:off x="2381250" y="2838450"/>
            <a:ext cx="28575" cy="28575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57" name="Shape 157"/>
          <p:cNvSpPr/>
          <p:nvPr/>
        </p:nvSpPr>
        <p:spPr>
          <a:xfrm>
            <a:off x="2457450" y="28384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58C98B"/>
                </a:solidFill>
                <a:latin typeface="Consolas"/>
              </a:rPr>
              <a:t>11</a:t>
            </a:r>
            <a:endParaRPr lang="en-US" sz="850"/>
          </a:p>
        </p:txBody>
      </p:sp>
      <p:sp>
        <p:nvSpPr>
          <p:cNvPr id="158" name="Shape 158"/>
          <p:cNvSpPr/>
          <p:nvPr/>
        </p:nvSpPr>
        <p:spPr>
          <a:xfrm>
            <a:off x="2762250" y="28384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Drawing Assistance</a:t>
            </a:r>
            <a:endParaRPr lang="en-US" sz="950"/>
          </a:p>
        </p:txBody>
      </p:sp>
      <p:sp>
        <p:nvSpPr>
          <p:cNvPr id="159" name="Shape 159"/>
          <p:cNvSpPr/>
          <p:nvPr/>
        </p:nvSpPr>
        <p:spPr>
          <a:xfrm>
            <a:off x="3981450" y="28384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58C98B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160" name="Shape 160">
            <a:hlinkClick r:id="rId13" action="ppaction://hlinksldjump"/>
          </p:cNvPr>
          <p:cNvSpPr/>
          <p:nvPr/>
        </p:nvSpPr>
        <p:spPr>
          <a:xfrm>
            <a:off x="2381250" y="31813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61" name="Shape 161"/>
          <p:cNvSpPr/>
          <p:nvPr/>
        </p:nvSpPr>
        <p:spPr>
          <a:xfrm>
            <a:off x="2381250" y="3181350"/>
            <a:ext cx="28575" cy="28575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62" name="Shape 162"/>
          <p:cNvSpPr/>
          <p:nvPr/>
        </p:nvSpPr>
        <p:spPr>
          <a:xfrm>
            <a:off x="2457450" y="31813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58C98B"/>
                </a:solidFill>
                <a:latin typeface="Consolas"/>
              </a:rPr>
              <a:t>12</a:t>
            </a:r>
            <a:endParaRPr lang="en-US" sz="850"/>
          </a:p>
        </p:txBody>
      </p:sp>
      <p:sp>
        <p:nvSpPr>
          <p:cNvPr id="163" name="Shape 163"/>
          <p:cNvSpPr/>
          <p:nvPr/>
        </p:nvSpPr>
        <p:spPr>
          <a:xfrm>
            <a:off x="2762250" y="31813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Proximity / Snapping</a:t>
            </a:r>
            <a:endParaRPr lang="en-US" sz="950"/>
          </a:p>
        </p:txBody>
      </p:sp>
      <p:sp>
        <p:nvSpPr>
          <p:cNvPr id="164" name="Shape 164"/>
          <p:cNvSpPr/>
          <p:nvPr/>
        </p:nvSpPr>
        <p:spPr>
          <a:xfrm>
            <a:off x="3981450" y="31813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58C98B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165" name="Shape 165">
            <a:hlinkClick r:id="rId14" action="ppaction://hlinksldjump"/>
          </p:cNvPr>
          <p:cNvSpPr/>
          <p:nvPr/>
        </p:nvSpPr>
        <p:spPr>
          <a:xfrm>
            <a:off x="2381250" y="35242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66" name="Shape 166"/>
          <p:cNvSpPr/>
          <p:nvPr/>
        </p:nvSpPr>
        <p:spPr>
          <a:xfrm>
            <a:off x="2381250" y="3524250"/>
            <a:ext cx="28575" cy="28575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67" name="Shape 167"/>
          <p:cNvSpPr/>
          <p:nvPr/>
        </p:nvSpPr>
        <p:spPr>
          <a:xfrm>
            <a:off x="2457450" y="35242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58C98B"/>
                </a:solidFill>
                <a:latin typeface="Consolas"/>
              </a:rPr>
              <a:t>13</a:t>
            </a:r>
            <a:endParaRPr lang="en-US" sz="850"/>
          </a:p>
        </p:txBody>
      </p:sp>
      <p:sp>
        <p:nvSpPr>
          <p:cNvPr id="168" name="Shape 168"/>
          <p:cNvSpPr/>
          <p:nvPr/>
        </p:nvSpPr>
        <p:spPr>
          <a:xfrm>
            <a:off x="2762250" y="35242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MGRS</a:t>
            </a:r>
            <a:endParaRPr lang="en-US" sz="950"/>
          </a:p>
        </p:txBody>
      </p:sp>
      <p:sp>
        <p:nvSpPr>
          <p:cNvPr id="169" name="Shape 169"/>
          <p:cNvSpPr/>
          <p:nvPr/>
        </p:nvSpPr>
        <p:spPr>
          <a:xfrm>
            <a:off x="3981450" y="35242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58C98B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170" name="Shape 170">
            <a:hlinkClick r:id="rId15" action="ppaction://hlinksldjump"/>
          </p:cNvPr>
          <p:cNvSpPr/>
          <p:nvPr/>
        </p:nvSpPr>
        <p:spPr>
          <a:xfrm>
            <a:off x="2381250" y="38671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71" name="Shape 171"/>
          <p:cNvSpPr/>
          <p:nvPr/>
        </p:nvSpPr>
        <p:spPr>
          <a:xfrm>
            <a:off x="2381250" y="3867150"/>
            <a:ext cx="28575" cy="28575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72" name="Shape 172"/>
          <p:cNvSpPr/>
          <p:nvPr/>
        </p:nvSpPr>
        <p:spPr>
          <a:xfrm>
            <a:off x="2457450" y="38671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58C98B"/>
                </a:solidFill>
                <a:latin typeface="Consolas"/>
              </a:rPr>
              <a:t>14</a:t>
            </a:r>
            <a:endParaRPr lang="en-US" sz="850"/>
          </a:p>
        </p:txBody>
      </p:sp>
      <p:sp>
        <p:nvSpPr>
          <p:cNvPr id="173" name="Shape 173"/>
          <p:cNvSpPr/>
          <p:nvPr/>
        </p:nvSpPr>
        <p:spPr>
          <a:xfrm>
            <a:off x="2762250" y="38671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Import / Export</a:t>
            </a:r>
            <a:endParaRPr lang="en-US" sz="950"/>
          </a:p>
        </p:txBody>
      </p:sp>
      <p:sp>
        <p:nvSpPr>
          <p:cNvPr id="174" name="Shape 174"/>
          <p:cNvSpPr/>
          <p:nvPr/>
        </p:nvSpPr>
        <p:spPr>
          <a:xfrm>
            <a:off x="3981450" y="38671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58C98B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175" name="Shape 175">
            <a:hlinkClick r:id="rId16" action="ppaction://hlinksldjump"/>
          </p:cNvPr>
          <p:cNvSpPr/>
          <p:nvPr/>
        </p:nvSpPr>
        <p:spPr>
          <a:xfrm>
            <a:off x="2381250" y="42100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76" name="Shape 176"/>
          <p:cNvSpPr/>
          <p:nvPr/>
        </p:nvSpPr>
        <p:spPr>
          <a:xfrm>
            <a:off x="2381250" y="4210050"/>
            <a:ext cx="28575" cy="28575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77" name="Shape 177"/>
          <p:cNvSpPr/>
          <p:nvPr/>
        </p:nvSpPr>
        <p:spPr>
          <a:xfrm>
            <a:off x="2457450" y="42100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58C98B"/>
                </a:solidFill>
                <a:latin typeface="Consolas"/>
              </a:rPr>
              <a:t>15</a:t>
            </a:r>
            <a:endParaRPr lang="en-US" sz="850"/>
          </a:p>
        </p:txBody>
      </p:sp>
      <p:sp>
        <p:nvSpPr>
          <p:cNvPr id="178" name="Shape 178"/>
          <p:cNvSpPr/>
          <p:nvPr/>
        </p:nvSpPr>
        <p:spPr>
          <a:xfrm>
            <a:off x="2762250" y="42100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Settings / Widgets</a:t>
            </a:r>
            <a:endParaRPr lang="en-US" sz="950"/>
          </a:p>
        </p:txBody>
      </p:sp>
      <p:sp>
        <p:nvSpPr>
          <p:cNvPr id="179" name="Shape 179"/>
          <p:cNvSpPr/>
          <p:nvPr/>
        </p:nvSpPr>
        <p:spPr>
          <a:xfrm>
            <a:off x="3981450" y="42100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58C98B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180" name="Shape 180"/>
          <p:cNvSpPr/>
          <p:nvPr/>
        </p:nvSpPr>
        <p:spPr>
          <a:xfrm>
            <a:off x="4343400" y="1600200"/>
            <a:ext cx="57150" cy="4191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81" name="Shape 181"/>
          <p:cNvSpPr/>
          <p:nvPr/>
        </p:nvSpPr>
        <p:spPr>
          <a:xfrm>
            <a:off x="4495800" y="163830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EF9F27"/>
                </a:solidFill>
                <a:latin typeface="Aptos"/>
              </a:rPr>
              <a:t>02</a:t>
            </a:r>
            <a:endParaRPr lang="en-US" sz="950"/>
          </a:p>
        </p:txBody>
      </p:sp>
      <p:sp>
        <p:nvSpPr>
          <p:cNvPr id="182" name="Shape 182"/>
          <p:cNvSpPr/>
          <p:nvPr/>
        </p:nvSpPr>
        <p:spPr>
          <a:xfrm>
            <a:off x="4495800" y="1771650"/>
            <a:ext cx="285750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700" b="1">
                <a:solidFill>
                  <a:srgbClr val="F4F7F4"/>
                </a:solidFill>
                <a:latin typeface="Aptos"/>
              </a:rPr>
              <a:t>Engines</a:t>
            </a:r>
            <a:endParaRPr lang="en-US" sz="1700"/>
          </a:p>
        </p:txBody>
      </p:sp>
      <p:sp>
        <p:nvSpPr>
          <p:cNvPr id="183" name="Shape 183"/>
          <p:cNvSpPr/>
          <p:nvPr/>
        </p:nvSpPr>
        <p:spPr>
          <a:xfrm>
            <a:off x="7429500" y="1714500"/>
            <a:ext cx="533400" cy="209550"/>
          </a:xfrm>
          <a:prstGeom prst="roundRect">
            <a:avLst/>
          </a:prstGeom>
          <a:solidFill>
            <a:srgbClr val="17242A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950" b="1">
                <a:solidFill>
                  <a:srgbClr val="EF9F27"/>
                </a:solidFill>
                <a:latin typeface="Aptos"/>
              </a:rPr>
              <a:t>18 items</a:t>
            </a:r>
            <a:endParaRPr lang="en-US" sz="950"/>
          </a:p>
        </p:txBody>
      </p:sp>
      <p:cxnSp>
        <p:nvCxnSpPr>
          <p:cNvPr id="184" name="Line 184"/>
          <p:cNvCxnSpPr/>
          <p:nvPr/>
        </p:nvCxnSpPr>
        <p:spPr>
          <a:xfrm flipV="0">
            <a:off x="4343400" y="2057400"/>
            <a:ext cx="3619500" cy="9525"/>
          </a:xfrm>
          <a:prstGeom prst="line">
            <a:avLst/>
          </a:prstGeom>
          <a:ln w="15240">
            <a:solidFill>
              <a:srgbClr val="EF9F27"/>
            </a:solidFill>
          </a:ln>
        </p:spPr>
        <p:style/>
      </p:cxnSp>
      <p:sp>
        <p:nvSpPr>
          <p:cNvPr id="185" name="Shape 185">
            <a:hlinkClick r:id="rId17" action="ppaction://hlinksldjump"/>
          </p:cNvPr>
          <p:cNvSpPr/>
          <p:nvPr/>
        </p:nvSpPr>
        <p:spPr>
          <a:xfrm>
            <a:off x="4343400" y="21526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86" name="Shape 186"/>
          <p:cNvSpPr/>
          <p:nvPr/>
        </p:nvSpPr>
        <p:spPr>
          <a:xfrm>
            <a:off x="4343400" y="2152650"/>
            <a:ext cx="28575" cy="28575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87" name="Shape 187"/>
          <p:cNvSpPr/>
          <p:nvPr/>
        </p:nvSpPr>
        <p:spPr>
          <a:xfrm>
            <a:off x="4419600" y="21526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EF9F27"/>
                </a:solidFill>
                <a:latin typeface="Consolas"/>
              </a:rPr>
              <a:t>01</a:t>
            </a:r>
            <a:endParaRPr lang="en-US" sz="850"/>
          </a:p>
        </p:txBody>
      </p:sp>
      <p:sp>
        <p:nvSpPr>
          <p:cNvPr id="188" name="Shape 188"/>
          <p:cNvSpPr/>
          <p:nvPr/>
        </p:nvSpPr>
        <p:spPr>
          <a:xfrm>
            <a:off x="4724400" y="21526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SymbolEngine</a:t>
            </a:r>
            <a:endParaRPr lang="en-US" sz="950"/>
          </a:p>
        </p:txBody>
      </p:sp>
      <p:sp>
        <p:nvSpPr>
          <p:cNvPr id="189" name="Shape 189"/>
          <p:cNvSpPr/>
          <p:nvPr/>
        </p:nvSpPr>
        <p:spPr>
          <a:xfrm>
            <a:off x="5943600" y="21526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EF9F27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190" name="Shape 190">
            <a:hlinkClick r:id="rId18" action="ppaction://hlinksldjump"/>
          </p:cNvPr>
          <p:cNvSpPr/>
          <p:nvPr/>
        </p:nvSpPr>
        <p:spPr>
          <a:xfrm>
            <a:off x="4343400" y="24955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1" name="Shape 191"/>
          <p:cNvSpPr/>
          <p:nvPr/>
        </p:nvSpPr>
        <p:spPr>
          <a:xfrm>
            <a:off x="4343400" y="2495550"/>
            <a:ext cx="28575" cy="28575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92" name="Shape 192"/>
          <p:cNvSpPr/>
          <p:nvPr/>
        </p:nvSpPr>
        <p:spPr>
          <a:xfrm>
            <a:off x="4419600" y="24955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EF9F27"/>
                </a:solidFill>
                <a:latin typeface="Consolas"/>
              </a:rPr>
              <a:t>02</a:t>
            </a:r>
            <a:endParaRPr lang="en-US" sz="850"/>
          </a:p>
        </p:txBody>
      </p:sp>
      <p:sp>
        <p:nvSpPr>
          <p:cNvPr id="193" name="Shape 193"/>
          <p:cNvSpPr/>
          <p:nvPr/>
        </p:nvSpPr>
        <p:spPr>
          <a:xfrm>
            <a:off x="4724400" y="24955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EditEngine</a:t>
            </a:r>
            <a:endParaRPr lang="en-US" sz="950"/>
          </a:p>
        </p:txBody>
      </p:sp>
      <p:sp>
        <p:nvSpPr>
          <p:cNvPr id="194" name="Shape 194"/>
          <p:cNvSpPr/>
          <p:nvPr/>
        </p:nvSpPr>
        <p:spPr>
          <a:xfrm>
            <a:off x="5943600" y="24955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EF9F27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195" name="Shape 195">
            <a:hlinkClick r:id="rId19" action="ppaction://hlinksldjump"/>
          </p:cNvPr>
          <p:cNvSpPr/>
          <p:nvPr/>
        </p:nvSpPr>
        <p:spPr>
          <a:xfrm>
            <a:off x="4343400" y="28384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6" name="Shape 196"/>
          <p:cNvSpPr/>
          <p:nvPr/>
        </p:nvSpPr>
        <p:spPr>
          <a:xfrm>
            <a:off x="4343400" y="2838450"/>
            <a:ext cx="28575" cy="28575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97" name="Shape 197"/>
          <p:cNvSpPr/>
          <p:nvPr/>
        </p:nvSpPr>
        <p:spPr>
          <a:xfrm>
            <a:off x="4419600" y="28384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EF9F27"/>
                </a:solidFill>
                <a:latin typeface="Consolas"/>
              </a:rPr>
              <a:t>03</a:t>
            </a:r>
            <a:endParaRPr lang="en-US" sz="850"/>
          </a:p>
        </p:txBody>
      </p:sp>
      <p:sp>
        <p:nvSpPr>
          <p:cNvPr id="198" name="Shape 198"/>
          <p:cNvSpPr/>
          <p:nvPr/>
        </p:nvSpPr>
        <p:spPr>
          <a:xfrm>
            <a:off x="4724400" y="28384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SelectionEngine</a:t>
            </a:r>
            <a:endParaRPr lang="en-US" sz="950"/>
          </a:p>
        </p:txBody>
      </p:sp>
      <p:sp>
        <p:nvSpPr>
          <p:cNvPr id="199" name="Shape 199"/>
          <p:cNvSpPr/>
          <p:nvPr/>
        </p:nvSpPr>
        <p:spPr>
          <a:xfrm>
            <a:off x="5943600" y="28384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EF9F27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200" name="Shape 200">
            <a:hlinkClick r:id="rId20" action="ppaction://hlinksldjump"/>
          </p:cNvPr>
          <p:cNvSpPr/>
          <p:nvPr/>
        </p:nvSpPr>
        <p:spPr>
          <a:xfrm>
            <a:off x="4343400" y="31813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Shape 201"/>
          <p:cNvSpPr/>
          <p:nvPr/>
        </p:nvSpPr>
        <p:spPr>
          <a:xfrm>
            <a:off x="4343400" y="3181350"/>
            <a:ext cx="28575" cy="28575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2" name="Shape 202"/>
          <p:cNvSpPr/>
          <p:nvPr/>
        </p:nvSpPr>
        <p:spPr>
          <a:xfrm>
            <a:off x="4419600" y="31813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EF9F27"/>
                </a:solidFill>
                <a:latin typeface="Consolas"/>
              </a:rPr>
              <a:t>04</a:t>
            </a:r>
            <a:endParaRPr lang="en-US" sz="850"/>
          </a:p>
        </p:txBody>
      </p:sp>
      <p:sp>
        <p:nvSpPr>
          <p:cNvPr id="203" name="Shape 203"/>
          <p:cNvSpPr/>
          <p:nvPr/>
        </p:nvSpPr>
        <p:spPr>
          <a:xfrm>
            <a:off x="4724400" y="31813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ClipboardEngine</a:t>
            </a:r>
            <a:endParaRPr lang="en-US" sz="950"/>
          </a:p>
        </p:txBody>
      </p:sp>
      <p:sp>
        <p:nvSpPr>
          <p:cNvPr id="204" name="Shape 204"/>
          <p:cNvSpPr/>
          <p:nvPr/>
        </p:nvSpPr>
        <p:spPr>
          <a:xfrm>
            <a:off x="5943600" y="31813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EF9F27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205" name="Shape 205">
            <a:hlinkClick r:id="rId21" action="ppaction://hlinksldjump"/>
          </p:cNvPr>
          <p:cNvSpPr/>
          <p:nvPr/>
        </p:nvSpPr>
        <p:spPr>
          <a:xfrm>
            <a:off x="4343400" y="35242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6" name="Shape 206"/>
          <p:cNvSpPr/>
          <p:nvPr/>
        </p:nvSpPr>
        <p:spPr>
          <a:xfrm>
            <a:off x="4343400" y="3524250"/>
            <a:ext cx="28575" cy="28575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7" name="Shape 207"/>
          <p:cNvSpPr/>
          <p:nvPr/>
        </p:nvSpPr>
        <p:spPr>
          <a:xfrm>
            <a:off x="4419600" y="35242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EF9F27"/>
                </a:solidFill>
                <a:latin typeface="Consolas"/>
              </a:rPr>
              <a:t>05</a:t>
            </a:r>
            <a:endParaRPr lang="en-US" sz="850"/>
          </a:p>
        </p:txBody>
      </p:sp>
      <p:sp>
        <p:nvSpPr>
          <p:cNvPr id="208" name="Shape 208"/>
          <p:cNvSpPr/>
          <p:nvPr/>
        </p:nvSpPr>
        <p:spPr>
          <a:xfrm>
            <a:off x="4724400" y="35242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UndoRedoManager</a:t>
            </a:r>
            <a:endParaRPr lang="en-US" sz="950"/>
          </a:p>
        </p:txBody>
      </p:sp>
      <p:sp>
        <p:nvSpPr>
          <p:cNvPr id="209" name="Shape 209"/>
          <p:cNvSpPr/>
          <p:nvPr/>
        </p:nvSpPr>
        <p:spPr>
          <a:xfrm>
            <a:off x="5943600" y="35242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EF9F27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210" name="Shape 210">
            <a:hlinkClick r:id="rId22" action="ppaction://hlinksldjump"/>
          </p:cNvPr>
          <p:cNvSpPr/>
          <p:nvPr/>
        </p:nvSpPr>
        <p:spPr>
          <a:xfrm>
            <a:off x="4343400" y="38671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11" name="Shape 211"/>
          <p:cNvSpPr/>
          <p:nvPr/>
        </p:nvSpPr>
        <p:spPr>
          <a:xfrm>
            <a:off x="4343400" y="3867150"/>
            <a:ext cx="28575" cy="28575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2" name="Shape 212"/>
          <p:cNvSpPr/>
          <p:nvPr/>
        </p:nvSpPr>
        <p:spPr>
          <a:xfrm>
            <a:off x="4419600" y="38671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EF9F27"/>
                </a:solidFill>
                <a:latin typeface="Consolas"/>
              </a:rPr>
              <a:t>06</a:t>
            </a:r>
            <a:endParaRPr lang="en-US" sz="850"/>
          </a:p>
        </p:txBody>
      </p:sp>
      <p:sp>
        <p:nvSpPr>
          <p:cNvPr id="213" name="Shape 213"/>
          <p:cNvSpPr/>
          <p:nvPr/>
        </p:nvSpPr>
        <p:spPr>
          <a:xfrm>
            <a:off x="4724400" y="38671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KeyboardShortcutManager</a:t>
            </a:r>
            <a:endParaRPr lang="en-US" sz="950"/>
          </a:p>
        </p:txBody>
      </p:sp>
      <p:sp>
        <p:nvSpPr>
          <p:cNvPr id="214" name="Shape 214"/>
          <p:cNvSpPr/>
          <p:nvPr/>
        </p:nvSpPr>
        <p:spPr>
          <a:xfrm>
            <a:off x="5943600" y="38671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EF9F27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215" name="Shape 215">
            <a:hlinkClick r:id="rId23" action="ppaction://hlinksldjump"/>
          </p:cNvPr>
          <p:cNvSpPr/>
          <p:nvPr/>
        </p:nvSpPr>
        <p:spPr>
          <a:xfrm>
            <a:off x="4343400" y="42100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16" name="Shape 216"/>
          <p:cNvSpPr/>
          <p:nvPr/>
        </p:nvSpPr>
        <p:spPr>
          <a:xfrm>
            <a:off x="4343400" y="4210050"/>
            <a:ext cx="28575" cy="28575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7" name="Shape 217"/>
          <p:cNvSpPr/>
          <p:nvPr/>
        </p:nvSpPr>
        <p:spPr>
          <a:xfrm>
            <a:off x="4419600" y="42100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EF9F27"/>
                </a:solidFill>
                <a:latin typeface="Consolas"/>
              </a:rPr>
              <a:t>07</a:t>
            </a:r>
            <a:endParaRPr lang="en-US" sz="850"/>
          </a:p>
        </p:txBody>
      </p:sp>
      <p:sp>
        <p:nvSpPr>
          <p:cNvPr id="218" name="Shape 218"/>
          <p:cNvSpPr/>
          <p:nvPr/>
        </p:nvSpPr>
        <p:spPr>
          <a:xfrm>
            <a:off x="4724400" y="42100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AnnotationEngine</a:t>
            </a:r>
            <a:endParaRPr lang="en-US" sz="950"/>
          </a:p>
        </p:txBody>
      </p:sp>
      <p:sp>
        <p:nvSpPr>
          <p:cNvPr id="219" name="Shape 219"/>
          <p:cNvSpPr/>
          <p:nvPr/>
        </p:nvSpPr>
        <p:spPr>
          <a:xfrm>
            <a:off x="5943600" y="42100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EF9F27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220" name="Shape 220">
            <a:hlinkClick r:id="rId24" action="ppaction://hlinksldjump"/>
          </p:cNvPr>
          <p:cNvSpPr/>
          <p:nvPr/>
        </p:nvSpPr>
        <p:spPr>
          <a:xfrm>
            <a:off x="4343400" y="45529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21" name="Shape 221"/>
          <p:cNvSpPr/>
          <p:nvPr/>
        </p:nvSpPr>
        <p:spPr>
          <a:xfrm>
            <a:off x="4343400" y="4552950"/>
            <a:ext cx="28575" cy="28575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22" name="Shape 222"/>
          <p:cNvSpPr/>
          <p:nvPr/>
        </p:nvSpPr>
        <p:spPr>
          <a:xfrm>
            <a:off x="4419600" y="45529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EF9F27"/>
                </a:solidFill>
                <a:latin typeface="Consolas"/>
              </a:rPr>
              <a:t>08</a:t>
            </a:r>
            <a:endParaRPr lang="en-US" sz="850"/>
          </a:p>
        </p:txBody>
      </p:sp>
      <p:sp>
        <p:nvSpPr>
          <p:cNvPr id="223" name="Shape 223"/>
          <p:cNvSpPr/>
          <p:nvPr/>
        </p:nvSpPr>
        <p:spPr>
          <a:xfrm>
            <a:off x="4724400" y="45529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MeasurementEngine</a:t>
            </a:r>
            <a:endParaRPr lang="en-US" sz="950"/>
          </a:p>
        </p:txBody>
      </p:sp>
      <p:sp>
        <p:nvSpPr>
          <p:cNvPr id="224" name="Shape 224"/>
          <p:cNvSpPr/>
          <p:nvPr/>
        </p:nvSpPr>
        <p:spPr>
          <a:xfrm>
            <a:off x="5943600" y="45529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EF9F27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225" name="Shape 225">
            <a:hlinkClick r:id="rId25" action="ppaction://hlinksldjump"/>
          </p:cNvPr>
          <p:cNvSpPr/>
          <p:nvPr/>
        </p:nvSpPr>
        <p:spPr>
          <a:xfrm>
            <a:off x="4343400" y="48958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26" name="Shape 226"/>
          <p:cNvSpPr/>
          <p:nvPr/>
        </p:nvSpPr>
        <p:spPr>
          <a:xfrm>
            <a:off x="4343400" y="4895850"/>
            <a:ext cx="28575" cy="28575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27" name="Shape 227"/>
          <p:cNvSpPr/>
          <p:nvPr/>
        </p:nvSpPr>
        <p:spPr>
          <a:xfrm>
            <a:off x="4419600" y="48958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EF9F27"/>
                </a:solidFill>
                <a:latin typeface="Consolas"/>
              </a:rPr>
              <a:t>09</a:t>
            </a:r>
            <a:endParaRPr lang="en-US" sz="850"/>
          </a:p>
        </p:txBody>
      </p:sp>
      <p:sp>
        <p:nvSpPr>
          <p:cNvPr id="228" name="Shape 228"/>
          <p:cNvSpPr/>
          <p:nvPr/>
        </p:nvSpPr>
        <p:spPr>
          <a:xfrm>
            <a:off x="4724400" y="48958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DrawingCueEngine</a:t>
            </a:r>
            <a:endParaRPr lang="en-US" sz="950"/>
          </a:p>
        </p:txBody>
      </p:sp>
      <p:sp>
        <p:nvSpPr>
          <p:cNvPr id="229" name="Shape 229"/>
          <p:cNvSpPr/>
          <p:nvPr/>
        </p:nvSpPr>
        <p:spPr>
          <a:xfrm>
            <a:off x="5943600" y="48958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EF9F27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230" name="Shape 230">
            <a:hlinkClick r:id="rId26" action="ppaction://hlinksldjump"/>
          </p:cNvPr>
          <p:cNvSpPr/>
          <p:nvPr/>
        </p:nvSpPr>
        <p:spPr>
          <a:xfrm>
            <a:off x="6191250" y="21526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31" name="Shape 231"/>
          <p:cNvSpPr/>
          <p:nvPr/>
        </p:nvSpPr>
        <p:spPr>
          <a:xfrm>
            <a:off x="6191250" y="2152650"/>
            <a:ext cx="28575" cy="28575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32" name="Shape 232"/>
          <p:cNvSpPr/>
          <p:nvPr/>
        </p:nvSpPr>
        <p:spPr>
          <a:xfrm>
            <a:off x="6267450" y="21526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EF9F27"/>
                </a:solidFill>
                <a:latin typeface="Consolas"/>
              </a:rPr>
              <a:t>10</a:t>
            </a:r>
            <a:endParaRPr lang="en-US" sz="850"/>
          </a:p>
        </p:txBody>
      </p:sp>
      <p:sp>
        <p:nvSpPr>
          <p:cNvPr id="233" name="Shape 233"/>
          <p:cNvSpPr/>
          <p:nvPr/>
        </p:nvSpPr>
        <p:spPr>
          <a:xfrm>
            <a:off x="6572250" y="21526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ProximityEngine</a:t>
            </a:r>
            <a:endParaRPr lang="en-US" sz="950"/>
          </a:p>
        </p:txBody>
      </p:sp>
      <p:sp>
        <p:nvSpPr>
          <p:cNvPr id="234" name="Shape 234"/>
          <p:cNvSpPr/>
          <p:nvPr/>
        </p:nvSpPr>
        <p:spPr>
          <a:xfrm>
            <a:off x="7791450" y="21526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EF9F27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235" name="Shape 235">
            <a:hlinkClick r:id="rId27" action="ppaction://hlinksldjump"/>
          </p:cNvPr>
          <p:cNvSpPr/>
          <p:nvPr/>
        </p:nvSpPr>
        <p:spPr>
          <a:xfrm>
            <a:off x="6191250" y="24955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36" name="Shape 236"/>
          <p:cNvSpPr/>
          <p:nvPr/>
        </p:nvSpPr>
        <p:spPr>
          <a:xfrm>
            <a:off x="6191250" y="2495550"/>
            <a:ext cx="28575" cy="28575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37" name="Shape 237"/>
          <p:cNvSpPr/>
          <p:nvPr/>
        </p:nvSpPr>
        <p:spPr>
          <a:xfrm>
            <a:off x="6267450" y="24955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EF9F27"/>
                </a:solidFill>
                <a:latin typeface="Consolas"/>
              </a:rPr>
              <a:t>11</a:t>
            </a:r>
            <a:endParaRPr lang="en-US" sz="850"/>
          </a:p>
        </p:txBody>
      </p:sp>
      <p:sp>
        <p:nvSpPr>
          <p:cNvPr id="238" name="Shape 238"/>
          <p:cNvSpPr/>
          <p:nvPr/>
        </p:nvSpPr>
        <p:spPr>
          <a:xfrm>
            <a:off x="6572250" y="24955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MGRSEngine</a:t>
            </a:r>
            <a:endParaRPr lang="en-US" sz="950"/>
          </a:p>
        </p:txBody>
      </p:sp>
      <p:sp>
        <p:nvSpPr>
          <p:cNvPr id="239" name="Shape 239"/>
          <p:cNvSpPr/>
          <p:nvPr/>
        </p:nvSpPr>
        <p:spPr>
          <a:xfrm>
            <a:off x="7791450" y="24955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EF9F27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240" name="Shape 240">
            <a:hlinkClick r:id="rId28" action="ppaction://hlinksldjump"/>
          </p:cNvPr>
          <p:cNvSpPr/>
          <p:nvPr/>
        </p:nvSpPr>
        <p:spPr>
          <a:xfrm>
            <a:off x="6191250" y="28384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41" name="Shape 241"/>
          <p:cNvSpPr/>
          <p:nvPr/>
        </p:nvSpPr>
        <p:spPr>
          <a:xfrm>
            <a:off x="6191250" y="2838450"/>
            <a:ext cx="28575" cy="28575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42" name="Shape 242"/>
          <p:cNvSpPr/>
          <p:nvPr/>
        </p:nvSpPr>
        <p:spPr>
          <a:xfrm>
            <a:off x="6267450" y="28384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EF9F27"/>
                </a:solidFill>
                <a:latin typeface="Consolas"/>
              </a:rPr>
              <a:t>12</a:t>
            </a:r>
            <a:endParaRPr lang="en-US" sz="850"/>
          </a:p>
        </p:txBody>
      </p:sp>
      <p:sp>
        <p:nvSpPr>
          <p:cNvPr id="243" name="Shape 243"/>
          <p:cNvSpPr/>
          <p:nvPr/>
        </p:nvSpPr>
        <p:spPr>
          <a:xfrm>
            <a:off x="6572250" y="28384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Symbol Support Engines</a:t>
            </a:r>
            <a:endParaRPr lang="en-US" sz="950"/>
          </a:p>
        </p:txBody>
      </p:sp>
      <p:sp>
        <p:nvSpPr>
          <p:cNvPr id="244" name="Shape 244"/>
          <p:cNvSpPr/>
          <p:nvPr/>
        </p:nvSpPr>
        <p:spPr>
          <a:xfrm>
            <a:off x="7791450" y="28384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EF9F27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245" name="Shape 245">
            <a:hlinkClick r:id="rId29" action="ppaction://hlinksldjump"/>
          </p:cNvPr>
          <p:cNvSpPr/>
          <p:nvPr/>
        </p:nvSpPr>
        <p:spPr>
          <a:xfrm>
            <a:off x="6191250" y="31813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46" name="Shape 246"/>
          <p:cNvSpPr/>
          <p:nvPr/>
        </p:nvSpPr>
        <p:spPr>
          <a:xfrm>
            <a:off x="6191250" y="3181350"/>
            <a:ext cx="28575" cy="28575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47" name="Shape 247"/>
          <p:cNvSpPr/>
          <p:nvPr/>
        </p:nvSpPr>
        <p:spPr>
          <a:xfrm>
            <a:off x="6267450" y="31813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EF9F27"/>
                </a:solidFill>
                <a:latin typeface="Consolas"/>
              </a:rPr>
              <a:t>13</a:t>
            </a:r>
            <a:endParaRPr lang="en-US" sz="850"/>
          </a:p>
        </p:txBody>
      </p:sp>
      <p:sp>
        <p:nvSpPr>
          <p:cNvPr id="248" name="Shape 248"/>
          <p:cNvSpPr/>
          <p:nvPr/>
        </p:nvSpPr>
        <p:spPr>
          <a:xfrm>
            <a:off x="6572250" y="31813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Visualization / Declutter</a:t>
            </a:r>
            <a:endParaRPr lang="en-US" sz="950"/>
          </a:p>
        </p:txBody>
      </p:sp>
      <p:sp>
        <p:nvSpPr>
          <p:cNvPr id="249" name="Shape 249"/>
          <p:cNvSpPr/>
          <p:nvPr/>
        </p:nvSpPr>
        <p:spPr>
          <a:xfrm>
            <a:off x="7791450" y="31813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EF9F27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250" name="Shape 250">
            <a:hlinkClick r:id="rId30" action="ppaction://hlinksldjump"/>
          </p:cNvPr>
          <p:cNvSpPr/>
          <p:nvPr/>
        </p:nvSpPr>
        <p:spPr>
          <a:xfrm>
            <a:off x="6191250" y="35242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1" name="Shape 251"/>
          <p:cNvSpPr/>
          <p:nvPr/>
        </p:nvSpPr>
        <p:spPr>
          <a:xfrm>
            <a:off x="6191250" y="3524250"/>
            <a:ext cx="28575" cy="28575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52" name="Shape 252"/>
          <p:cNvSpPr/>
          <p:nvPr/>
        </p:nvSpPr>
        <p:spPr>
          <a:xfrm>
            <a:off x="6267450" y="35242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EF9F27"/>
                </a:solidFill>
                <a:latin typeface="Consolas"/>
              </a:rPr>
              <a:t>14</a:t>
            </a:r>
            <a:endParaRPr lang="en-US" sz="850"/>
          </a:p>
        </p:txBody>
      </p:sp>
      <p:sp>
        <p:nvSpPr>
          <p:cNvPr id="253" name="Shape 253"/>
          <p:cNvSpPr/>
          <p:nvPr/>
        </p:nvSpPr>
        <p:spPr>
          <a:xfrm>
            <a:off x="6572250" y="35242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MorphixEngine</a:t>
            </a:r>
            <a:endParaRPr lang="en-US" sz="950"/>
          </a:p>
        </p:txBody>
      </p:sp>
      <p:sp>
        <p:nvSpPr>
          <p:cNvPr id="254" name="Shape 254"/>
          <p:cNvSpPr/>
          <p:nvPr/>
        </p:nvSpPr>
        <p:spPr>
          <a:xfrm>
            <a:off x="7791450" y="35242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EF9F27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255" name="Shape 255">
            <a:hlinkClick r:id="rId31" action="ppaction://hlinksldjump"/>
          </p:cNvPr>
          <p:cNvSpPr/>
          <p:nvPr/>
        </p:nvSpPr>
        <p:spPr>
          <a:xfrm>
            <a:off x="6191250" y="38671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6" name="Shape 256"/>
          <p:cNvSpPr/>
          <p:nvPr/>
        </p:nvSpPr>
        <p:spPr>
          <a:xfrm>
            <a:off x="6191250" y="3867150"/>
            <a:ext cx="28575" cy="28575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57" name="Shape 257"/>
          <p:cNvSpPr/>
          <p:nvPr/>
        </p:nvSpPr>
        <p:spPr>
          <a:xfrm>
            <a:off x="6267450" y="38671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EF9F27"/>
                </a:solidFill>
                <a:latin typeface="Consolas"/>
              </a:rPr>
              <a:t>15</a:t>
            </a:r>
            <a:endParaRPr lang="en-US" sz="850"/>
          </a:p>
        </p:txBody>
      </p:sp>
      <p:sp>
        <p:nvSpPr>
          <p:cNvPr id="258" name="Shape 258"/>
          <p:cNvSpPr/>
          <p:nvPr/>
        </p:nvSpPr>
        <p:spPr>
          <a:xfrm>
            <a:off x="6572250" y="38671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ImportExport Engines</a:t>
            </a:r>
            <a:endParaRPr lang="en-US" sz="950"/>
          </a:p>
        </p:txBody>
      </p:sp>
      <p:sp>
        <p:nvSpPr>
          <p:cNvPr id="259" name="Shape 259"/>
          <p:cNvSpPr/>
          <p:nvPr/>
        </p:nvSpPr>
        <p:spPr>
          <a:xfrm>
            <a:off x="7791450" y="38671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EF9F27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260" name="Shape 260">
            <a:hlinkClick r:id="rId32" action="ppaction://hlinksldjump"/>
          </p:cNvPr>
          <p:cNvSpPr/>
          <p:nvPr/>
        </p:nvSpPr>
        <p:spPr>
          <a:xfrm>
            <a:off x="6191250" y="42100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61" name="Shape 261"/>
          <p:cNvSpPr/>
          <p:nvPr/>
        </p:nvSpPr>
        <p:spPr>
          <a:xfrm>
            <a:off x="6191250" y="4210050"/>
            <a:ext cx="28575" cy="28575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62" name="Shape 262"/>
          <p:cNvSpPr/>
          <p:nvPr/>
        </p:nvSpPr>
        <p:spPr>
          <a:xfrm>
            <a:off x="6267450" y="42100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EF9F27"/>
                </a:solidFill>
                <a:latin typeface="Consolas"/>
              </a:rPr>
              <a:t>16</a:t>
            </a:r>
            <a:endParaRPr lang="en-US" sz="850"/>
          </a:p>
        </p:txBody>
      </p:sp>
      <p:sp>
        <p:nvSpPr>
          <p:cNvPr id="263" name="Shape 263"/>
          <p:cNvSpPr/>
          <p:nvPr/>
        </p:nvSpPr>
        <p:spPr>
          <a:xfrm>
            <a:off x="6572250" y="42100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DeploymentBuilder / MissionPlanner</a:t>
            </a:r>
            <a:endParaRPr lang="en-US" sz="950"/>
          </a:p>
        </p:txBody>
      </p:sp>
      <p:sp>
        <p:nvSpPr>
          <p:cNvPr id="264" name="Shape 264"/>
          <p:cNvSpPr/>
          <p:nvPr/>
        </p:nvSpPr>
        <p:spPr>
          <a:xfrm>
            <a:off x="7791450" y="42100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EF9F27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265" name="Shape 265">
            <a:hlinkClick r:id="rId33" action="ppaction://hlinksldjump"/>
          </p:cNvPr>
          <p:cNvSpPr/>
          <p:nvPr/>
        </p:nvSpPr>
        <p:spPr>
          <a:xfrm>
            <a:off x="6191250" y="45529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66" name="Shape 266"/>
          <p:cNvSpPr/>
          <p:nvPr/>
        </p:nvSpPr>
        <p:spPr>
          <a:xfrm>
            <a:off x="6191250" y="4552950"/>
            <a:ext cx="28575" cy="28575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67" name="Shape 267"/>
          <p:cNvSpPr/>
          <p:nvPr/>
        </p:nvSpPr>
        <p:spPr>
          <a:xfrm>
            <a:off x="6267450" y="45529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EF9F27"/>
                </a:solidFill>
                <a:latin typeface="Consolas"/>
              </a:rPr>
              <a:t>17</a:t>
            </a:r>
            <a:endParaRPr lang="en-US" sz="850"/>
          </a:p>
        </p:txBody>
      </p:sp>
      <p:sp>
        <p:nvSpPr>
          <p:cNvPr id="268" name="Shape 268"/>
          <p:cNvSpPr/>
          <p:nvPr/>
        </p:nvSpPr>
        <p:spPr>
          <a:xfrm>
            <a:off x="6572250" y="45529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OCOKA</a:t>
            </a:r>
            <a:endParaRPr lang="en-US" sz="950"/>
          </a:p>
        </p:txBody>
      </p:sp>
      <p:sp>
        <p:nvSpPr>
          <p:cNvPr id="269" name="Shape 269"/>
          <p:cNvSpPr/>
          <p:nvPr/>
        </p:nvSpPr>
        <p:spPr>
          <a:xfrm>
            <a:off x="7791450" y="45529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EF9F27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270" name="Shape 270">
            <a:hlinkClick r:id="rId34" action="ppaction://hlinksldjump"/>
          </p:cNvPr>
          <p:cNvSpPr/>
          <p:nvPr/>
        </p:nvSpPr>
        <p:spPr>
          <a:xfrm>
            <a:off x="6191250" y="4895850"/>
            <a:ext cx="177165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71" name="Shape 271"/>
          <p:cNvSpPr/>
          <p:nvPr/>
        </p:nvSpPr>
        <p:spPr>
          <a:xfrm>
            <a:off x="6191250" y="4895850"/>
            <a:ext cx="28575" cy="28575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2" name="Shape 272"/>
          <p:cNvSpPr/>
          <p:nvPr/>
        </p:nvSpPr>
        <p:spPr>
          <a:xfrm>
            <a:off x="6267450" y="48958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EF9F27"/>
                </a:solidFill>
                <a:latin typeface="Consolas"/>
              </a:rPr>
              <a:t>18</a:t>
            </a:r>
            <a:endParaRPr lang="en-US" sz="850"/>
          </a:p>
        </p:txBody>
      </p:sp>
      <p:sp>
        <p:nvSpPr>
          <p:cNvPr id="273" name="Shape 273"/>
          <p:cNvSpPr/>
          <p:nvPr/>
        </p:nvSpPr>
        <p:spPr>
          <a:xfrm>
            <a:off x="6572250" y="4895850"/>
            <a:ext cx="12192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F4F7F4"/>
                </a:solidFill>
                <a:latin typeface="Aptos"/>
              </a:rPr>
              <a:t>RoadNetwork / Trafficability</a:t>
            </a:r>
            <a:endParaRPr lang="en-US" sz="950"/>
          </a:p>
        </p:txBody>
      </p:sp>
      <p:sp>
        <p:nvSpPr>
          <p:cNvPr id="274" name="Shape 274"/>
          <p:cNvSpPr/>
          <p:nvPr/>
        </p:nvSpPr>
        <p:spPr>
          <a:xfrm>
            <a:off x="7791450" y="48958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EF9F27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275" name="Shape 275"/>
          <p:cNvSpPr/>
          <p:nvPr/>
        </p:nvSpPr>
        <p:spPr>
          <a:xfrm>
            <a:off x="8153400" y="1600200"/>
            <a:ext cx="57150" cy="4191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76" name="Shape 276"/>
          <p:cNvSpPr/>
          <p:nvPr/>
        </p:nvSpPr>
        <p:spPr>
          <a:xfrm>
            <a:off x="8305800" y="1638300"/>
            <a:ext cx="27813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950" b="1">
                <a:solidFill>
                  <a:srgbClr val="65A7FF"/>
                </a:solidFill>
                <a:latin typeface="Aptos"/>
              </a:rPr>
              <a:t>03</a:t>
            </a:r>
            <a:endParaRPr lang="en-US" sz="950"/>
          </a:p>
        </p:txBody>
      </p:sp>
      <p:sp>
        <p:nvSpPr>
          <p:cNvPr id="277" name="Shape 277"/>
          <p:cNvSpPr/>
          <p:nvPr/>
        </p:nvSpPr>
        <p:spPr>
          <a:xfrm>
            <a:off x="8305800" y="1771650"/>
            <a:ext cx="278130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700" b="1">
                <a:solidFill>
                  <a:srgbClr val="F4F7F4"/>
                </a:solidFill>
                <a:latin typeface="Aptos"/>
              </a:rPr>
              <a:t>Analysis Engines</a:t>
            </a:r>
            <a:endParaRPr lang="en-US" sz="1700"/>
          </a:p>
        </p:txBody>
      </p:sp>
      <p:sp>
        <p:nvSpPr>
          <p:cNvPr id="278" name="Shape 278"/>
          <p:cNvSpPr/>
          <p:nvPr/>
        </p:nvSpPr>
        <p:spPr>
          <a:xfrm>
            <a:off x="11163300" y="1714500"/>
            <a:ext cx="533400" cy="209550"/>
          </a:xfrm>
          <a:prstGeom prst="roundRect">
            <a:avLst/>
          </a:prstGeom>
          <a:solidFill>
            <a:srgbClr val="17242A"/>
          </a:solidFill>
          <a:ln w="12700">
            <a:solidFill>
              <a:srgbClr val="65A7FF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950" b="1">
                <a:solidFill>
                  <a:srgbClr val="65A7FF"/>
                </a:solidFill>
                <a:latin typeface="Aptos"/>
              </a:rPr>
              <a:t>11 items</a:t>
            </a:r>
            <a:endParaRPr lang="en-US" sz="950"/>
          </a:p>
        </p:txBody>
      </p:sp>
      <p:cxnSp>
        <p:nvCxnSpPr>
          <p:cNvPr id="279" name="Line 279"/>
          <p:cNvCxnSpPr/>
          <p:nvPr/>
        </p:nvCxnSpPr>
        <p:spPr>
          <a:xfrm flipV="0">
            <a:off x="8153400" y="2057400"/>
            <a:ext cx="3543300" cy="9525"/>
          </a:xfrm>
          <a:prstGeom prst="line">
            <a:avLst/>
          </a:prstGeom>
          <a:ln w="15240">
            <a:solidFill>
              <a:srgbClr val="65A7FF"/>
            </a:solidFill>
          </a:ln>
        </p:spPr>
        <p:style/>
      </p:cxnSp>
      <p:sp>
        <p:nvSpPr>
          <p:cNvPr id="280" name="Shape 280">
            <a:hlinkClick r:id="rId35" action="ppaction://hlinksldjump"/>
          </p:cNvPr>
          <p:cNvSpPr/>
          <p:nvPr/>
        </p:nvSpPr>
        <p:spPr>
          <a:xfrm>
            <a:off x="8153400" y="2152650"/>
            <a:ext cx="354330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81" name="Shape 281"/>
          <p:cNvSpPr/>
          <p:nvPr/>
        </p:nvSpPr>
        <p:spPr>
          <a:xfrm>
            <a:off x="8153400" y="2152650"/>
            <a:ext cx="28575" cy="28575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82" name="Shape 282"/>
          <p:cNvSpPr/>
          <p:nvPr/>
        </p:nvSpPr>
        <p:spPr>
          <a:xfrm>
            <a:off x="8229600" y="21526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65A7FF"/>
                </a:solidFill>
                <a:latin typeface="Consolas"/>
              </a:rPr>
              <a:t>01</a:t>
            </a:r>
            <a:endParaRPr lang="en-US" sz="850"/>
          </a:p>
        </p:txBody>
      </p:sp>
      <p:sp>
        <p:nvSpPr>
          <p:cNvPr id="283" name="Shape 283"/>
          <p:cNvSpPr/>
          <p:nvPr/>
        </p:nvSpPr>
        <p:spPr>
          <a:xfrm>
            <a:off x="8534400" y="215265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F4F7F4"/>
                </a:solidFill>
                <a:latin typeface="Aptos"/>
              </a:rPr>
              <a:t>KeyTerrainIdentificationEngine</a:t>
            </a:r>
            <a:endParaRPr lang="en-US" sz="1050"/>
          </a:p>
        </p:txBody>
      </p:sp>
      <p:sp>
        <p:nvSpPr>
          <p:cNvPr id="284" name="Shape 284"/>
          <p:cNvSpPr/>
          <p:nvPr/>
        </p:nvSpPr>
        <p:spPr>
          <a:xfrm>
            <a:off x="11525250" y="21526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65A7FF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285" name="Shape 285">
            <a:hlinkClick r:id="rId36" action="ppaction://hlinksldjump"/>
          </p:cNvPr>
          <p:cNvSpPr/>
          <p:nvPr/>
        </p:nvSpPr>
        <p:spPr>
          <a:xfrm>
            <a:off x="8153400" y="2495550"/>
            <a:ext cx="354330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86" name="Shape 286"/>
          <p:cNvSpPr/>
          <p:nvPr/>
        </p:nvSpPr>
        <p:spPr>
          <a:xfrm>
            <a:off x="8153400" y="2495550"/>
            <a:ext cx="28575" cy="28575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87" name="Shape 287"/>
          <p:cNvSpPr/>
          <p:nvPr/>
        </p:nvSpPr>
        <p:spPr>
          <a:xfrm>
            <a:off x="8229600" y="24955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65A7FF"/>
                </a:solidFill>
                <a:latin typeface="Consolas"/>
              </a:rPr>
              <a:t>02</a:t>
            </a:r>
            <a:endParaRPr lang="en-US" sz="850"/>
          </a:p>
        </p:txBody>
      </p:sp>
      <p:sp>
        <p:nvSpPr>
          <p:cNvPr id="288" name="Shape 288"/>
          <p:cNvSpPr/>
          <p:nvPr/>
        </p:nvSpPr>
        <p:spPr>
          <a:xfrm>
            <a:off x="8534400" y="249555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F4F7F4"/>
                </a:solidFill>
                <a:latin typeface="Aptos"/>
              </a:rPr>
              <a:t>PosDefScorerEngine</a:t>
            </a:r>
            <a:endParaRPr lang="en-US" sz="1050"/>
          </a:p>
        </p:txBody>
      </p:sp>
      <p:sp>
        <p:nvSpPr>
          <p:cNvPr id="289" name="Shape 289"/>
          <p:cNvSpPr/>
          <p:nvPr/>
        </p:nvSpPr>
        <p:spPr>
          <a:xfrm>
            <a:off x="11525250" y="24955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65A7FF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290" name="Shape 290">
            <a:hlinkClick r:id="rId37" action="ppaction://hlinksldjump"/>
          </p:cNvPr>
          <p:cNvSpPr/>
          <p:nvPr/>
        </p:nvSpPr>
        <p:spPr>
          <a:xfrm>
            <a:off x="8153400" y="2838450"/>
            <a:ext cx="354330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91" name="Shape 291"/>
          <p:cNvSpPr/>
          <p:nvPr/>
        </p:nvSpPr>
        <p:spPr>
          <a:xfrm>
            <a:off x="8153400" y="2838450"/>
            <a:ext cx="28575" cy="28575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92" name="Shape 292"/>
          <p:cNvSpPr/>
          <p:nvPr/>
        </p:nvSpPr>
        <p:spPr>
          <a:xfrm>
            <a:off x="8229600" y="28384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65A7FF"/>
                </a:solidFill>
                <a:latin typeface="Consolas"/>
              </a:rPr>
              <a:t>03</a:t>
            </a:r>
            <a:endParaRPr lang="en-US" sz="850"/>
          </a:p>
        </p:txBody>
      </p:sp>
      <p:sp>
        <p:nvSpPr>
          <p:cNvPr id="293" name="Shape 293"/>
          <p:cNvSpPr/>
          <p:nvPr/>
        </p:nvSpPr>
        <p:spPr>
          <a:xfrm>
            <a:off x="8534400" y="283845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F4F7F4"/>
                </a:solidFill>
                <a:latin typeface="Aptos"/>
              </a:rPr>
              <a:t>OpRankerEngine</a:t>
            </a:r>
            <a:endParaRPr lang="en-US" sz="1050"/>
          </a:p>
        </p:txBody>
      </p:sp>
      <p:sp>
        <p:nvSpPr>
          <p:cNvPr id="294" name="Shape 294"/>
          <p:cNvSpPr/>
          <p:nvPr/>
        </p:nvSpPr>
        <p:spPr>
          <a:xfrm>
            <a:off x="11525250" y="28384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65A7FF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295" name="Shape 295">
            <a:hlinkClick r:id="rId38" action="ppaction://hlinksldjump"/>
          </p:cNvPr>
          <p:cNvSpPr/>
          <p:nvPr/>
        </p:nvSpPr>
        <p:spPr>
          <a:xfrm>
            <a:off x="8153400" y="3181350"/>
            <a:ext cx="354330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96" name="Shape 296"/>
          <p:cNvSpPr/>
          <p:nvPr/>
        </p:nvSpPr>
        <p:spPr>
          <a:xfrm>
            <a:off x="8153400" y="3181350"/>
            <a:ext cx="28575" cy="28575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97" name="Shape 297"/>
          <p:cNvSpPr/>
          <p:nvPr/>
        </p:nvSpPr>
        <p:spPr>
          <a:xfrm>
            <a:off x="8229600" y="31813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65A7FF"/>
                </a:solidFill>
                <a:latin typeface="Consolas"/>
              </a:rPr>
              <a:t>04</a:t>
            </a:r>
            <a:endParaRPr lang="en-US" sz="850"/>
          </a:p>
        </p:txBody>
      </p:sp>
      <p:sp>
        <p:nvSpPr>
          <p:cNvPr id="298" name="Shape 298"/>
          <p:cNvSpPr/>
          <p:nvPr/>
        </p:nvSpPr>
        <p:spPr>
          <a:xfrm>
            <a:off x="8534400" y="318135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F4F7F4"/>
                </a:solidFill>
                <a:latin typeface="Aptos"/>
              </a:rPr>
              <a:t>LocalPeaksEngine</a:t>
            </a:r>
            <a:endParaRPr lang="en-US" sz="1050"/>
          </a:p>
        </p:txBody>
      </p:sp>
      <p:sp>
        <p:nvSpPr>
          <p:cNvPr id="299" name="Shape 299"/>
          <p:cNvSpPr/>
          <p:nvPr/>
        </p:nvSpPr>
        <p:spPr>
          <a:xfrm>
            <a:off x="11525250" y="31813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65A7FF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300" name="Shape 300">
            <a:hlinkClick r:id="rId39" action="ppaction://hlinksldjump"/>
          </p:cNvPr>
          <p:cNvSpPr/>
          <p:nvPr/>
        </p:nvSpPr>
        <p:spPr>
          <a:xfrm>
            <a:off x="8153400" y="3524250"/>
            <a:ext cx="354330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301" name="Shape 301"/>
          <p:cNvSpPr/>
          <p:nvPr/>
        </p:nvSpPr>
        <p:spPr>
          <a:xfrm>
            <a:off x="8153400" y="3524250"/>
            <a:ext cx="28575" cy="28575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02" name="Shape 302"/>
          <p:cNvSpPr/>
          <p:nvPr/>
        </p:nvSpPr>
        <p:spPr>
          <a:xfrm>
            <a:off x="8229600" y="35242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65A7FF"/>
                </a:solidFill>
                <a:latin typeface="Consolas"/>
              </a:rPr>
              <a:t>05</a:t>
            </a:r>
            <a:endParaRPr lang="en-US" sz="850"/>
          </a:p>
        </p:txBody>
      </p:sp>
      <p:sp>
        <p:nvSpPr>
          <p:cNvPr id="303" name="Shape 303"/>
          <p:cNvSpPr/>
          <p:nvPr/>
        </p:nvSpPr>
        <p:spPr>
          <a:xfrm>
            <a:off x="8534400" y="352425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F4F7F4"/>
                </a:solidFill>
                <a:latin typeface="Aptos"/>
              </a:rPr>
              <a:t>DeadGroundMapper</a:t>
            </a:r>
            <a:endParaRPr lang="en-US" sz="1050"/>
          </a:p>
        </p:txBody>
      </p:sp>
      <p:sp>
        <p:nvSpPr>
          <p:cNvPr id="304" name="Shape 304"/>
          <p:cNvSpPr/>
          <p:nvPr/>
        </p:nvSpPr>
        <p:spPr>
          <a:xfrm>
            <a:off x="11525250" y="35242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65A7FF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305" name="Shape 305">
            <a:hlinkClick r:id="rId40" action="ppaction://hlinksldjump"/>
          </p:cNvPr>
          <p:cNvSpPr/>
          <p:nvPr/>
        </p:nvSpPr>
        <p:spPr>
          <a:xfrm>
            <a:off x="8153400" y="3867150"/>
            <a:ext cx="354330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306" name="Shape 306"/>
          <p:cNvSpPr/>
          <p:nvPr/>
        </p:nvSpPr>
        <p:spPr>
          <a:xfrm>
            <a:off x="8153400" y="3867150"/>
            <a:ext cx="28575" cy="28575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07" name="Shape 307"/>
          <p:cNvSpPr/>
          <p:nvPr/>
        </p:nvSpPr>
        <p:spPr>
          <a:xfrm>
            <a:off x="8229600" y="38671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65A7FF"/>
                </a:solidFill>
                <a:latin typeface="Consolas"/>
              </a:rPr>
              <a:t>06</a:t>
            </a:r>
            <a:endParaRPr lang="en-US" sz="850"/>
          </a:p>
        </p:txBody>
      </p:sp>
      <p:sp>
        <p:nvSpPr>
          <p:cNvPr id="308" name="Shape 308"/>
          <p:cNvSpPr/>
          <p:nvPr/>
        </p:nvSpPr>
        <p:spPr>
          <a:xfrm>
            <a:off x="8534400" y="386715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F4F7F4"/>
                </a:solidFill>
                <a:latin typeface="Aptos"/>
              </a:rPr>
              <a:t>LOSEngine</a:t>
            </a:r>
            <a:endParaRPr lang="en-US" sz="1050"/>
          </a:p>
        </p:txBody>
      </p:sp>
      <p:sp>
        <p:nvSpPr>
          <p:cNvPr id="309" name="Shape 309"/>
          <p:cNvSpPr/>
          <p:nvPr/>
        </p:nvSpPr>
        <p:spPr>
          <a:xfrm>
            <a:off x="11525250" y="38671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65A7FF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310" name="Shape 310">
            <a:hlinkClick r:id="rId41" action="ppaction://hlinksldjump"/>
          </p:cNvPr>
          <p:cNvSpPr/>
          <p:nvPr/>
        </p:nvSpPr>
        <p:spPr>
          <a:xfrm>
            <a:off x="8153400" y="4210050"/>
            <a:ext cx="354330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311" name="Shape 311"/>
          <p:cNvSpPr/>
          <p:nvPr/>
        </p:nvSpPr>
        <p:spPr>
          <a:xfrm>
            <a:off x="8153400" y="4210050"/>
            <a:ext cx="28575" cy="28575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12" name="Shape 312"/>
          <p:cNvSpPr/>
          <p:nvPr/>
        </p:nvSpPr>
        <p:spPr>
          <a:xfrm>
            <a:off x="8229600" y="42100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65A7FF"/>
                </a:solidFill>
                <a:latin typeface="Consolas"/>
              </a:rPr>
              <a:t>07</a:t>
            </a:r>
            <a:endParaRPr lang="en-US" sz="850"/>
          </a:p>
        </p:txBody>
      </p:sp>
      <p:sp>
        <p:nvSpPr>
          <p:cNvPr id="313" name="Shape 313"/>
          <p:cNvSpPr/>
          <p:nvPr/>
        </p:nvSpPr>
        <p:spPr>
          <a:xfrm>
            <a:off x="8534400" y="421005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F4F7F4"/>
                </a:solidFill>
                <a:latin typeface="Aptos"/>
              </a:rPr>
              <a:t>WeaponEffectEngine</a:t>
            </a:r>
            <a:endParaRPr lang="en-US" sz="1050"/>
          </a:p>
        </p:txBody>
      </p:sp>
      <p:sp>
        <p:nvSpPr>
          <p:cNvPr id="314" name="Shape 314"/>
          <p:cNvSpPr/>
          <p:nvPr/>
        </p:nvSpPr>
        <p:spPr>
          <a:xfrm>
            <a:off x="11525250" y="42100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65A7FF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315" name="Shape 315">
            <a:hlinkClick r:id="rId42" action="ppaction://hlinksldjump"/>
          </p:cNvPr>
          <p:cNvSpPr/>
          <p:nvPr/>
        </p:nvSpPr>
        <p:spPr>
          <a:xfrm>
            <a:off x="8153400" y="4552950"/>
            <a:ext cx="354330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316" name="Shape 316"/>
          <p:cNvSpPr/>
          <p:nvPr/>
        </p:nvSpPr>
        <p:spPr>
          <a:xfrm>
            <a:off x="8153400" y="4552950"/>
            <a:ext cx="28575" cy="28575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17" name="Shape 317"/>
          <p:cNvSpPr/>
          <p:nvPr/>
        </p:nvSpPr>
        <p:spPr>
          <a:xfrm>
            <a:off x="8229600" y="45529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65A7FF"/>
                </a:solidFill>
                <a:latin typeface="Consolas"/>
              </a:rPr>
              <a:t>08</a:t>
            </a:r>
            <a:endParaRPr lang="en-US" sz="850"/>
          </a:p>
        </p:txBody>
      </p:sp>
      <p:sp>
        <p:nvSpPr>
          <p:cNvPr id="318" name="Shape 318"/>
          <p:cNvSpPr/>
          <p:nvPr/>
        </p:nvSpPr>
        <p:spPr>
          <a:xfrm>
            <a:off x="8534400" y="455295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F4F7F4"/>
                </a:solidFill>
                <a:latin typeface="Aptos"/>
              </a:rPr>
              <a:t>TrajectoryEngine</a:t>
            </a:r>
            <a:endParaRPr lang="en-US" sz="1050"/>
          </a:p>
        </p:txBody>
      </p:sp>
      <p:sp>
        <p:nvSpPr>
          <p:cNvPr id="319" name="Shape 319"/>
          <p:cNvSpPr/>
          <p:nvPr/>
        </p:nvSpPr>
        <p:spPr>
          <a:xfrm>
            <a:off x="11525250" y="45529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65A7FF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320" name="Shape 320">
            <a:hlinkClick r:id="rId43" action="ppaction://hlinksldjump"/>
          </p:cNvPr>
          <p:cNvSpPr/>
          <p:nvPr/>
        </p:nvSpPr>
        <p:spPr>
          <a:xfrm>
            <a:off x="8153400" y="4895850"/>
            <a:ext cx="354330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321" name="Shape 321"/>
          <p:cNvSpPr/>
          <p:nvPr/>
        </p:nvSpPr>
        <p:spPr>
          <a:xfrm>
            <a:off x="8153400" y="4895850"/>
            <a:ext cx="28575" cy="28575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22" name="Shape 322"/>
          <p:cNvSpPr/>
          <p:nvPr/>
        </p:nvSpPr>
        <p:spPr>
          <a:xfrm>
            <a:off x="8229600" y="48958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65A7FF"/>
                </a:solidFill>
                <a:latin typeface="Consolas"/>
              </a:rPr>
              <a:t>09</a:t>
            </a:r>
            <a:endParaRPr lang="en-US" sz="850"/>
          </a:p>
        </p:txBody>
      </p:sp>
      <p:sp>
        <p:nvSpPr>
          <p:cNvPr id="323" name="Shape 323"/>
          <p:cNvSpPr/>
          <p:nvPr/>
        </p:nvSpPr>
        <p:spPr>
          <a:xfrm>
            <a:off x="8534400" y="489585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F4F7F4"/>
                </a:solidFill>
                <a:latin typeface="Aptos"/>
              </a:rPr>
              <a:t>BufferEngine</a:t>
            </a:r>
            <a:endParaRPr lang="en-US" sz="1050"/>
          </a:p>
        </p:txBody>
      </p:sp>
      <p:sp>
        <p:nvSpPr>
          <p:cNvPr id="324" name="Shape 324"/>
          <p:cNvSpPr/>
          <p:nvPr/>
        </p:nvSpPr>
        <p:spPr>
          <a:xfrm>
            <a:off x="11525250" y="48958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65A7FF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325" name="Shape 325">
            <a:hlinkClick r:id="rId44" action="ppaction://hlinksldjump"/>
          </p:cNvPr>
          <p:cNvSpPr/>
          <p:nvPr/>
        </p:nvSpPr>
        <p:spPr>
          <a:xfrm>
            <a:off x="8153400" y="5238750"/>
            <a:ext cx="354330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326" name="Shape 326"/>
          <p:cNvSpPr/>
          <p:nvPr/>
        </p:nvSpPr>
        <p:spPr>
          <a:xfrm>
            <a:off x="8153400" y="5238750"/>
            <a:ext cx="28575" cy="28575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27" name="Shape 327"/>
          <p:cNvSpPr/>
          <p:nvPr/>
        </p:nvSpPr>
        <p:spPr>
          <a:xfrm>
            <a:off x="8229600" y="52387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65A7FF"/>
                </a:solidFill>
                <a:latin typeface="Consolas"/>
              </a:rPr>
              <a:t>10</a:t>
            </a:r>
            <a:endParaRPr lang="en-US" sz="850"/>
          </a:p>
        </p:txBody>
      </p:sp>
      <p:sp>
        <p:nvSpPr>
          <p:cNvPr id="328" name="Shape 328"/>
          <p:cNvSpPr/>
          <p:nvPr/>
        </p:nvSpPr>
        <p:spPr>
          <a:xfrm>
            <a:off x="8534400" y="523875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F4F7F4"/>
                </a:solidFill>
                <a:latin typeface="Aptos"/>
              </a:rPr>
              <a:t>CorridorEngine</a:t>
            </a:r>
            <a:endParaRPr lang="en-US" sz="1050"/>
          </a:p>
        </p:txBody>
      </p:sp>
      <p:sp>
        <p:nvSpPr>
          <p:cNvPr id="329" name="Shape 329"/>
          <p:cNvSpPr/>
          <p:nvPr/>
        </p:nvSpPr>
        <p:spPr>
          <a:xfrm>
            <a:off x="11525250" y="52387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65A7FF"/>
                </a:solidFill>
                <a:latin typeface="Aptos"/>
              </a:rPr>
              <a:t>›</a:t>
            </a:r>
            <a:endParaRPr lang="en-US" sz="1400"/>
          </a:p>
        </p:txBody>
      </p:sp>
      <p:sp>
        <p:nvSpPr>
          <p:cNvPr id="330" name="Shape 330">
            <a:hlinkClick r:id="rId45" action="ppaction://hlinksldjump"/>
          </p:cNvPr>
          <p:cNvSpPr/>
          <p:nvPr/>
        </p:nvSpPr>
        <p:spPr>
          <a:xfrm>
            <a:off x="8153400" y="5581650"/>
            <a:ext cx="3543300" cy="285750"/>
          </a:xfrm>
          <a:prstGeom prst="roundRect">
            <a:avLst/>
          </a:prstGeom>
          <a:solidFill>
            <a:srgbClr val="141C20"/>
          </a:solidFill>
          <a:ln>
            <a:noFill/>
          </a:ln>
        </p:spPr>
        <p:txBody>
          <a:bodyPr/>
          <a:lstStyle/>
          <a:p/>
        </p:txBody>
      </p:sp>
      <p:sp>
        <p:nvSpPr>
          <p:cNvPr id="331" name="Shape 331"/>
          <p:cNvSpPr/>
          <p:nvPr/>
        </p:nvSpPr>
        <p:spPr>
          <a:xfrm>
            <a:off x="8153400" y="5581650"/>
            <a:ext cx="28575" cy="28575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32" name="Shape 332"/>
          <p:cNvSpPr/>
          <p:nvPr/>
        </p:nvSpPr>
        <p:spPr>
          <a:xfrm>
            <a:off x="8229600" y="5581650"/>
            <a:ext cx="2667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850" b="1">
                <a:solidFill>
                  <a:srgbClr val="65A7FF"/>
                </a:solidFill>
                <a:latin typeface="Consolas"/>
              </a:rPr>
              <a:t>11</a:t>
            </a:r>
            <a:endParaRPr lang="en-US" sz="850"/>
          </a:p>
        </p:txBody>
      </p:sp>
      <p:sp>
        <p:nvSpPr>
          <p:cNvPr id="333" name="Shape 333"/>
          <p:cNvSpPr/>
          <p:nvPr/>
        </p:nvSpPr>
        <p:spPr>
          <a:xfrm>
            <a:off x="8534400" y="558165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F4F7F4"/>
                </a:solidFill>
                <a:latin typeface="Aptos"/>
              </a:rPr>
              <a:t>EffectEngine / FlightEngine</a:t>
            </a:r>
            <a:endParaRPr lang="en-US" sz="1050"/>
          </a:p>
        </p:txBody>
      </p:sp>
      <p:sp>
        <p:nvSpPr>
          <p:cNvPr id="334" name="Shape 334"/>
          <p:cNvSpPr/>
          <p:nvPr/>
        </p:nvSpPr>
        <p:spPr>
          <a:xfrm>
            <a:off x="11525250" y="5581650"/>
            <a:ext cx="133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 b="1">
                <a:solidFill>
                  <a:srgbClr val="65A7FF"/>
                </a:solidFill>
                <a:latin typeface="Aptos"/>
              </a:rPr>
              <a:t>›</a:t>
            </a:r>
            <a:endParaRPr lang="en-US" sz="1400"/>
          </a:p>
        </p:txBody>
      </p:sp>
      <p:cxnSp>
        <p:nvCxnSpPr>
          <p:cNvPr id="335" name="Line 335"/>
          <p:cNvCxnSpPr/>
          <p:nvPr/>
        </p:nvCxnSpPr>
        <p:spPr>
          <a:xfrm flipV="0">
            <a:off x="533400" y="6210300"/>
            <a:ext cx="11163300" cy="9525"/>
          </a:xfrm>
          <a:prstGeom prst="line">
            <a:avLst/>
          </a:prstGeom>
          <a:ln w="10160">
            <a:solidFill>
              <a:srgbClr val="33444B"/>
            </a:solidFill>
          </a:ln>
        </p:spPr>
        <p:style/>
      </p:cxnSp>
      <p:sp>
        <p:nvSpPr>
          <p:cNvPr id="336" name="Shape 336"/>
          <p:cNvSpPr/>
          <p:nvPr/>
        </p:nvSpPr>
        <p:spPr>
          <a:xfrm>
            <a:off x="533400" y="6286500"/>
            <a:ext cx="76200" cy="76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337" name="Shape 337"/>
          <p:cNvSpPr/>
          <p:nvPr/>
        </p:nvSpPr>
        <p:spPr>
          <a:xfrm>
            <a:off x="666750" y="6229350"/>
            <a:ext cx="1524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00">
                <a:solidFill>
                  <a:srgbClr val="A8B7B1"/>
                </a:solidFill>
                <a:latin typeface="Aptos"/>
              </a:rPr>
              <a:t>Core</a:t>
            </a:r>
            <a:endParaRPr lang="en-US" sz="1000"/>
          </a:p>
        </p:txBody>
      </p:sp>
      <p:sp>
        <p:nvSpPr>
          <p:cNvPr id="338" name="Shape 338"/>
          <p:cNvSpPr/>
          <p:nvPr/>
        </p:nvSpPr>
        <p:spPr>
          <a:xfrm>
            <a:off x="1238250" y="6286500"/>
            <a:ext cx="76200" cy="76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339" name="Shape 339"/>
          <p:cNvSpPr/>
          <p:nvPr/>
        </p:nvSpPr>
        <p:spPr>
          <a:xfrm>
            <a:off x="1371600" y="6229350"/>
            <a:ext cx="1524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00">
                <a:solidFill>
                  <a:srgbClr val="A8B7B1"/>
                </a:solidFill>
                <a:latin typeface="Aptos"/>
              </a:rPr>
              <a:t>Engine</a:t>
            </a:r>
            <a:endParaRPr lang="en-US" sz="1000"/>
          </a:p>
        </p:txBody>
      </p:sp>
      <p:sp>
        <p:nvSpPr>
          <p:cNvPr id="340" name="Shape 340"/>
          <p:cNvSpPr/>
          <p:nvPr/>
        </p:nvSpPr>
        <p:spPr>
          <a:xfrm>
            <a:off x="2000250" y="6286500"/>
            <a:ext cx="76200" cy="762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41" name="Shape 341"/>
          <p:cNvSpPr/>
          <p:nvPr/>
        </p:nvSpPr>
        <p:spPr>
          <a:xfrm>
            <a:off x="2133600" y="6229350"/>
            <a:ext cx="1524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00">
                <a:solidFill>
                  <a:srgbClr val="A8B7B1"/>
                </a:solidFill>
                <a:latin typeface="Aptos"/>
              </a:rPr>
              <a:t>Analysis</a:t>
            </a:r>
            <a:endParaRPr lang="en-US" sz="1000"/>
          </a:p>
        </p:txBody>
      </p:sp>
      <p:sp>
        <p:nvSpPr>
          <p:cNvPr id="342" name="Shape 342"/>
          <p:cNvSpPr/>
          <p:nvPr/>
        </p:nvSpPr>
        <p:spPr>
          <a:xfrm>
            <a:off x="9334500" y="6229350"/>
            <a:ext cx="23622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r">
              <a:buNone/>
            </a:pPr>
            <a:r>
              <a:rPr lang="en-US" sz="1000" b="1">
                <a:solidFill>
                  <a:srgbClr val="A8B7B1"/>
                </a:solidFill>
                <a:latin typeface="Consolas"/>
              </a:rPr>
              <a:t>44 features · 93 slides</a:t>
            </a:r>
            <a:endParaRPr lang="en-US" sz="1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723900" y="1009650"/>
            <a:ext cx="76200" cy="23241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1028700" y="106680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4800" b="1">
                <a:solidFill>
                  <a:srgbClr val="F4F7F4"/>
                </a:solidFill>
                <a:latin typeface="Aptos"/>
              </a:rPr>
              <a:t>Core Features</a:t>
            </a:r>
            <a:endParaRPr lang="en-US" sz="4800"/>
          </a:p>
        </p:txBody>
      </p:sp>
      <p:sp>
        <p:nvSpPr>
          <p:cNvPr id="22" name="Shape 22"/>
          <p:cNvSpPr/>
          <p:nvPr/>
        </p:nvSpPr>
        <p:spPr>
          <a:xfrm>
            <a:off x="1066800" y="2038350"/>
            <a:ext cx="7620000" cy="62865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2200">
                <a:solidFill>
                  <a:srgbClr val="A8B7B1"/>
                </a:solidFill>
                <a:latin typeface="Aptos"/>
              </a:rPr>
              <a:t>Drawing, editing, selection, measurement, navigation, and plan exchange.</a:t>
            </a:r>
            <a:endParaRPr lang="en-US" sz="2200"/>
          </a:p>
        </p:txBody>
      </p:sp>
      <p:sp>
        <p:nvSpPr>
          <p:cNvPr id="23" name="Shape 23"/>
          <p:cNvSpPr/>
          <p:nvPr/>
        </p:nvSpPr>
        <p:spPr>
          <a:xfrm>
            <a:off x="1028700" y="3467100"/>
            <a:ext cx="4000500" cy="6858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700" b="1">
                <a:solidFill>
                  <a:srgbClr val="F4F7F4"/>
                </a:solidFill>
                <a:latin typeface="Aptos"/>
              </a:rPr>
              <a:t>Use the index to jump directly to any topic.</a:t>
            </a:r>
            <a:endParaRPr lang="en-US" sz="1700"/>
          </a:p>
        </p:txBody>
      </p:sp>
      <p:sp>
        <p:nvSpPr>
          <p:cNvPr id="24" name="Shape 24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Drawing &amp; Symbol Creation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Create MIL-STD-2525D tactical graphics on 2D and 3D maps.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User selects a symbol and starts interactive drawing.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Symbol classes emit draw progress and completion events.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SymbolEngine renders the final graphic into the right managed layer.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Symbol/SIDC, location, draw settings, amplifier data.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Tactical symbol graphics on FORCE, TACT_PT, TACT, or annotation layers.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58C98B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58C98B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SketchViewModel drives point/polyline/polygon draw modes. Symbol class is resolved via Mapper from Symbols.json metadata, then DrawEssentials + Amplifier wrap the geometry. On draw events, MeasurementEngine + ProximityEngine + DrawingCueEngine attach live overlays; on complete the final Graphic is routed to FORCE / TACT_PT / TACT layers by symbol geometry type, undo is pushed, and AnnotationEngine refreshes labels.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Drawing &amp; Symbol Creation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Symbol Catalog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Provide a searchable catalog of tactical symbol definitions.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Symbol metadata is loaded from Symbols.json.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Search/autocomplete returns key and display name matches.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Selected definitions map to concrete symbol classes.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Symbol key, SIDC, search text, category/type.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Selected metadata, symbol class, rendered tactical symbol.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58C98B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58C98B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SymbolMetadataService loads Symbols.json into an in-memory SIDC → SymbolDefinition map indexed by key, name tokens, and SymGeoType. Autocomplete uses prefix + token-substring matching with rank by Class. Selection sets the active class, parameters, and default DrawEssentials; Mapper resolves the class name into the concrete TS/JS symbol implementation registered on the engine.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Symbol Catalog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Edit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Modify existing map graphics without redrawing them.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Point symbols move or scale.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Line and area symbols transform through move, rotate, and scale.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Completed edits refresh annotations and create undo entries.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Selected graphic, edit mode, move/scale/rotate values.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Updated geometry, refreshed labels, undoable edit state.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58C98B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58C98B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EditEngine activates SketchViewModel’s move tool for point symbols and its transform tool (move + rotate + scale) for polylines / polygons; reshape uses draggable control-point handles on stored CTRL_PTS. A pre-edit snapshot (GEOM + CTRL_PTS + BASE_LN_PTS) is captured before activation so Cancel restores it. On complete the symbol re-renders, annotations refresh, and a single labelled undo entry is pushed.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Edit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Control Points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Reshape tactical lines and areas with precise handles.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Handles appear on stored CTRL_PTS.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Dragging a handle updates draw essentials.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The symbol redraws live from the new control points.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CTRL_PTS, optional BASE_LN_PTS, selected line/area graphic.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Live-redrawn geometry and updated control point state.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58C98B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58C98B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Reshape draws one handle Graphic per entry in the symbol’s CTRL_PTS array on a dedicated EDIT_HANDLES layer. Drag events update the source array, then symbol create/redraw rebuilds geometry through the same pipeline used at draw time. Handle redraws are coalesced via requestAnimationFrame to keep panning responsive; BASE_LN_PTS stays in sync with CTRL_PTS for line-anchored amplifiers.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Control Points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Selection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Select and filter symbols for focused or batch actions.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Click selects a symbol; Shift-click toggles membership.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Lasso and freehand lasso select multiple graphics.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Filters select by SIDC, echelon, identity, and geometry type.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Click, Shift-click, lasso polygon, filters.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Selected symbol set and hover/highlight state.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58C98B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58C98B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SelectionEngine maintains a Set&lt;Graphic&gt; across managed symbol layers with click / Shift-click toggle and a SketchViewModel-driven lasso polygon. Highlights use ArcGIS LayerView.highlight() so the selection survives layer redraws. Filters (SIDC, echelon, identity, SymGeoType) read attributes + DrawEssentials and apply across all symbol layers at once.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Selection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Batch Selection Operations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Organize many symbols quickly during planning.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Batch actions operate on the current selection.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Alignment and arrangement preserve relative map scale.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Every operation is captured as one undoable change.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Selected graphics and operation: move, delete, align, arrange.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Moved, aligned, distributed, arranged, or deleted groups.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58C98B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58C98B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Operations compute geometry deltas from selected centroids/extents and apply them in one atomic pass. Alignment uses min/max projection along the chosen axis; distribution uses equal-spacing between extremes; arrangement (square / triangle / inverted-triangle) positions members on a generated layout grid. Each operation pushes one undo entry that captures pre-op snapshots for every affected graphic.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Batch Selection Operations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Copy / Paste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Duplicate single symbols or complete formations.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Clipboard stores deep symbol clones.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Paste places the copied centroid at the clicked point.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Multi-symbol paste preserves relative layout and optional offsets.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Selected/right-clicked graphics, paste location, optional offset.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Cloned symbols with preserved geometry, attributes, and layout.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58C98B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58C98B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ClipboardEngine deep-clones selected graphics via Graphic.clone(), preserving geometry, symbol, DrawEssentials, Amplifier, and attributes. Paste computes the clipboard centroid, then offsets every clone by (paste-point − centroid) to preserve relative formation layout. Offset-paste accepts a distance + bearing for radial expansion. Each paste is one undo entry.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Copy / Paste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Undo / Redo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Recover from changes and replay reverted operations.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Operations push labelled undo entries.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Pre-edit snapshots capture geometry and control points.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Clear-all drops stacks to release graphic references.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Add, edit, delete, paste, move, align, arrange operations.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Restored or replayed map state.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58C98B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58C98B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UndoRedoManager owns LIFO undo / redo stacks of labelled closures plus pre-edit snapshots (geometry, CTRL_PTS, BASE_LN_PTS, additional-graphics state). EditEngine fires before-edit events that push snapshots and after-edit events that finalize closures. New operations clear the redo stack; clear-all drops both stacks to release Graphic references for GC.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Undo / Redo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Context Menu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Expose the right action at the graphic location.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Right-click resolves target graphic and layer.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Menu groups actions by edit, selection, clipboard, measurement, and analysis.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Dynamic providers add runtime-specific actions.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Right-click target graphic and map point.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Contextual action menu and command palette entries.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58C98B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58C98B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ContextMenuManager listens for view "pointer-down" with button 2, hit-tests through hitTest(), and resolves the topmost managed graphic + its layer ID. Static menu items are registered per layer ID; dynamic providers add runtime entries (analysis, deployments, measurement). Trees are grouped by action class (edit / select / clipboard / measure / analyze) and rendered as a positioned HTML overlay.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Context Menu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Measurement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Show live tactical measurements during drawing and inspection.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Draw progress feeds current geometry and control points.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Engine computes segment, total, area, bearing, extent, and ETA values.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Optional road ETA enriches route-like lines when the service exists.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Geometry, control points, units, speed, declination, optional road network.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Length, area, bearing, ETA, labels, and measurement snapshot.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58C98B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58C98B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Geometry updates feed geometryEngine for geodesic length / area, and a per-segment cosine-law bearing with optional magnetic-declination offset. Optional 3D slant range uses observer-to-target elevation delta. Auto-unit picks m↔km or ft↔mi by magnitude; march ETA divides length by speedKmh; road ETA defers to the optional RoadNetwork service and falls back silently to straight-line.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Measurement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Drawing Assistance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Improve precision while placing tactical graphics.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Pointer movement updates rubber-band geometry.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Guides show bearings, snap angles, rings, and cursor coordinates.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Nearby symbols can be highlighted during placement.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Cursor position, last control point, drawing cue settings.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Rubber band, distance rings, angular guides, compass overlays.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58C98B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58C98B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DrawingCueEngine maintains a dedicated cue layer and a debounced (50 ms) pointer handler. Cues are generated from the last committed control point and current cursor: rubber-band polyline, angular guides (snap by snapIntervalDeg with snapThresholdDeg tolerance), distance rings with an adaptive interval driven by view scale, nearby-highlight rings, and a magnetic-compass widget with declination offset.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Drawing Assistance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Proximity / Snapping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Relate new drawings to existing map symbols.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Existing symbol layers are snap candidates.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Pointer movement finds nearest vertex or coordinate.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A reusable indicator renders the dot, line, and distance label.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Cursor position, target layers, snap radius/settings.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Nearest point indicator, distance label, snap hint.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58C98B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58C98B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Per pointer-move, candidate graphics are snapshotted from configured target layers and bbox-pre-filtered against a screen-space halfDiag extent. Survivors are tested for nearest vertex / nearest coordinate within snapRadiusPx; the winner renders a reusable dot + dashed line + distance label and emits proximity-snap / proximity-clear / proximity-hint document events.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Proximity / Snapping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MGRS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Render a military grid reference overlay.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The active view drives the current grid extent.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Grid levels are generated from GZD through fine sub-grids.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Labels and grid density adapt to enabled settings.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Active 2D/3D view and grid-level settings.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GZD, 100 km, 10 km, 1 km, or 100 m grid lines and labels.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58C98B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58C98B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MGRSEngine derives the visible extent from the active view, computes Grid Zone Designator, 100 km, 10 km, 1 km, and 100 m cells using UTM ↔ MGRS conversion, and emits per-level polyline + label graphics on its own MGRS layer. Level visibility is gated by zoom thresholds (or explicit toggles); a debounced rebuild runs on view extent / zoom changes so 2D and 3D stay in sync.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MGRS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Import / Export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Save, reload, and exchange tactical plans.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Graphics serialize into JSON-safe symbol records.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Control points and geometry reconstruct through the drawing pipeline.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GeoJSON and template paths support external workflows.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PAMS8 JSON, Plan JSON, GeoJSON, templates, file picker.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Restored symbols, saved plans, GeoJSON, and templates.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58C98B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58C98B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SerializationEngine writes JSON-safe records (SIDC + GEOM + CTRL_PTS + BASE_LN_PTS + DrawEssentials + Amplifier + attributes). IOEngine handles file dialogs, base64 / Blob download, and format dispatch (PAMS8 JSON, Plan JSON, GeoJSON, templates). Restore replays the rendering pipeline through SymbolEngine.initialize() so the result matches an interactively drawn symbol bit-for-bit.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Import / Export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Settings / Widgets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Control feature behavior without code changes.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Settings widgets mutate runtime settings.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SymbolEngine forwards changes to active engines.</a:t>
            </a:r>
            <a:endParaRPr lang="en-US" sz="1450"/>
          </a:p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Feature flags enable or disable subsystems cleanly.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Toggles, units, colors, thresholds, feature flags.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Updated engine configuration and visible UI behavior.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58C98B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58C98B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Per-feature widgets own a SettingsManifest (schema + defaults). UI changes dispatch a settingsChanged CustomEvent on window; SymbolEngine.onSettingChanged(path, value) walks the runtime settings tree and forwards the patch to active engines via setOptions / updateConfig. Feature flags toggle subsystem availability at runtime without rebuilding the engine.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58C9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58C98B"/>
                </a:solidFill>
                <a:latin typeface="Aptos"/>
              </a:rPr>
              <a:t>CORE FEATURE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Settings / Widgets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58C98B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723900" y="1009650"/>
            <a:ext cx="76200" cy="23241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1028700" y="106680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4800" b="1">
                <a:solidFill>
                  <a:srgbClr val="F4F7F4"/>
                </a:solidFill>
                <a:latin typeface="Aptos"/>
              </a:rPr>
              <a:t>Engines</a:t>
            </a:r>
            <a:endParaRPr lang="en-US" sz="4800"/>
          </a:p>
        </p:txBody>
      </p:sp>
      <p:sp>
        <p:nvSpPr>
          <p:cNvPr id="22" name="Shape 22"/>
          <p:cNvSpPr/>
          <p:nvPr/>
        </p:nvSpPr>
        <p:spPr>
          <a:xfrm>
            <a:off x="1066800" y="2038350"/>
            <a:ext cx="7620000" cy="62865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2200">
                <a:solidFill>
                  <a:srgbClr val="A8B7B1"/>
                </a:solidFill>
                <a:latin typeface="Aptos"/>
              </a:rPr>
              <a:t>The implementation modules behind the showcase features.</a:t>
            </a:r>
            <a:endParaRPr lang="en-US" sz="2200"/>
          </a:p>
        </p:txBody>
      </p:sp>
      <p:sp>
        <p:nvSpPr>
          <p:cNvPr id="23" name="Shape 23"/>
          <p:cNvSpPr/>
          <p:nvPr/>
        </p:nvSpPr>
        <p:spPr>
          <a:xfrm>
            <a:off x="1028700" y="3467100"/>
            <a:ext cx="4000500" cy="6858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700" b="1">
                <a:solidFill>
                  <a:srgbClr val="F4F7F4"/>
                </a:solidFill>
                <a:latin typeface="Aptos"/>
              </a:rPr>
              <a:t>Use the index to jump directly to any topic.</a:t>
            </a:r>
            <a:endParaRPr lang="en-US" sz="1700"/>
          </a:p>
        </p:txBody>
      </p:sp>
      <p:sp>
        <p:nvSpPr>
          <p:cNvPr id="24" name="Shape 24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SymbolEngine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Central coordinator for drawing, symbol creation, editing, selection, clipboard, settings, import/export, and engine access.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Coordinates symbol lifecycle events and delegates specialized work to sub-engines.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DrawEssentials, Amplifier, symbol metadata, active view, settings.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Final graphics, events, updated layers, engine accessors.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EF9F27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EF9F27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Central mediator. Owns GraphicsLayerManager (FORCE, TACT, TACT_PT, ANNOTATION, SKETCH), wires SketchViewModel, instantiates and disposes sub-engines on view switch, listens for symbol onDrawProgress / onDrawEnd CustomEvents, exposes the public API (addMilSymbolAtCenter, clearAllGraphics, undo, redo, copy / paste …), and routes settingsChanged events to active engines.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SymbolEngine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EditEngine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Interactive move, rotate, scale, reshape, point scaling, and mixed/group transform support.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Uses SketchViewModel for transform operations and control-point handles for reshape.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Selected graphic, optional additional graphics, scale factor, control points.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Updated geometry, synced CTRL_PTS/BASE_LN_PTS, edit events.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EF9F27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EF9F27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Activates SketchViewModel’s move tool for points and its transform tool (move + rotate + scale) for poly geometries; reshape uses a dedicated handle layer with rAF-coalesced drag updates. Mixed-selection transforms compute a shared anchor + rotation around the centroid so grouped point + line + polygon members move coherently. Emits changeInSymbol / scalePointSymbol events for undo + annotation.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EditEngine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SelectionEngine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Manages selection state, lasso, filters, alignment, arrangement, delete, and move selected.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Tracks selected graphics and applies geometry transforms or filters across target layers.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Clicks, lasso geometry, target layers, selected graphics.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Selection set, highlights, arranged/moved/deleted graphics.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EF9F27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EF9F27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Tracks selected graphics in a Map&lt;id, Graphic&gt; across symbol layers with ArcGIS highlight tinting. Implements click / Shift-toggle / lasso (SketchViewModel polygon) selection, clone-drag (Ctrl-drag duplicate), batch alignment / distribution / formation arrange, filter selection (SIDC, echelon, identity, geometry type), and emits selectionChange events.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SelectionEngine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ClipboardEngine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Owns copy, paste, paste mode, offset paste, and clone building.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Stores deep clones and rebuilds symbols at a target point while preserving relative layouts.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Source graphics, layer IDs, paste point, optional offset.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Pasted graphics and undoable clone operations.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EF9F27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EF9F27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Deep-clones source graphics; computes the source centroid and rebuilds each member at (target − centroid + memberOffset) so formations preserve relative layout. Offset-paste accepts a vector (distance + bearing) for radial expansion. Integrates with UndoRedoManager so each paste is one entry, and triggers AnnotationEngine for restored labels.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ClipboardEngine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UndoRedoManager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Owns undo/redo stacks and edit snapshots.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Captures pre-edit geometry/control points and stores redoable operation closures.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Operation entries, edited graphics, label options.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Undo/redo counts, labels, restored map state.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EF9F27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EF9F27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LIFO undo + redo stacks of { label, undo, redo } closures. Pre-edit snapshots capture geometry, CTRL_PTS, BASE_LN_PTS, and any additional-graphics state before EditEngine activates. Push clears the redo stack; clear-all drops both stacks to release Graphic references. Public undoCount / redoCount drive UI affordances and the API panel.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UndoRedoManager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KeyboardShortcutManager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Routes global shortcuts for edit, copy/paste, undo/redo, delete, lasso, and navigation actions.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Listens for document keydown events and forwards to SymbolEngine delegates.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Keyboard events and current graphic/selection state.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Triggered edit, selection, clipboard, undo, redo, or navigation action.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EF9F27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EF9F27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Document-level keydown listener that suppresses events targeted at &lt;input&gt;/&lt;textarea&gt;/contenteditable, normalizes Cmd ↔ Ctrl, and dispatches to SymbolEngine delegates (undo, redo, copy, cut, paste, delete, lasso, escape, info, center). Routing favors current edit state, then selection, then last clicked graphic; combos register in declaration order.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KeyboardShortcutManager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AnnotationEngine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Creates and refreshes symbol labels and annotations.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Reads symbol/amplifier label options and places text graphics on annotation layers.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Graphic, DrawEssentials, Amplifier, label settings.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Annotation graphics and refreshed labels after edits.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EF9F27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EF9F27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Owns the ANNOTATION layer. Reads Amplifier label fields + DrawEssentials placement to position each label relative to its parent geometry (offset by font size). Hides annotations during edit / drag; rebuilds after draw, edit, paste, delete, and selection moves so labels stay attached to symbols. Cooperates with the declutter LabelPlacer when enabled.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AnnotationEngine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MeasurementEngine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Calculates lengths, bearings, area, ETA, and measurement labels.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Consumes geometry/control point updates and formats values using configured units.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Geometry, control points, unit settings, speed, declination.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Measurement labels, HUD events, formatted snapshot.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EF9F27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EF9F27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On every draw / sketch update event, computes segment length, total length, bearing, geodesic area, bounding-box extent, slant range, and ETA. Uses geometryEngine for geodesic math and an internal formatter for unit + bearing (decimal / mils / quadrant) + autoUnit scaling. Optional road-following ETA via RoadNetworkEngine. Emits measurement-update events for HUD + widgets.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MeasurementEngine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DrawingCueEngine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Provides live drawing overlays: guides, rings, rubber band, coordinates, and compass.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Activates during drawing and updates visual overlays on pointer movement.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Active view, target layers, cursor, last control point.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Guides, protractor, rings, compass, nearby highlights.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EF9F27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EF9F27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Cue overlays live on a dedicated GraphicsLayer with a 50 ms debounce on pointer-move. Active cues: rubber band, angular guides + protractor arc + fan, anchor cross, distance rings (fixed or adaptive to view scale, capped at maxOuterKm), nearby-highlight rings, cursor coordinate label, and the multi-instance magnetic compass widget.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DrawingCueEngine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ProximityEngine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Finds nearest existing geometry while drawing and renders snap indicators.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Snapshots candidate layers and checks nearest vertex/coordinate per pointer frame.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Target layers, pointer event, snap radius, distance unit.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Snap dot, dashed line, distance/direction label.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EF9F27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EF9F27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Per pointer-move, snapshots candidates from target layers, bbox-pre-filters by screen-space halfDiag, then tests nearest vertex / nearest coordinate within snapRadiusPx. Reuses dot + dashed line + label graphics across frames to avoid GC pressure. Emits proximity-snap / proximity-clear / proximity-hint document events for HUD + audit logs.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ProximityEngine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MGRSEngine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Renders configurable MGRS grid overlays.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Builds grid lines and labels for enabled levels as the view changes.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Active view, grid options, zoom/extent.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MGRS grid graphics and labels.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EF9F27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EF9F27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Derives extent from the active view and rebuilds the overlay on extent / zoom changes (debounced). Generates GZD, 100 km, 10 km, 1 km, and 100 m cell polylines + labels using UTM ↔ MGRS conversion. Per-level visibility is gated by zoom thresholds, with independent color / opacity / width settings; 2D and 3D share the same rebuild path.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MGRSEngine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Symbol Support Engines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TemplateEngine, SymbolMetadataService, Mapper, and TextBoxEngine support symbol lookup, mapping, templates, and text boxes.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Metadata lookup maps user selections to concrete symbol classes and reusable templates.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Symbol key, search text, template data, text settings.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Resolved symbol definition, placement workflow, text graphics.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EF9F27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EF9F27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SymbolMetadataService loads + indexes Symbols.json by SIDC, key, and name tokens; Mapper resolves class names into concrete TS/JS symbol implementations; TemplateEngine pre-fills DrawEssentials + Amplifier for known SIDC patterns and persists user templates; TextBoxEngine draws multi-line styled text graphics. Keeps catalog and decoration concerns out of SymbolEngine.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Symbol Support Engines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Visualization / Declutter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Force overlays, clustering, label placement, leader lines, marker dispersal, priority, and spatial indexing.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Declutter sub-engines reduce visual overload while preserving tactical priority.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Graphics, zoom, density, echelon, label placement settings.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Clusters, ladders, displaced markers, placed labels, leader lines.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EF9F27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EF9F27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SpatialIndex is a grid-bucketed R-tree-style index over symbol screen positions for O(1) neighbour queries. ClusterEngine groups by radius + identity; PriorityResolver ranks by echelon + identity to decide who survives; MarkerDisperser fans co-located symbols out radially; LadderEngine builds halyard-style stacks at high zoom; LabelPlacer runs an 8-position try-fit with leader lines on overflow. DeclutterEngine orchestrates the pipeline and re-runs on pan / zoom with debounce.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Visualization / Declutter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MorphixEngine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Reads and patches editable symbol state.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Extracts current symbol state and applies partial edits through the same render pipeline.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Graphic state, amplifier patch, drawEssentials patch, options patch.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Updated symbol graphic with preserved geometry.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EF9F27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EF9F27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Reads editable symbol state into a kind-aware shape (Point / FPoint / Line / Area), then applies partial patches (amplifier, drawEssentials, options, extraSettings) through the same render pipeline used at draw time. Geometry, CTRL_PTS, and BASE_LN_PTS are preserved; emits update events so AnnotationEngine and UndoRedoManager pick up changes automatically.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MorphixEngine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ImportExport Engines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IOEngine, SerializationEngine, and Plan provide plan persistence and data exchange.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Serialize graphics and reconstruct through saved symbol state and geometry.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Plan JSON, PAMS8 JSON, GeoJSON, symbol layers.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Saved/loaded plans and exchange files.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EF9F27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EF9F27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SerializationEngine maps Graphic → JSON-safe symbol records (SIDC + GEOM + CTRL_PTS + BASE_LN_PTS + DrawEssentials + Amplifier + attributes). Plan.ts owns the PlanDocument schema (metadata + symbols[] + overlays[]). IOEngine drives file dialogs, base64 / Blob download, and format dispatch (PAMS8 JSON, Plan JSON, GeoJSON, templates). Restore replays SymbolEngine.initialize() per record so output matches interactive draws.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ImportExport Engines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DeploymentBuilder / MissionPlanner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Planning workflows for reusable deployments and integrated terrain analysis.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DeploymentBuilder places prepared tactical plans; MissionPlanner orchestrates terrain engines.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AO, observers, symbols, unit/mission settings, optional road network.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Deployment graphics, ranked mission terrain features, reports.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EF9F27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EF9F27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DeploymentBuilder reads reusable formation templates and places them at a user-anchored centroid, rebuilding constituent symbols through the SymbolEngine draw pipeline. MissionPlannerEngine composes existing terrain engines (KeyTerrain, OpRanker, DeadGround, Corridor) along a route or AO and emits a ranked MissionTerrainFeature[] for the dashboard rather than duplicating terrain math.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DeploymentBuilder / MissionPlanner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OCOKA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Evaluate avenues of approach.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Extracts approach corridors and scores them against terrain and mission factors.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AO center/radius, force type, slope threshold, optional road network.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Ranked corridors, chokepoints, score labels, slope/width overlays.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F1B14"/>
          </a:solidFill>
          <a:ln w="15240">
            <a:solidFill>
              <a:srgbClr val="EF9F27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EF9F27"/>
                </a:solidFill>
                <a:latin typeface="Aptos"/>
              </a:rPr>
              <a:t>Scoring / 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Width, masking, trafficability, observation exposure, cover/concealment, and obstacle restriction.</a:t>
            </a:r>
            <a:endParaRPr lang="en-US" sz="1100"/>
          </a:p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Samples a terrain grid over the AO and scores five OCOKA dimensions: Observation (LOS / viewshed), Cover (terrain masking), Concealment (curvature + vegetation proxy), Key terrain (delegated to KeyTerrain output), Avenues (corridors via CorridorEngine). Dimension weights are configurable; output is a per-cell 0–100 heatmap plus ranked corridors with width / trafficability / threat exposure scores. Degrades to terrain-only when the road service is offline.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OCOKA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RoadNetwork / Trafficability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Provide route and mobility context when an external road service is available.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Computes road-following distance/time and trafficability summaries for selected routes.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Start/end points, road service, force/mobility settings.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Road distance, drive time, trafficability summary.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5212A"/>
          </a:solidFill>
          <a:ln w="15240">
            <a:solidFill>
              <a:srgbClr val="EF9F27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EF9F27"/>
                </a:solidFill>
                <a:latin typeface="Aptos"/>
              </a:rPr>
              <a:t>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RoadNetworkEngine wraps an optional external road service: queries nearest road, performs A* / Dijkstra-style routing, and classifies edges (highway / major / minor / track). TrafficabilityEngine augments route segments with terrain-derived attributes (slope, vegetation proxy, wetness) per road class and assigns GO / SLOW-GO / NO-GO. Both fail gracefully — failed calls leave straight-line or terrain-only results intact.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EF9F27"/>
                </a:solidFill>
                <a:latin typeface="Aptos"/>
              </a:rPr>
              <a:t>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RoadNetwork / Trafficability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EF9F27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EF9F27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ANALYSIS 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KeyTerrainIdentificationEngine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65A7FF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65A7FF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Find tactically significant terrain.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Samples elevation, smooths terrain, computes curvature/prominence, detects terrain forms, then scores viewshed.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AO center/extent, radius, cell size, sensitivity, optional road network.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Ranked dominant ground, ridges, saddles, re-entrants, spurs, viewshed overlay.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F1B14"/>
          </a:solidFill>
          <a:ln w="15240">
            <a:solidFill>
              <a:srgbClr val="65A7FF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65A7FF"/>
                </a:solidFill>
                <a:latin typeface="Aptos"/>
              </a:rPr>
              <a:t>Scoring / 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35% prominence + 40% viewshed + 15% elevation + 10% tactical type weight.</a:t>
            </a:r>
            <a:endParaRPr lang="en-US" sz="1100"/>
          </a:p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Samples a configurable elevation grid (20–70 m cell) via ElevationSampler, applies a 3×3 Gaussian smooth, derives Laplacian + plan / profile curvature for landform class, computes prominence within a radius, and runs 36-ray viewshed scoring at each candidate. Ranks features (dominant ground / ridge / saddle / re-entrant / spur) by 35% prominence + 40% viewshed + 15% elevation + 10% type weight.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ANALYSIS 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KeyTerrainIdentificationEngine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65A7FF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65A7FF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ANALYSIS 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PosDefScorerEngine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65A7FF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65A7FF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Score defensive or fighting positions.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Checks observation, fields of fire, cover, concealment, egress, and rear dead ground.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Position point, observer height, observation radius, slope radius, threat bearing, egress waypoints, optional road network.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Defensibility grade, factor radar, LOS spokes, egress routes, history.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F1B14"/>
          </a:solidFill>
          <a:ln w="15240">
            <a:solidFill>
              <a:srgbClr val="65A7FF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65A7FF"/>
                </a:solidFill>
                <a:latin typeface="Aptos"/>
              </a:rPr>
              <a:t>Scoring / 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Six factors score 0-20, then combine into a 0-100 composite with adjustable weights.</a:t>
            </a:r>
            <a:endParaRPr lang="en-US" sz="1100"/>
          </a:p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Six factors scored 0–20 from the observer point: observation (% visible rays), fields of fire (threat-sector coverage), cover-from-fire (terrain masking), cover-from-view (reverse LOS blocking), egress (terrain + optional RoadNetwork routing), rear dead ground (cells below the rear horizon). Ray casting defaults to 10° resolution and uses haversine for ground distances. Composite 0–100 with per-factor weights; emits radar + LOS spokes + egress overlays.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ANALYSIS 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PosDefScorerEngine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65A7FF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65A7FF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ANALYSIS 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OpRankerEngine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65A7FF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65A7FF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Rank candidate observation posts.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Computes viewshed raster for each OP, then compares total and unique AO coverage.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Candidate OP points, AO radius, observer height, max range.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Ranked OP list, recommended optimal set, coverage heatmap, gap zones.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F1B14"/>
          </a:solidFill>
          <a:ln w="15240">
            <a:solidFill>
              <a:srgbClr val="65A7FF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65A7FF"/>
                </a:solidFill>
                <a:latin typeface="Aptos"/>
              </a:rPr>
              <a:t>Scoring / 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Unique coverage is highest priority, then total viewshed, with masking/gap penalties.</a:t>
            </a:r>
            <a:endParaRPr lang="en-US" sz="1100"/>
          </a:p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For each candidate OP, casts horizon rays at ~2° resolution out to maxRange (3.5 km default) and rasterises a coverage layer on a 30–80 m cell grid inside the AO. Combines results with a greedy max-coverage set selector to recommend an optimal k-OP team that maximises unique AO coverage; outputs per-OP unique%, total%, gap area, and an aggregated count heatmap with road-access enrichment.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ANALYSIS 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OpRankerEngine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65A7FF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65A7FF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ANALYSIS 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LocalPeaksEngine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65A7FF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65A7FF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Detect terrain peaks or valleys.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Samples elevation, smooths noise, detects local maxima/minima, filters by prominence and isolation.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AOI, cell size, search radius, prominence threshold, isolation threshold.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Ranked peaks/valleys, elevation profile, CSV/GeoJSON/Shapefile export.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F1B14"/>
          </a:solidFill>
          <a:ln w="15240">
            <a:solidFill>
              <a:srgbClr val="65A7FF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65A7FF"/>
                </a:solidFill>
                <a:latin typeface="Aptos"/>
              </a:rPr>
              <a:t>Scoring / 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Ranks by prominence/elevation/isolation after threshold filtering.</a:t>
            </a:r>
            <a:endParaRPr lang="en-US" sz="1100"/>
          </a:p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ElevationSampler builds a regular grid over the AOI, 3×3 Gaussian smooths it, then scans 3×3 neighbourhoods for local maxima / minima. Each candidate is filtered by topographic prominence (height above the connecting saddle) and isolation (distance to the next higher peak). Surviving features rank by a prominence × elevation × isolation composite; outputs CSV / GeoJSON / Shapefile and an elevation profile cross-section.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ANALYSIS 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LocalPeaksEngine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65A7FF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65A7FF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ANALYSIS 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DeadGroundMapper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65A7FF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65A7FF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Identify areas hidden from observation.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Compares terrain profiles from an observer to AO sample cells to separate visible and masked ground.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Observer point, observer height, AO/range, terrain/elevation.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Visible zones, dead-ground zones, summary metrics.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F1B14"/>
          </a:solidFill>
          <a:ln w="15240">
            <a:solidFill>
              <a:srgbClr val="65A7FF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65A7FF"/>
                </a:solidFill>
                <a:latin typeface="Aptos"/>
              </a:rPr>
              <a:t>Scoring / 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Visibility is determined by terrain line-of-sight obstruction.</a:t>
            </a:r>
            <a:endParaRPr lang="en-US" sz="1100"/>
          </a:p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Builds a per-bearing horizon cache from the observer, then samples AO cells and classifies each by (observer-LOS angle − target-ground angle). Renders depth-coloured heatmap (continuous ramp), binary visible / masked, range-fade, or quadrant-hued modes. 3D adds a viewshed dome (azimuth × elevation rays) with cap / skirt mesh and contour bands.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ANALYSIS 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DeadGroundMapper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65A7FF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65A7FF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ANALYSIS 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LOSEngine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65A7FF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65A7FF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Analyze line of sight and viewshed style coverage.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Tests observer-to-target rays against terrain elevation.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Observer/target points, observer height, terrain/elevation.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Visible/blocked segments or coverage overlays.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F1B14"/>
          </a:solidFill>
          <a:ln w="15240">
            <a:solidFill>
              <a:srgbClr val="65A7FF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65A7FF"/>
                </a:solidFill>
                <a:latin typeface="Aptos"/>
              </a:rPr>
              <a:t>Scoring / 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Terrain obstruction determines visible versus blocked paths.</a:t>
            </a:r>
            <a:endParaRPr lang="en-US" sz="1100"/>
          </a:p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Ray-casts at fixed angular resolution between observer and target using ElevationSampler; checks target slope against the maximum intervening terrain slope. 3D views additionally call ArcGIS ViewshedAnalysis for dome rendering. Maintains three layers (los-analysis, los-observer, los-committed) so working / persisted results stay separate; supports multi-target lists and per-target visible / blocked segments.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ANALYSIS 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LOSEngine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65A7FF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65A7FF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ANALYSIS 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WeaponEffectEngine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65A7FF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65A7FF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Show weapon engagement zones.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Builds a directional sector from weapon range, traverse, and elevation envelope; optional terrain masking subtracts blocked areas.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Firing point, weapon preset/range, direction, traverse/elevation limits, optional terrain masking.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Engagement sector, range zones, terrain-masked areas.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F1B14"/>
          </a:solidFill>
          <a:ln w="15240">
            <a:solidFill>
              <a:srgbClr val="65A7FF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65A7FF"/>
                </a:solidFill>
                <a:latin typeface="Aptos"/>
              </a:rPr>
              <a:t>Scoring / 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Range limits, arc/traverse, elevation envelope, and terrain mask.</a:t>
            </a:r>
            <a:endParaRPr lang="en-US" sz="1100"/>
          </a:p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Builds a directional sector from a preset (Direct Fire / Mortar / Artillery 155 / ATGM / Anti-Air / Anti-Armor) parameterised by min / max range (50 m – 30 km), azimuth spread (60–360°), elevation envelope (−10°–90°), and extrude height. Generates inner / outer geodesic rings + a 3D dome via ENU → WGS84 transform. Optional terrain masking subtracts blocked cells.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ANALYSIS 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WeaponEffectEngine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65A7FF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65A7FF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ANALYSIS 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TrajectoryEngine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65A7FF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65A7FF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Analyze projectile trajectory.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Computes and displays projectile path context against range and elevation settings.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Origin, target/range, launch parameters, elevation.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Trajectory path and impact/clearance context.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F1B14"/>
          </a:solidFill>
          <a:ln w="15240">
            <a:solidFill>
              <a:srgbClr val="65A7FF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65A7FF"/>
                </a:solidFill>
                <a:latin typeface="Aptos"/>
              </a:rPr>
              <a:t>Scoring / 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Ballistic path parameters and terrain/elevation context.</a:t>
            </a:r>
            <a:endParaRPr lang="en-US" sz="1100"/>
          </a:p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Solves projectile motion via an RK4-style ODE integrator with eight presets (60 / 81 / 120 mm mortars, 105 / 155 mm artillery, ATGM, RPG-7, loitering munition). Inputs: launch angle, muzzle velocity 115–827 m/s, azimuth, wind speed / bearing, Coriolis. Outputs apogee, time-of-flight, impact point, and a preset CEP (1–70 m). Renders arc + apogee mark + impact circle.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ANALYSIS 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TrajectoryEngine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65A7FF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65A7FF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ANALYSIS 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BufferEngine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65A7FF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65A7FF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Create threat rings and distance buffers.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Builds configured radius zones around source graphics and highlights overlaps.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Source point/graphic and radius presets.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Rings, buffer zones, overlap/contested areas.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F1B14"/>
          </a:solidFill>
          <a:ln w="15240">
            <a:solidFill>
              <a:srgbClr val="65A7FF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65A7FF"/>
                </a:solidFill>
                <a:latin typeface="Aptos"/>
              </a:rPr>
              <a:t>Scoring / 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Distance thresholds and configured radius presets.</a:t>
            </a:r>
            <a:endParaRPr lang="en-US" sz="1100"/>
          </a:p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Builds geodesic ring polygons at configurable radii around single / unioned / corridor sources using geometryEngine.geodesicBuffer. Six presets cover 155 mm artillery, 81 mm mortar, ATGM, IED / VBIED, NBC, and observation post; rings are colour-coded by threat tier (safe / warning / lethal / dead / exclusion / info). Overlaps are highlighted via union + intersect for contested areas.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ANALYSIS 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BufferEngine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65A7FF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65A7FF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ANALYSIS 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CorridorEngine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65A7FF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65A7FF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Analyze corridors along routes.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Scores route segments inside a corridor against width and threat/intersection context.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Route/waypoints, corridor width, threat geometries.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Corridor segments and scores.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F1B14"/>
          </a:solidFill>
          <a:ln w="15240">
            <a:solidFill>
              <a:srgbClr val="65A7FF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65A7FF"/>
                </a:solidFill>
                <a:latin typeface="Aptos"/>
              </a:rPr>
              <a:t>Scoring / 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Segment score combines route corridor context and nearby threat geometry.</a:t>
            </a:r>
            <a:endParaRPr lang="en-US" sz="1100"/>
          </a:p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Densifies the route to 20–40 m segments, scores each segment for terrain exposure (slope + LOS-ability to threats), and detects chokepoints by clustering high-exposure cells. Threat overlays at 700–3000 m radius shade segments by risk tier. Optional road-following via RoadNetworkEngine adds true distance, drive time, and trafficability; emits an average exposure score 0–100 plus per-segment rendering.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ANALYSIS 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CorridorEngine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65A7FF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65A7FF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ANALYSIS ENGINE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EffectEngine / FlightEngine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7124700" y="1447800"/>
            <a:ext cx="4210050" cy="363855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65A7FF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7353300" y="1676400"/>
            <a:ext cx="3752850" cy="318135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7391400" y="3019425"/>
            <a:ext cx="36766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4" name="Shape 44">
            <a:hlinkClick r:id="rId2" action="ppaction://hlinksldjump"/>
          </p:cNvPr>
          <p:cNvSpPr/>
          <p:nvPr/>
        </p:nvSpPr>
        <p:spPr>
          <a:xfrm>
            <a:off x="8172450" y="5257800"/>
            <a:ext cx="19621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65A7FF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Open screenshot slide</a:t>
            </a:r>
            <a:endParaRPr lang="en-US" sz="1150"/>
          </a:p>
        </p:txBody>
      </p:sp>
      <p:sp>
        <p:nvSpPr>
          <p:cNvPr id="60" name="Shape 60"/>
          <p:cNvSpPr/>
          <p:nvPr/>
        </p:nvSpPr>
        <p:spPr>
          <a:xfrm>
            <a:off x="685800" y="1428750"/>
            <a:ext cx="9525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Purpose</a:t>
            </a:r>
            <a:endParaRPr lang="en-US" sz="1100"/>
          </a:p>
        </p:txBody>
      </p:sp>
      <p:sp>
        <p:nvSpPr>
          <p:cNvPr id="61" name="Shape 61"/>
          <p:cNvSpPr/>
          <p:nvPr/>
        </p:nvSpPr>
        <p:spPr>
          <a:xfrm>
            <a:off x="685800" y="1657350"/>
            <a:ext cx="58102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900" b="1">
                <a:solidFill>
                  <a:srgbClr val="F4F7F4"/>
                </a:solidFill>
                <a:latin typeface="Aptos"/>
              </a:rPr>
              <a:t>Show effects radius overlays and UAV route/coverage analysis.</a:t>
            </a:r>
            <a:endParaRPr lang="en-US" sz="1900"/>
          </a:p>
        </p:txBody>
      </p:sp>
      <p:sp>
        <p:nvSpPr>
          <p:cNvPr id="62" name="Shape 62"/>
          <p:cNvSpPr/>
          <p:nvPr/>
        </p:nvSpPr>
        <p:spPr>
          <a:xfrm>
            <a:off x="685800" y="2343150"/>
            <a:ext cx="5810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How it works</a:t>
            </a:r>
            <a:endParaRPr lang="en-US" sz="1100"/>
          </a:p>
        </p:txBody>
      </p:sp>
      <p:sp>
        <p:nvSpPr>
          <p:cNvPr id="63" name="Shape 63"/>
          <p:cNvSpPr/>
          <p:nvPr/>
        </p:nvSpPr>
        <p:spPr>
          <a:xfrm>
            <a:off x="685800" y="2628900"/>
            <a:ext cx="581025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 marL="285750" indent="-171450">
              <a:buChar char="-"/>
            </a:pPr>
            <a:r>
              <a:rPr lang="en-US" sz="1450">
                <a:solidFill>
                  <a:srgbClr val="F4F7F4"/>
                </a:solidFill>
                <a:latin typeface="Aptos"/>
              </a:rPr>
              <a:t>EffectEngine draws effects zones; FlightEngine supports UAV mission route and coverage workflows.</a:t>
            </a:r>
            <a:endParaRPr lang="en-US" sz="1450"/>
          </a:p>
        </p:txBody>
      </p:sp>
      <p:sp>
        <p:nvSpPr>
          <p:cNvPr id="64" name="Shape 64"/>
          <p:cNvSpPr/>
          <p:nvPr/>
        </p:nvSpPr>
        <p:spPr>
          <a:xfrm>
            <a:off x="685800" y="3695700"/>
            <a:ext cx="2714625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85725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Inputs</a:t>
            </a:r>
            <a:endParaRPr lang="en-US" sz="1100"/>
          </a:p>
        </p:txBody>
      </p:sp>
      <p:sp>
        <p:nvSpPr>
          <p:cNvPr id="66" name="Shape 66"/>
          <p:cNvSpPr/>
          <p:nvPr/>
        </p:nvSpPr>
        <p:spPr>
          <a:xfrm>
            <a:off x="857250" y="409575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Effect source/radius or UAV route/mission inputs.</a:t>
            </a:r>
            <a:endParaRPr lang="en-US" sz="1350"/>
          </a:p>
        </p:txBody>
      </p:sp>
      <p:sp>
        <p:nvSpPr>
          <p:cNvPr id="67" name="Shape 67"/>
          <p:cNvSpPr/>
          <p:nvPr/>
        </p:nvSpPr>
        <p:spPr>
          <a:xfrm>
            <a:off x="3638550" y="3695700"/>
            <a:ext cx="2857500" cy="1219200"/>
          </a:xfrm>
          <a:prstGeom prst="roundRect">
            <a:avLst/>
          </a:prstGeom>
          <a:solidFill>
            <a:srgbClr val="1A252A"/>
          </a:solidFill>
          <a:ln w="1270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3810000" y="3829050"/>
            <a:ext cx="238125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Outputs</a:t>
            </a:r>
            <a:endParaRPr lang="en-US" sz="1100"/>
          </a:p>
        </p:txBody>
      </p:sp>
      <p:sp>
        <p:nvSpPr>
          <p:cNvPr id="69" name="Shape 69"/>
          <p:cNvSpPr/>
          <p:nvPr/>
        </p:nvSpPr>
        <p:spPr>
          <a:xfrm>
            <a:off x="3810000" y="4095750"/>
            <a:ext cx="247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350">
                <a:solidFill>
                  <a:srgbClr val="F4F7F4"/>
                </a:solidFill>
                <a:latin typeface="Aptos"/>
              </a:rPr>
              <a:t>Effects overlays, UAV route and coverage analysis.</a:t>
            </a:r>
            <a:endParaRPr lang="en-US" sz="1350"/>
          </a:p>
        </p:txBody>
      </p:sp>
      <p:sp>
        <p:nvSpPr>
          <p:cNvPr id="70" name="Shape 70"/>
          <p:cNvSpPr/>
          <p:nvPr/>
        </p:nvSpPr>
        <p:spPr>
          <a:xfrm>
            <a:off x="685800" y="4953000"/>
            <a:ext cx="5810250" cy="1066800"/>
          </a:xfrm>
          <a:prstGeom prst="roundRect">
            <a:avLst/>
          </a:prstGeom>
          <a:solidFill>
            <a:srgbClr val="1F1B14"/>
          </a:solidFill>
          <a:ln w="15240">
            <a:solidFill>
              <a:srgbClr val="65A7FF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85800" y="4953000"/>
            <a:ext cx="38100" cy="10668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876300" y="5029200"/>
            <a:ext cx="53340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050" b="1">
                <a:solidFill>
                  <a:srgbClr val="65A7FF"/>
                </a:solidFill>
                <a:latin typeface="Aptos"/>
              </a:rPr>
              <a:t>Scoring / technical basis</a:t>
            </a:r>
            <a:endParaRPr lang="en-US" sz="1050"/>
          </a:p>
        </p:txBody>
      </p:sp>
      <p:sp>
        <p:nvSpPr>
          <p:cNvPr id="72" name="Shape 72"/>
          <p:cNvSpPr/>
          <p:nvPr/>
        </p:nvSpPr>
        <p:spPr>
          <a:xfrm>
            <a:off x="876300" y="5257800"/>
            <a:ext cx="55245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95250" rIns="95250" tIns="95250" bIns="95250"/>
          <a:lstStyle/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Configured radius/mission parameters and route coverage context.</a:t>
            </a:r>
            <a:endParaRPr lang="en-US" sz="1100"/>
          </a:p>
          <a:p>
            <a:pPr>
              <a:buNone/>
            </a:pPr>
            <a:r>
              <a:rPr lang="en-US" sz="1100">
                <a:solidFill>
                  <a:srgbClr val="F4F7F4"/>
                </a:solidFill>
                <a:latin typeface="Aptos"/>
              </a:rPr>
              <a:t>EffectEngine draws munition-effects circles around source graphics using preset radii (frag, blast, casualty), colour-banded by lethality tier. FlightEngine models low-level helicopter / UAV legs with terrain masking, wind drift, and optional road-following for ingress; renders the flight path, LOS-to-threat shading, and nap-of-earth feasibility with altitude / climb / turn-radius constraints.</a:t>
            </a:r>
            <a:endParaRPr lang="en-US" sz="1100"/>
          </a:p>
        </p:txBody>
      </p:sp>
      <p:sp>
        <p:nvSpPr>
          <p:cNvPr id="90" name="Shape 90">
            <a:hlinkClick r:id="rId3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61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1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4800" y="304800"/>
            <a:ext cx="11582400" cy="6248400"/>
          </a:xfrm>
          <a:prstGeom prst="roundRect">
            <a:avLst/>
          </a:prstGeom>
          <a:solidFill>
            <a:srgbClr val="151D21"/>
          </a:solidFill>
          <a:ln w="15240">
            <a:solidFill>
              <a:srgbClr val="33444B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495300" y="400050"/>
            <a:ext cx="66675" cy="457200"/>
          </a:xfrm>
          <a:prstGeom prst="rect">
            <a:avLst/>
          </a:prstGeom>
          <a:solidFill>
            <a:srgbClr val="65A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85800" y="36195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1100" b="1">
                <a:solidFill>
                  <a:srgbClr val="65A7FF"/>
                </a:solidFill>
                <a:latin typeface="Aptos"/>
              </a:rPr>
              <a:t>ANALYSIS ENGINE VISUAL</a:t>
            </a:r>
            <a:endParaRPr lang="en-US" sz="1100"/>
          </a:p>
        </p:txBody>
      </p:sp>
      <p:sp>
        <p:nvSpPr>
          <p:cNvPr id="22" name="Shape 22"/>
          <p:cNvSpPr/>
          <p:nvPr/>
        </p:nvSpPr>
        <p:spPr>
          <a:xfrm>
            <a:off x="685800" y="571500"/>
            <a:ext cx="93345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>
              <a:buNone/>
            </a:pPr>
            <a:r>
              <a:rPr lang="en-US" sz="2700" b="1">
                <a:solidFill>
                  <a:srgbClr val="F4F7F4"/>
                </a:solidFill>
                <a:latin typeface="Aptos"/>
              </a:rPr>
              <a:t>EffectEngine / FlightEngine Screenshot</a:t>
            </a:r>
            <a:endParaRPr lang="en-US" sz="2700"/>
          </a:p>
        </p:txBody>
      </p:sp>
      <p:cxnSp>
        <p:nvCxnSpPr>
          <p:cNvPr id="23" name="Line 23"/>
          <p:cNvCxnSpPr/>
          <p:nvPr/>
        </p:nvCxnSpPr>
        <p:spPr>
          <a:xfrm flipV="0">
            <a:off x="495300" y="1123950"/>
            <a:ext cx="11201400" cy="9525"/>
          </a:xfrm>
          <a:prstGeom prst="line">
            <a:avLst/>
          </a:prstGeom>
          <a:ln w="12700">
            <a:solidFill>
              <a:srgbClr val="33444B"/>
            </a:solidFill>
          </a:ln>
        </p:spPr>
        <p:style/>
      </p:cxnSp>
      <p:sp>
        <p:nvSpPr>
          <p:cNvPr id="40" name="Shape 40"/>
          <p:cNvSpPr/>
          <p:nvPr/>
        </p:nvSpPr>
        <p:spPr>
          <a:xfrm>
            <a:off x="876300" y="1428750"/>
            <a:ext cx="10363200" cy="4572000"/>
          </a:xfrm>
          <a:prstGeom prst="roundRect">
            <a:avLst/>
          </a:prstGeom>
          <a:solidFill>
            <a:srgbClr val="12191D"/>
          </a:solidFill>
          <a:ln w="16510">
            <a:solidFill>
              <a:srgbClr val="65A7FF"/>
            </a:solidFill>
          </a:ln>
        </p:spPr>
        <p:txBody>
          <a:bodyPr/>
          <a:lstStyle/>
          <a:p/>
        </p:txBody>
      </p:sp>
      <p:cxnSp>
        <p:nvCxnSpPr>
          <p:cNvPr id="41" name="Line 41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cxnSp>
        <p:nvCxnSpPr>
          <p:cNvPr id="42" name="Line 42"/>
          <p:cNvCxnSpPr/>
          <p:nvPr/>
        </p:nvCxnSpPr>
        <p:spPr>
          <a:xfrm flipV="0">
            <a:off x="1104900" y="1657350"/>
            <a:ext cx="9906000" cy="4114800"/>
          </a:xfrm>
          <a:prstGeom prst="line">
            <a:avLst/>
          </a:prstGeom>
          <a:ln w="12700">
            <a:solidFill>
              <a:srgbClr val="40545D"/>
            </a:solidFill>
          </a:ln>
        </p:spPr>
        <p:style/>
      </p:cxnSp>
      <p:sp>
        <p:nvSpPr>
          <p:cNvPr id="43" name="Shape 43"/>
          <p:cNvSpPr/>
          <p:nvPr/>
        </p:nvSpPr>
        <p:spPr>
          <a:xfrm>
            <a:off x="1143000" y="3467100"/>
            <a:ext cx="98298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2000" b="1">
                <a:solidFill>
                  <a:srgbClr val="A8B7B1"/>
                </a:solidFill>
                <a:latin typeface="Aptos"/>
              </a:rPr>
              <a:t>Add screenshot here</a:t>
            </a:r>
            <a:endParaRPr lang="en-US" sz="2000"/>
          </a:p>
        </p:txBody>
      </p:sp>
      <p:sp>
        <p:nvSpPr>
          <p:cNvPr id="46" name="Shape 46"/>
          <p:cNvSpPr/>
          <p:nvPr/>
        </p:nvSpPr>
        <p:spPr>
          <a:xfrm>
            <a:off x="1047750" y="5676900"/>
            <a:ext cx="9334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400">
                <a:solidFill>
                  <a:srgbClr val="A8B7B1"/>
                </a:solidFill>
                <a:latin typeface="Aptos"/>
              </a:rPr>
              <a:t>Paste or insert a live application screenshot here. This slide is intentionally blank for your demo visuals.</a:t>
            </a:r>
            <a:endParaRPr lang="en-US" sz="1400"/>
          </a:p>
        </p:txBody>
      </p:sp>
      <p:sp>
        <p:nvSpPr>
          <p:cNvPr id="90" name="Shape 90">
            <a:hlinkClick r:id="rId2" action="ppaction://hlinksldjump"/>
          </p:cNvPr>
          <p:cNvSpPr/>
          <p:nvPr/>
        </p:nvSpPr>
        <p:spPr>
          <a:xfrm>
            <a:off x="495300" y="6096000"/>
            <a:ext cx="1600200" cy="361950"/>
          </a:xfrm>
          <a:prstGeom prst="roundRect">
            <a:avLst/>
          </a:prstGeom>
          <a:solidFill>
            <a:srgbClr val="223139"/>
          </a:solidFill>
          <a:ln w="12700">
            <a:solidFill>
              <a:srgbClr val="58C98B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300" b="1">
                <a:solidFill>
                  <a:srgbClr val="F4F7F4"/>
                </a:solidFill>
                <a:latin typeface="Aptos"/>
              </a:rPr>
              <a:t>Back to Index</a:t>
            </a:r>
            <a:endParaRPr lang="en-US" sz="1300"/>
          </a:p>
        </p:txBody>
      </p:sp>
      <p:sp>
        <p:nvSpPr>
          <p:cNvPr id="91" name="Shape 91">
            <a:hlinkClick r:id="rId3" action="ppaction://hlinksldjump"/>
          </p:cNvPr>
          <p:cNvSpPr/>
          <p:nvPr/>
        </p:nvSpPr>
        <p:spPr>
          <a:xfrm>
            <a:off x="9620250" y="6096000"/>
            <a:ext cx="1809750" cy="323850"/>
          </a:xfrm>
          <a:prstGeom prst="roundRect">
            <a:avLst/>
          </a:prstGeom>
          <a:solidFill>
            <a:srgbClr val="1B272C"/>
          </a:solidFill>
          <a:ln w="12700">
            <a:solidFill>
              <a:srgbClr val="65A7FF"/>
            </a:solidFill>
          </a:ln>
        </p:spPr>
        <p:txBody>
          <a:bodyPr wrap="square" anchor="ctr" lIns="95250" rIns="95250" tIns="95250" bIns="95250"/>
          <a:lstStyle/>
          <a:p>
            <a:pPr algn="ctr">
              <a:buNone/>
            </a:pPr>
            <a:r>
              <a:rPr lang="en-US" sz="1150" b="1">
                <a:solidFill>
                  <a:srgbClr val="F4F7F4"/>
                </a:solidFill>
                <a:latin typeface="Aptos"/>
              </a:rPr>
              <a:t>Back to feature</a:t>
            </a:r>
            <a:endParaRPr lang="en-US" sz="11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MS8 Tactical">
  <a:themeElements>
    <a:clrScheme name="PAMS8">
      <a:dk1>
        <a:srgbClr val="111619"/>
      </a:dk1>
      <a:lt1>
        <a:srgbClr val="F4F7F4"/>
      </a:lt1>
      <a:dk2>
        <a:srgbClr val="182127"/>
      </a:dk2>
      <a:lt2>
        <a:srgbClr val="A8B7B1"/>
      </a:lt2>
      <a:accent1>
        <a:srgbClr val="58C98B"/>
      </a:accent1>
      <a:accent2>
        <a:srgbClr val="EF9F27"/>
      </a:accent2>
      <a:accent3>
        <a:srgbClr val="65A7FF"/>
      </a:accent3>
      <a:accent4>
        <a:srgbClr val="DC3C30"/>
      </a:accent4>
      <a:accent5>
        <a:srgbClr val="7A8C92"/>
      </a:accent5>
      <a:accent6>
        <a:srgbClr val="C7D1CC"/>
      </a:accent6>
      <a:hlink>
        <a:srgbClr val="58C98B"/>
      </a:hlink>
      <a:folHlink>
        <a:srgbClr val="EF9F27"/>
      </a:folHlink>
    </a:clrScheme>
    <a:fontScheme name="PAMS8">
      <a:majorFont>
        <a:latin typeface="Aptos Display"/>
      </a:majorFont>
      <a:minorFont>
        <a:latin typeface="Aptos"/>
      </a:minorFont>
    </a:fontScheme>
    <a:fmtScheme name="PAMS8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Widescreen</PresentationFormat>
  <Slides>93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PAMS8 Feature Showcase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PAMS8 Feature Showcase</dc:title>
  <dc:creator>Codex</dc:creator>
  <cp:lastModifiedBy>Codex</cp:lastModifiedBy>
  <dcterms:created xsi:type="dcterms:W3CDTF">2026-06-03T00:00:00Z</dcterms:created>
  <dcterms:modified xsi:type="dcterms:W3CDTF">2026-06-03T00:00:00Z</dcterms:modified>
</cp:coreProperties>
</file>