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8B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02920" y="502920"/>
            <a:ext cx="292608" cy="0"/>
          </a:xfrm>
          <a:prstGeom prst="line">
            <a:avLst/>
          </a:prstGeom>
          <a:ln w="9525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502920" y="502920"/>
            <a:ext cx="0" cy="292608"/>
          </a:xfrm>
          <a:prstGeom prst="line">
            <a:avLst/>
          </a:prstGeom>
          <a:ln w="9525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1396167" y="502920"/>
            <a:ext cx="292608" cy="0"/>
          </a:xfrm>
          <a:prstGeom prst="line">
            <a:avLst/>
          </a:prstGeom>
          <a:ln w="9525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688775" y="502920"/>
            <a:ext cx="0" cy="292608"/>
          </a:xfrm>
          <a:prstGeom prst="line">
            <a:avLst/>
          </a:prstGeom>
          <a:ln w="9525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02920" y="6062472"/>
            <a:ext cx="0" cy="292608"/>
          </a:xfrm>
          <a:prstGeom prst="line">
            <a:avLst/>
          </a:prstGeom>
          <a:ln w="9525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02920" y="6355080"/>
            <a:ext cx="292608" cy="0"/>
          </a:xfrm>
          <a:prstGeom prst="line">
            <a:avLst/>
          </a:prstGeom>
          <a:ln w="9525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396167" y="6355080"/>
            <a:ext cx="292608" cy="0"/>
          </a:xfrm>
          <a:prstGeom prst="line">
            <a:avLst/>
          </a:prstGeom>
          <a:ln w="9525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688775" y="6062472"/>
            <a:ext cx="0" cy="292608"/>
          </a:xfrm>
          <a:prstGeom prst="line">
            <a:avLst/>
          </a:prstGeom>
          <a:ln w="9525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327751" y="2002536"/>
            <a:ext cx="1645920" cy="1645920"/>
          </a:xfrm>
          <a:prstGeom prst="ellipse">
            <a:avLst/>
          </a:prstGeom>
          <a:noFill/>
          <a:ln w="7620">
            <a:solidFill>
              <a:srgbClr val="0F0F0F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318607" y="2011680"/>
            <a:ext cx="1554480" cy="1554480"/>
          </a:xfrm>
          <a:prstGeom prst="ellipse">
            <a:avLst/>
          </a:prstGeom>
          <a:noFill/>
          <a:ln w="12700"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V="1">
            <a:off x="5765520.5" y="2649016.8"/>
            <a:ext cx="291465.0" cy="178765.2000000002"/>
          </a:xfrm>
          <a:prstGeom prst="line">
            <a:avLst/>
          </a:prstGeom>
          <a:ln w="1270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56985.5" y="2649016.8"/>
            <a:ext cx="77724.0" cy="178765.2000000002"/>
          </a:xfrm>
          <a:prstGeom prst="line">
            <a:avLst/>
          </a:prstGeom>
          <a:ln w="1270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173571.5" y="2827782.0"/>
            <a:ext cx="252603.0" cy="0.0"/>
          </a:xfrm>
          <a:prstGeom prst="line">
            <a:avLst/>
          </a:prstGeom>
          <a:ln w="1270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084167.5" y="4069080"/>
            <a:ext cx="201168.0" cy="0"/>
          </a:xfrm>
          <a:prstGeom prst="line">
            <a:avLst/>
          </a:prstGeom>
          <a:ln w="1270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084167.5" y="4069080"/>
            <a:ext cx="0.0" cy="777240"/>
          </a:xfrm>
          <a:prstGeom prst="line">
            <a:avLst/>
          </a:prstGeom>
          <a:ln w="1270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084167.5" y="4846320"/>
            <a:ext cx="201168.0" cy="0"/>
          </a:xfrm>
          <a:prstGeom prst="line">
            <a:avLst/>
          </a:prstGeom>
          <a:ln w="1270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906359.5" y="4069080"/>
            <a:ext cx="201168.0" cy="0"/>
          </a:xfrm>
          <a:prstGeom prst="line">
            <a:avLst/>
          </a:prstGeom>
          <a:ln w="1270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107527.5" y="4069080"/>
            <a:ext cx="0.0" cy="777240"/>
          </a:xfrm>
          <a:prstGeom prst="line">
            <a:avLst/>
          </a:prstGeom>
          <a:ln w="1270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906359.5" y="4846320"/>
            <a:ext cx="201168.0" cy="0"/>
          </a:xfrm>
          <a:prstGeom prst="line">
            <a:avLst/>
          </a:prstGeom>
          <a:ln w="1270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084167" y="4069080"/>
            <a:ext cx="40233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 spc="800">
                <a:solidFill>
                  <a:srgbClr val="0F0F0F"/>
                </a:solidFill>
                <a:latin typeface="Inter"/>
              </a:rPr>
              <a:t>PROJECT ATLAS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718407.5" y="5257800"/>
            <a:ext cx="4754880.0" cy="0"/>
          </a:xfrm>
          <a:prstGeom prst="line">
            <a:avLst/>
          </a:prstGeom>
          <a:ln w="7620">
            <a:solidFill>
              <a:srgbClr val="0F0F0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718407" y="536752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340">
                <a:solidFill>
                  <a:srgbClr val="3A3A3A"/>
                </a:solidFill>
                <a:latin typeface="Consolas"/>
              </a:rPr>
              <a:t>A QUIET CARTOGRAPHY OF WHAT COMES NEXT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486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260">
                <a:solidFill>
                  <a:srgbClr val="6B6B6B"/>
                </a:solidFill>
                <a:latin typeface="Consolas"/>
              </a:rPr>
              <a:t>VOL. 01  ·  EDITION 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9855" y="5486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 spc="260">
                <a:solidFill>
                  <a:srgbClr val="6B6B6B"/>
                </a:solidFill>
                <a:latin typeface="Consolas"/>
              </a:rPr>
              <a:t>2026  —  INTERNAL DRAFT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 spc="200">
                <a:solidFill>
                  <a:srgbClr val="6B6B6B"/>
                </a:solidFill>
                <a:latin typeface="Consolas"/>
              </a:rPr>
              <a:t>01 / 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02575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 i="0" spc="240">
                <a:solidFill>
                  <a:srgbClr val="6B6B6B"/>
                </a:solidFill>
                <a:latin typeface="Consolas"/>
              </a:rPr>
              <a:t>COVER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8B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02920" y="502920"/>
            <a:ext cx="292608" cy="0"/>
          </a:xfrm>
          <a:prstGeom prst="line">
            <a:avLst/>
          </a:prstGeom>
          <a:ln w="9525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502920" y="502920"/>
            <a:ext cx="0" cy="292608"/>
          </a:xfrm>
          <a:prstGeom prst="line">
            <a:avLst/>
          </a:prstGeom>
          <a:ln w="9525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1396167" y="502920"/>
            <a:ext cx="292608" cy="0"/>
          </a:xfrm>
          <a:prstGeom prst="line">
            <a:avLst/>
          </a:prstGeom>
          <a:ln w="9525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688775" y="502920"/>
            <a:ext cx="0" cy="292608"/>
          </a:xfrm>
          <a:prstGeom prst="line">
            <a:avLst/>
          </a:prstGeom>
          <a:ln w="9525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02920" y="6062472"/>
            <a:ext cx="0" cy="292608"/>
          </a:xfrm>
          <a:prstGeom prst="line">
            <a:avLst/>
          </a:prstGeom>
          <a:ln w="9525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02920" y="6355080"/>
            <a:ext cx="292608" cy="0"/>
          </a:xfrm>
          <a:prstGeom prst="line">
            <a:avLst/>
          </a:prstGeom>
          <a:ln w="9525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396167" y="6355080"/>
            <a:ext cx="292608" cy="0"/>
          </a:xfrm>
          <a:prstGeom prst="line">
            <a:avLst/>
          </a:prstGeom>
          <a:ln w="9525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688775" y="6062472"/>
            <a:ext cx="0" cy="292608"/>
          </a:xfrm>
          <a:prstGeom prst="line">
            <a:avLst/>
          </a:prstGeom>
          <a:ln w="9525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280160" y="2194560"/>
            <a:ext cx="32004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0" i="0" spc="-600">
                <a:solidFill>
                  <a:srgbClr val="0F0F0F"/>
                </a:solidFill>
                <a:latin typeface="Inter"/>
              </a:rPr>
              <a:t>01</a:t>
            </a:r>
          </a:p>
        </p:txBody>
      </p:sp>
      <p:sp>
        <p:nvSpPr>
          <p:cNvPr id="11" name="Oval 10"/>
          <p:cNvSpPr/>
          <p:nvPr/>
        </p:nvSpPr>
        <p:spPr>
          <a:xfrm>
            <a:off x="3557016" y="3099816"/>
            <a:ext cx="292608" cy="292608"/>
          </a:xfrm>
          <a:prstGeom prst="ellipse">
            <a:avLst/>
          </a:prstGeom>
          <a:noFill/>
          <a:ln w="11430"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3867912" y="3246120"/>
            <a:ext cx="2350008" cy="0"/>
          </a:xfrm>
          <a:prstGeom prst="line">
            <a:avLst/>
          </a:prstGeom>
          <a:ln w="7620">
            <a:solidFill>
              <a:srgbClr val="0F0F0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355080" y="2944368"/>
            <a:ext cx="146304" cy="0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355080" y="2944368"/>
            <a:ext cx="0" cy="640080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355080" y="3584448"/>
            <a:ext cx="146304" cy="0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1146536" y="2944368"/>
            <a:ext cx="146304" cy="0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292840" y="2944368"/>
            <a:ext cx="0" cy="640080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146536" y="3584448"/>
            <a:ext cx="146304" cy="0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355080" y="2944368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0" spc="1000">
                <a:solidFill>
                  <a:srgbClr val="0F0F0F"/>
                </a:solidFill>
                <a:latin typeface="Inter"/>
              </a:rPr>
              <a:t>DISCOVERY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694176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 spc="360">
                <a:solidFill>
                  <a:srgbClr val="3A3A3A"/>
                </a:solidFill>
                <a:latin typeface="Consolas"/>
              </a:rPr>
              <a:t>PHASE ONE  ·  WEEK 01–04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486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 spc="260">
                <a:solidFill>
                  <a:srgbClr val="6B6B6B"/>
                </a:solidFill>
                <a:latin typeface="Consolas"/>
              </a:rPr>
              <a:t>SECTION  ·  01 OF 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 spc="200">
                <a:solidFill>
                  <a:srgbClr val="6B6B6B"/>
                </a:solidFill>
                <a:latin typeface="Consolas"/>
              </a:rPr>
              <a:t>02 / 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02575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 i="0" spc="240">
                <a:solidFill>
                  <a:srgbClr val="6B6B6B"/>
                </a:solidFill>
                <a:latin typeface="Consolas"/>
              </a:rPr>
              <a:t>DISCOVERY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8B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02920" y="502920"/>
            <a:ext cx="292608" cy="0"/>
          </a:xfrm>
          <a:prstGeom prst="line">
            <a:avLst/>
          </a:prstGeom>
          <a:ln w="9525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502920" y="502920"/>
            <a:ext cx="0" cy="292608"/>
          </a:xfrm>
          <a:prstGeom prst="line">
            <a:avLst/>
          </a:prstGeom>
          <a:ln w="9525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1396167" y="502920"/>
            <a:ext cx="292608" cy="0"/>
          </a:xfrm>
          <a:prstGeom prst="line">
            <a:avLst/>
          </a:prstGeom>
          <a:ln w="9525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688775" y="502920"/>
            <a:ext cx="0" cy="292608"/>
          </a:xfrm>
          <a:prstGeom prst="line">
            <a:avLst/>
          </a:prstGeom>
          <a:ln w="9525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02920" y="6062472"/>
            <a:ext cx="0" cy="292608"/>
          </a:xfrm>
          <a:prstGeom prst="line">
            <a:avLst/>
          </a:prstGeom>
          <a:ln w="9525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02920" y="6355080"/>
            <a:ext cx="292608" cy="0"/>
          </a:xfrm>
          <a:prstGeom prst="line">
            <a:avLst/>
          </a:prstGeom>
          <a:ln w="9525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396167" y="6355080"/>
            <a:ext cx="292608" cy="0"/>
          </a:xfrm>
          <a:prstGeom prst="line">
            <a:avLst/>
          </a:prstGeom>
          <a:ln w="9525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688775" y="6062472"/>
            <a:ext cx="0" cy="292608"/>
          </a:xfrm>
          <a:prstGeom prst="line">
            <a:avLst/>
          </a:prstGeom>
          <a:ln w="9525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68680" y="77724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 spc="400">
                <a:solidFill>
                  <a:srgbClr val="0F0F0F"/>
                </a:solidFill>
                <a:latin typeface="Inter"/>
              </a:rPr>
              <a:t>THE 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207008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3A3A3A"/>
                </a:solidFill>
                <a:latin typeface="Inter"/>
              </a:rPr>
              <a:t>Four passes, each feeding the next — no step skipped.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52347.5" y="2331720"/>
            <a:ext cx="182880.0" cy="0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52347.5" y="2331720"/>
            <a:ext cx="0.0" cy="182880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101187.5" y="2331720"/>
            <a:ext cx="182880.0" cy="0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284067.5" y="2331720"/>
            <a:ext cx="0.0" cy="182880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52347.5" y="4160520"/>
            <a:ext cx="0.0" cy="182880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52347.5" y="4343400"/>
            <a:ext cx="182880.0" cy="0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101187.5" y="4343400"/>
            <a:ext cx="182880.0" cy="0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284067.5" y="4160520"/>
            <a:ext cx="0.0" cy="182880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153515" y="2496312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6B6B6B"/>
                </a:solidFill>
                <a:latin typeface="Consolas"/>
              </a:rPr>
              <a:t>01</a:t>
            </a:r>
          </a:p>
        </p:txBody>
      </p:sp>
      <p:sp>
        <p:nvSpPr>
          <p:cNvPr id="21" name="Oval 20"/>
          <p:cNvSpPr/>
          <p:nvPr/>
        </p:nvSpPr>
        <p:spPr>
          <a:xfrm>
            <a:off x="2964027" y="2542032"/>
            <a:ext cx="128016" cy="128016"/>
          </a:xfrm>
          <a:prstGeom prst="ellipse">
            <a:avLst/>
          </a:prstGeom>
          <a:noFill/>
          <a:ln w="8890"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53515" y="2898648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 spc="320">
                <a:solidFill>
                  <a:srgbClr val="0F0F0F"/>
                </a:solidFill>
                <a:latin typeface="Inter"/>
              </a:rPr>
              <a:t>OBSERVE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53515.5" y="3392424"/>
            <a:ext cx="1929384.0" cy="0"/>
          </a:xfrm>
          <a:prstGeom prst="line">
            <a:avLst/>
          </a:prstGeom>
          <a:ln w="6985">
            <a:solidFill>
              <a:srgbClr val="0F0F0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153515" y="3502152"/>
            <a:ext cx="192938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3A3A3A"/>
                </a:solidFill>
                <a:latin typeface="Inter"/>
              </a:rPr>
              <a:t>Walk the ground. Take only notes, not conclusions.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604107.5" y="2331720"/>
            <a:ext cx="182880.0" cy="0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604107.5" y="2331720"/>
            <a:ext cx="0.0" cy="182880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752947.5" y="2331720"/>
            <a:ext cx="182880.0" cy="0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935827.5" y="2331720"/>
            <a:ext cx="0.0" cy="182880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604107.5" y="4160520"/>
            <a:ext cx="0.0" cy="182880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604107.5" y="4343400"/>
            <a:ext cx="182880.0" cy="0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752947.5" y="4343400"/>
            <a:ext cx="182880.0" cy="0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935827.5" y="4160520"/>
            <a:ext cx="0.0" cy="182880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3805275" y="2496312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6B6B6B"/>
                </a:solidFill>
                <a:latin typeface="Consolas"/>
              </a:rPr>
              <a:t>02</a:t>
            </a:r>
          </a:p>
        </p:txBody>
      </p:sp>
      <p:sp>
        <p:nvSpPr>
          <p:cNvPr id="34" name="Oval 33"/>
          <p:cNvSpPr/>
          <p:nvPr/>
        </p:nvSpPr>
        <p:spPr>
          <a:xfrm>
            <a:off x="5615787" y="2542032"/>
            <a:ext cx="128016" cy="128016"/>
          </a:xfrm>
          <a:prstGeom prst="ellipse">
            <a:avLst/>
          </a:prstGeom>
          <a:noFill/>
          <a:ln w="8890"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05275" y="2898648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 spc="320">
                <a:solidFill>
                  <a:srgbClr val="0F0F0F"/>
                </a:solidFill>
                <a:latin typeface="Inter"/>
              </a:rPr>
              <a:t>ANNOTATE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805275.5" y="3392424"/>
            <a:ext cx="1929384.0" cy="0"/>
          </a:xfrm>
          <a:prstGeom prst="line">
            <a:avLst/>
          </a:prstGeom>
          <a:ln w="6985">
            <a:solidFill>
              <a:srgbClr val="0F0F0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805275" y="3502152"/>
            <a:ext cx="192938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3A3A3A"/>
                </a:solidFill>
                <a:latin typeface="Inter"/>
              </a:rPr>
              <a:t>Mark every assumption — especially the comfortable ones.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255867.5" y="2331720"/>
            <a:ext cx="182880.0" cy="0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255867.5" y="2331720"/>
            <a:ext cx="0.0" cy="182880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404707.5" y="2331720"/>
            <a:ext cx="182880.0" cy="0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587587.5" y="2331720"/>
            <a:ext cx="0.0" cy="182880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255867.5" y="4160520"/>
            <a:ext cx="0.0" cy="182880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255867.5" y="4343400"/>
            <a:ext cx="182880.0" cy="0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404707.5" y="4343400"/>
            <a:ext cx="182880.0" cy="0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587587.5" y="4160520"/>
            <a:ext cx="0.0" cy="182880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457035" y="2496312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6B6B6B"/>
                </a:solidFill>
                <a:latin typeface="Consolas"/>
              </a:rPr>
              <a:t>03</a:t>
            </a:r>
          </a:p>
        </p:txBody>
      </p:sp>
      <p:sp>
        <p:nvSpPr>
          <p:cNvPr id="47" name="Oval 46"/>
          <p:cNvSpPr/>
          <p:nvPr/>
        </p:nvSpPr>
        <p:spPr>
          <a:xfrm>
            <a:off x="8267547" y="2542032"/>
            <a:ext cx="128016" cy="128016"/>
          </a:xfrm>
          <a:prstGeom prst="ellipse">
            <a:avLst/>
          </a:prstGeom>
          <a:noFill/>
          <a:ln w="8890"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57035" y="2898648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 spc="320">
                <a:solidFill>
                  <a:srgbClr val="0F0F0F"/>
                </a:solidFill>
                <a:latin typeface="Inter"/>
              </a:rPr>
              <a:t>MODEL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457035.5" y="3392424"/>
            <a:ext cx="1929384.0" cy="0"/>
          </a:xfrm>
          <a:prstGeom prst="line">
            <a:avLst/>
          </a:prstGeom>
          <a:ln w="6985">
            <a:solidFill>
              <a:srgbClr val="0F0F0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457035" y="3502152"/>
            <a:ext cx="192938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3A3A3A"/>
                </a:solidFill>
                <a:latin typeface="Inter"/>
              </a:rPr>
              <a:t>Sketch the smallest version that still explains the whole.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907627.5" y="2331720"/>
            <a:ext cx="182880.0" cy="0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8907627.5" y="2331720"/>
            <a:ext cx="0.0" cy="182880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1056467.5" y="2331720"/>
            <a:ext cx="182880.0" cy="0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239347.5" y="2331720"/>
            <a:ext cx="0.0" cy="182880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8907627.5" y="4160520"/>
            <a:ext cx="0.0" cy="182880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8907627.5" y="4343400"/>
            <a:ext cx="182880.0" cy="0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1056467.5" y="4343400"/>
            <a:ext cx="182880.0" cy="0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1239347.5" y="4160520"/>
            <a:ext cx="0.0" cy="182880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9108795" y="2496312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6B6B6B"/>
                </a:solidFill>
                <a:latin typeface="Consolas"/>
              </a:rPr>
              <a:t>04</a:t>
            </a:r>
          </a:p>
        </p:txBody>
      </p:sp>
      <p:sp>
        <p:nvSpPr>
          <p:cNvPr id="60" name="Oval 59"/>
          <p:cNvSpPr/>
          <p:nvPr/>
        </p:nvSpPr>
        <p:spPr>
          <a:xfrm>
            <a:off x="10919307" y="2542032"/>
            <a:ext cx="128016" cy="128016"/>
          </a:xfrm>
          <a:prstGeom prst="ellipse">
            <a:avLst/>
          </a:prstGeom>
          <a:noFill/>
          <a:ln w="8890"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108795" y="2898648"/>
            <a:ext cx="1965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 spc="320">
                <a:solidFill>
                  <a:srgbClr val="0F0F0F"/>
                </a:solidFill>
                <a:latin typeface="Inter"/>
              </a:rPr>
              <a:t>TEST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9108795.5" y="3392424"/>
            <a:ext cx="1929384.0" cy="0"/>
          </a:xfrm>
          <a:prstGeom prst="line">
            <a:avLst/>
          </a:prstGeom>
          <a:ln w="6985">
            <a:solidFill>
              <a:srgbClr val="0F0F0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9108795" y="3502152"/>
            <a:ext cx="1929384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3A3A3A"/>
                </a:solidFill>
                <a:latin typeface="Inter"/>
              </a:rPr>
              <a:t>Break it cheaply before someone else breaks it loudly.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3284067.5" y="3337560.0"/>
            <a:ext cx="320040.0" cy="0.0"/>
          </a:xfrm>
          <a:prstGeom prst="line">
            <a:avLst/>
          </a:prstGeom>
          <a:ln w="7620">
            <a:solidFill>
              <a:srgbClr val="0F0F0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5935827.5" y="3337560.0"/>
            <a:ext cx="320040.0" cy="0.0"/>
          </a:xfrm>
          <a:prstGeom prst="line">
            <a:avLst/>
          </a:prstGeom>
          <a:ln w="7620">
            <a:solidFill>
              <a:srgbClr val="0F0F0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8587587.5" y="3337560.0"/>
            <a:ext cx="320040.0" cy="0.0"/>
          </a:xfrm>
          <a:prstGeom prst="line">
            <a:avLst/>
          </a:prstGeom>
          <a:ln w="7620">
            <a:solidFill>
              <a:srgbClr val="0F0F0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73152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 spc="200">
                <a:solidFill>
                  <a:srgbClr val="6B6B6B"/>
                </a:solidFill>
                <a:latin typeface="Consolas"/>
              </a:rPr>
              <a:t>03 / 06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802575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 i="0" spc="240">
                <a:solidFill>
                  <a:srgbClr val="6B6B6B"/>
                </a:solidFill>
                <a:latin typeface="Consolas"/>
              </a:rPr>
              <a:t>DISCOVERY · METHOD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8B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02920" y="502920"/>
            <a:ext cx="292608" cy="0"/>
          </a:xfrm>
          <a:prstGeom prst="line">
            <a:avLst/>
          </a:prstGeom>
          <a:ln w="9525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502920" y="502920"/>
            <a:ext cx="0" cy="292608"/>
          </a:xfrm>
          <a:prstGeom prst="line">
            <a:avLst/>
          </a:prstGeom>
          <a:ln w="9525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1396167" y="502920"/>
            <a:ext cx="292608" cy="0"/>
          </a:xfrm>
          <a:prstGeom prst="line">
            <a:avLst/>
          </a:prstGeom>
          <a:ln w="9525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688775" y="502920"/>
            <a:ext cx="0" cy="292608"/>
          </a:xfrm>
          <a:prstGeom prst="line">
            <a:avLst/>
          </a:prstGeom>
          <a:ln w="9525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02920" y="6062472"/>
            <a:ext cx="0" cy="292608"/>
          </a:xfrm>
          <a:prstGeom prst="line">
            <a:avLst/>
          </a:prstGeom>
          <a:ln w="9525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02920" y="6355080"/>
            <a:ext cx="292608" cy="0"/>
          </a:xfrm>
          <a:prstGeom prst="line">
            <a:avLst/>
          </a:prstGeom>
          <a:ln w="9525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396167" y="6355080"/>
            <a:ext cx="292608" cy="0"/>
          </a:xfrm>
          <a:prstGeom prst="line">
            <a:avLst/>
          </a:prstGeom>
          <a:ln w="9525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688775" y="6062472"/>
            <a:ext cx="0" cy="292608"/>
          </a:xfrm>
          <a:prstGeom prst="line">
            <a:avLst/>
          </a:prstGeom>
          <a:ln w="9525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68680" y="77724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 spc="400">
                <a:solidFill>
                  <a:srgbClr val="0F0F0F"/>
                </a:solidFill>
                <a:latin typeface="Inter"/>
              </a:rPr>
              <a:t>WHAT WE FOUND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20700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3A3A3A"/>
                </a:solidFill>
                <a:latin typeface="Inter"/>
              </a:rPr>
              <a:t>Three numbers that reframed the brief.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6607" y="2286000"/>
            <a:ext cx="338328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0" b="0" i="0" spc="-300">
                <a:solidFill>
                  <a:srgbClr val="0F0F0F"/>
                </a:solidFill>
                <a:latin typeface="Inter"/>
              </a:rPr>
              <a:t>87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6607" y="283464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200" b="1" i="0">
                <a:solidFill>
                  <a:srgbClr val="0F0F0F"/>
                </a:solidFill>
                <a:latin typeface="Consolas"/>
              </a:rPr>
              <a:t>%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06727.5" y="4343400"/>
            <a:ext cx="1463040.0" cy="0"/>
          </a:xfrm>
          <a:prstGeom prst="line">
            <a:avLst/>
          </a:prstGeom>
          <a:ln w="7620">
            <a:solidFill>
              <a:srgbClr val="0F0F0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374239" y="4462272"/>
            <a:ext cx="128016" cy="128016"/>
          </a:xfrm>
          <a:prstGeom prst="ellipse">
            <a:avLst/>
          </a:prstGeom>
          <a:noFill/>
          <a:ln w="8890"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047" y="470916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3A3A3A"/>
                </a:solidFill>
                <a:latin typeface="Inter"/>
              </a:rPr>
              <a:t>of users abandoned</a:t>
            </a:r>
          </a:p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3A3A3A"/>
                </a:solidFill>
                <a:latin typeface="Inter"/>
              </a:rPr>
              <a:t>before the third step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4207" y="2286000"/>
            <a:ext cx="338328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0" b="0" i="0" spc="-300">
                <a:solidFill>
                  <a:srgbClr val="C97B5F"/>
                </a:solidFill>
                <a:latin typeface="Inter"/>
              </a:rPr>
              <a:t>4.2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4207" y="2834640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200" b="1" i="0">
                <a:solidFill>
                  <a:srgbClr val="C97B5F"/>
                </a:solidFill>
                <a:latin typeface="Consolas"/>
              </a:rPr>
              <a:t>x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364327.5" y="4343400"/>
            <a:ext cx="1463040.0" cy="0"/>
          </a:xfrm>
          <a:prstGeom prst="line">
            <a:avLst/>
          </a:prstGeom>
          <a:ln w="7620">
            <a:solidFill>
              <a:srgbClr val="0F0F0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6031839" y="4462272"/>
            <a:ext cx="128016" cy="128016"/>
          </a:xfrm>
          <a:prstGeom prst="ellipse">
            <a:avLst/>
          </a:prstGeom>
          <a:noFill/>
          <a:ln w="8890"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95647" y="470916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3A3A3A"/>
                </a:solidFill>
                <a:latin typeface="Inter"/>
              </a:rPr>
              <a:t>longer sessions when</a:t>
            </a:r>
          </a:p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3A3A3A"/>
                </a:solidFill>
                <a:latin typeface="Inter"/>
              </a:rPr>
              <a:t>the first prompt was open-ended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61807" y="2286000"/>
            <a:ext cx="338328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0" b="0" i="0" spc="-300">
                <a:solidFill>
                  <a:srgbClr val="0F0F0F"/>
                </a:solidFill>
                <a:latin typeface="Inter"/>
              </a:rPr>
              <a:t>01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021927.5" y="4343400"/>
            <a:ext cx="1463040.0" cy="0"/>
          </a:xfrm>
          <a:prstGeom prst="line">
            <a:avLst/>
          </a:prstGeom>
          <a:ln w="7620">
            <a:solidFill>
              <a:srgbClr val="0F0F0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9689439" y="4462272"/>
            <a:ext cx="128016" cy="128016"/>
          </a:xfrm>
          <a:prstGeom prst="ellipse">
            <a:avLst/>
          </a:prstGeom>
          <a:noFill/>
          <a:ln w="8890"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53247" y="470916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3A3A3A"/>
                </a:solidFill>
                <a:latin typeface="Inter"/>
              </a:rPr>
              <a:t>single feature drove</a:t>
            </a:r>
          </a:p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3A3A3A"/>
                </a:solidFill>
                <a:latin typeface="Inter"/>
              </a:rPr>
              <a:t>half of all returns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 spc="200">
                <a:solidFill>
                  <a:srgbClr val="6B6B6B"/>
                </a:solidFill>
                <a:latin typeface="Consolas"/>
              </a:rPr>
              <a:t>04 / 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02575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 i="0" spc="240">
                <a:solidFill>
                  <a:srgbClr val="6B6B6B"/>
                </a:solidFill>
                <a:latin typeface="Consolas"/>
              </a:rPr>
              <a:t>FINDINGS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8B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02920" y="502920"/>
            <a:ext cx="292608" cy="0"/>
          </a:xfrm>
          <a:prstGeom prst="line">
            <a:avLst/>
          </a:prstGeom>
          <a:ln w="9525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502920" y="502920"/>
            <a:ext cx="0" cy="292608"/>
          </a:xfrm>
          <a:prstGeom prst="line">
            <a:avLst/>
          </a:prstGeom>
          <a:ln w="9525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1396167" y="502920"/>
            <a:ext cx="292608" cy="0"/>
          </a:xfrm>
          <a:prstGeom prst="line">
            <a:avLst/>
          </a:prstGeom>
          <a:ln w="9525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688775" y="502920"/>
            <a:ext cx="0" cy="292608"/>
          </a:xfrm>
          <a:prstGeom prst="line">
            <a:avLst/>
          </a:prstGeom>
          <a:ln w="9525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02920" y="6062472"/>
            <a:ext cx="0" cy="292608"/>
          </a:xfrm>
          <a:prstGeom prst="line">
            <a:avLst/>
          </a:prstGeom>
          <a:ln w="9525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02920" y="6355080"/>
            <a:ext cx="292608" cy="0"/>
          </a:xfrm>
          <a:prstGeom prst="line">
            <a:avLst/>
          </a:prstGeom>
          <a:ln w="9525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396167" y="6355080"/>
            <a:ext cx="292608" cy="0"/>
          </a:xfrm>
          <a:prstGeom prst="line">
            <a:avLst/>
          </a:prstGeom>
          <a:ln w="9525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688775" y="6062472"/>
            <a:ext cx="0" cy="292608"/>
          </a:xfrm>
          <a:prstGeom prst="line">
            <a:avLst/>
          </a:prstGeom>
          <a:ln w="9525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68680" y="777240"/>
            <a:ext cx="7315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 spc="400">
                <a:solidFill>
                  <a:srgbClr val="0F0F0F"/>
                </a:solidFill>
                <a:latin typeface="Inter"/>
              </a:rPr>
              <a:t>BEFORE  ·  AFTER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207008"/>
            <a:ext cx="9144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3A3A3A"/>
                </a:solidFill>
                <a:latin typeface="Inter"/>
              </a:rPr>
              <a:t>Same goal, fewer assumptions in the way.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92327.5" y="2057400"/>
            <a:ext cx="219456.0" cy="0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92327.5" y="2057400"/>
            <a:ext cx="0.0" cy="219456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602071.5" y="2057400"/>
            <a:ext cx="219456.0" cy="0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821527.5" y="2057400"/>
            <a:ext cx="0.0" cy="219456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92327.5" y="5952744"/>
            <a:ext cx="0.0" cy="219456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92327.5" y="6172200"/>
            <a:ext cx="219456.0" cy="0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602071.5" y="6172200"/>
            <a:ext cx="219456.0" cy="0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821527.5" y="5952744"/>
            <a:ext cx="0.0" cy="219456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158087" y="2313432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60">
                <a:solidFill>
                  <a:srgbClr val="6B6B6B"/>
                </a:solidFill>
                <a:latin typeface="Consolas"/>
              </a:rPr>
              <a:t>BEFORE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8087" y="2651760"/>
            <a:ext cx="4297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 spc="0">
                <a:solidFill>
                  <a:srgbClr val="0F0F0F"/>
                </a:solidFill>
                <a:latin typeface="Inter"/>
              </a:rPr>
              <a:t>Eleven required fields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158087.5" y="3520440"/>
            <a:ext cx="4297680.0" cy="0"/>
          </a:xfrm>
          <a:prstGeom prst="line">
            <a:avLst/>
          </a:prstGeom>
          <a:ln w="6985">
            <a:solidFill>
              <a:srgbClr val="0F0F0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58087.5" y="3794760"/>
            <a:ext cx="109728.0" cy="0"/>
          </a:xfrm>
          <a:prstGeom prst="line">
            <a:avLst/>
          </a:prstGeom>
          <a:ln w="1016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58087.5" y="3794760"/>
            <a:ext cx="0.0" cy="155448"/>
          </a:xfrm>
          <a:prstGeom prst="line">
            <a:avLst/>
          </a:prstGeom>
          <a:ln w="1016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386687" y="374904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3A3A3A"/>
                </a:solidFill>
                <a:latin typeface="Inter"/>
              </a:rPr>
              <a:t>Three-page onboarding form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158087.5" y="4297680"/>
            <a:ext cx="109728.0" cy="0"/>
          </a:xfrm>
          <a:prstGeom prst="line">
            <a:avLst/>
          </a:prstGeom>
          <a:ln w="1016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158087.5" y="4297680"/>
            <a:ext cx="0.0" cy="155448"/>
          </a:xfrm>
          <a:prstGeom prst="line">
            <a:avLst/>
          </a:prstGeom>
          <a:ln w="1016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386687" y="425196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3A3A3A"/>
                </a:solidFill>
                <a:latin typeface="Inter"/>
              </a:rPr>
              <a:t>Mandatory company size, role, sector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158087.5" y="4800600"/>
            <a:ext cx="109728.0" cy="0"/>
          </a:xfrm>
          <a:prstGeom prst="line">
            <a:avLst/>
          </a:prstGeom>
          <a:ln w="1016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58087.5" y="4800600"/>
            <a:ext cx="0.0" cy="155448"/>
          </a:xfrm>
          <a:prstGeom prst="line">
            <a:avLst/>
          </a:prstGeom>
          <a:ln w="1016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386687" y="475488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3A3A3A"/>
                </a:solidFill>
                <a:latin typeface="Inter"/>
              </a:rPr>
              <a:t>Email confirmation before any value shown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158087.5" y="5303520"/>
            <a:ext cx="109728.0" cy="0"/>
          </a:xfrm>
          <a:prstGeom prst="line">
            <a:avLst/>
          </a:prstGeom>
          <a:ln w="1016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158087.5" y="5303520"/>
            <a:ext cx="0.0" cy="155448"/>
          </a:xfrm>
          <a:prstGeom prst="line">
            <a:avLst/>
          </a:prstGeom>
          <a:ln w="1016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386687" y="525780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3A3A3A"/>
                </a:solidFill>
                <a:latin typeface="Inter"/>
              </a:rPr>
              <a:t>Hard-blocked behind a paywall on first launch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370167.5" y="2057400"/>
            <a:ext cx="219456.0" cy="0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370167.5" y="2057400"/>
            <a:ext cx="0.0" cy="219456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1179911.5" y="2057400"/>
            <a:ext cx="219456.0" cy="0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1399367.5" y="2057400"/>
            <a:ext cx="0.0" cy="219456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370167.5" y="5952744"/>
            <a:ext cx="0.0" cy="219456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6370167.5" y="6172200"/>
            <a:ext cx="219456.0" cy="0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1179911.5" y="6172200"/>
            <a:ext cx="219456.0" cy="0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1399367.5" y="5952744"/>
            <a:ext cx="0.0" cy="219456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735927" y="2313432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360">
                <a:solidFill>
                  <a:srgbClr val="C97B5F"/>
                </a:solidFill>
                <a:latin typeface="Consolas"/>
              </a:rPr>
              <a:t>AFTER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35927" y="2651760"/>
            <a:ext cx="4297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 spc="0">
                <a:solidFill>
                  <a:srgbClr val="0F0F0F"/>
                </a:solidFill>
                <a:latin typeface="Inter"/>
              </a:rPr>
              <a:t>One question, one button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735927.5" y="3520440"/>
            <a:ext cx="4297680.0" cy="0"/>
          </a:xfrm>
          <a:prstGeom prst="line">
            <a:avLst/>
          </a:prstGeom>
          <a:ln w="6985">
            <a:solidFill>
              <a:srgbClr val="0F0F0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735927.5" y="3794760"/>
            <a:ext cx="109728.0" cy="0"/>
          </a:xfrm>
          <a:prstGeom prst="line">
            <a:avLst/>
          </a:prstGeom>
          <a:ln w="1016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735927.5" y="3794760"/>
            <a:ext cx="0.0" cy="155448"/>
          </a:xfrm>
          <a:prstGeom prst="line">
            <a:avLst/>
          </a:prstGeom>
          <a:ln w="1016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964527" y="374904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0F0F0F"/>
                </a:solidFill>
                <a:latin typeface="Inter"/>
              </a:rPr>
              <a:t>Single open-ended prompt to start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735927.5" y="4297680"/>
            <a:ext cx="109728.0" cy="0"/>
          </a:xfrm>
          <a:prstGeom prst="line">
            <a:avLst/>
          </a:prstGeom>
          <a:ln w="1016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6735927.5" y="4297680"/>
            <a:ext cx="0.0" cy="155448"/>
          </a:xfrm>
          <a:prstGeom prst="line">
            <a:avLst/>
          </a:prstGeom>
          <a:ln w="1016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964527" y="425196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0F0F0F"/>
                </a:solidFill>
                <a:latin typeface="Inter"/>
              </a:rPr>
              <a:t>Everything else deferred to natural moments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735927.5" y="4800600"/>
            <a:ext cx="109728.0" cy="0"/>
          </a:xfrm>
          <a:prstGeom prst="line">
            <a:avLst/>
          </a:prstGeom>
          <a:ln w="1016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6735927.5" y="4800600"/>
            <a:ext cx="0.0" cy="155448"/>
          </a:xfrm>
          <a:prstGeom prst="line">
            <a:avLst/>
          </a:prstGeom>
          <a:ln w="1016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964527" y="475488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0F0F0F"/>
                </a:solidFill>
                <a:latin typeface="Inter"/>
              </a:rPr>
              <a:t>Email captured only when user asked to save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735927.5" y="5303520"/>
            <a:ext cx="109728.0" cy="0"/>
          </a:xfrm>
          <a:prstGeom prst="line">
            <a:avLst/>
          </a:prstGeom>
          <a:ln w="1016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6735927.5" y="5303520"/>
            <a:ext cx="0.0" cy="155448"/>
          </a:xfrm>
          <a:prstGeom prst="line">
            <a:avLst/>
          </a:prstGeom>
          <a:ln w="1016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6964527" y="5257800"/>
            <a:ext cx="4114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0F0F0F"/>
                </a:solidFill>
                <a:latin typeface="Inter"/>
              </a:rPr>
              <a:t>First five sessions free, no card required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6095847.5" y="2377440"/>
            <a:ext cx="0.0" cy="3474720"/>
          </a:xfrm>
          <a:prstGeom prst="line">
            <a:avLst/>
          </a:prstGeom>
          <a:ln w="6985">
            <a:solidFill>
              <a:srgbClr val="0F0F0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6022695" y="4041648"/>
            <a:ext cx="146304" cy="146304"/>
          </a:xfrm>
          <a:prstGeom prst="ellipse">
            <a:avLst/>
          </a:prstGeom>
          <a:solidFill>
            <a:srgbClr val="D5E8B8"/>
          </a:solidFill>
          <a:ln w="8890"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2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 spc="200">
                <a:solidFill>
                  <a:srgbClr val="6B6B6B"/>
                </a:solidFill>
                <a:latin typeface="Consolas"/>
              </a:rPr>
              <a:t>05 / 06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02575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 i="0" spc="240">
                <a:solidFill>
                  <a:srgbClr val="6B6B6B"/>
                </a:solidFill>
                <a:latin typeface="Consolas"/>
              </a:rPr>
              <a:t>RESHAPE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8B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02920" y="502920"/>
            <a:ext cx="292608" cy="0"/>
          </a:xfrm>
          <a:prstGeom prst="line">
            <a:avLst/>
          </a:prstGeom>
          <a:ln w="9525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502920" y="502920"/>
            <a:ext cx="0" cy="292608"/>
          </a:xfrm>
          <a:prstGeom prst="line">
            <a:avLst/>
          </a:prstGeom>
          <a:ln w="9525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1396167" y="502920"/>
            <a:ext cx="292608" cy="0"/>
          </a:xfrm>
          <a:prstGeom prst="line">
            <a:avLst/>
          </a:prstGeom>
          <a:ln w="9525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1688775" y="502920"/>
            <a:ext cx="0" cy="292608"/>
          </a:xfrm>
          <a:prstGeom prst="line">
            <a:avLst/>
          </a:prstGeom>
          <a:ln w="9525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02920" y="6062472"/>
            <a:ext cx="0" cy="292608"/>
          </a:xfrm>
          <a:prstGeom prst="line">
            <a:avLst/>
          </a:prstGeom>
          <a:ln w="9525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02920" y="6355080"/>
            <a:ext cx="292608" cy="0"/>
          </a:xfrm>
          <a:prstGeom prst="line">
            <a:avLst/>
          </a:prstGeom>
          <a:ln w="9525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396167" y="6355080"/>
            <a:ext cx="292608" cy="0"/>
          </a:xfrm>
          <a:prstGeom prst="line">
            <a:avLst/>
          </a:prstGeom>
          <a:ln w="9525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1688775" y="6062472"/>
            <a:ext cx="0" cy="292608"/>
          </a:xfrm>
          <a:prstGeom prst="line">
            <a:avLst/>
          </a:prstGeom>
          <a:ln w="9525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547207" y="1737360"/>
            <a:ext cx="1097280" cy="1097280"/>
          </a:xfrm>
          <a:prstGeom prst="ellipse">
            <a:avLst/>
          </a:prstGeom>
          <a:noFill/>
          <a:ln w="12700">
            <a:solidFill>
              <a:srgbClr val="0F0F0F"/>
            </a:solidFill>
            <a:prstDash val="sys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031839" y="2221992"/>
            <a:ext cx="128016" cy="128016"/>
          </a:xfrm>
          <a:prstGeom prst="ellipse">
            <a:avLst/>
          </a:prstGeom>
          <a:solidFill>
            <a:srgbClr val="0F0F0F"/>
          </a:solidFill>
          <a:ln w="6350">
            <a:solidFill>
              <a:srgbClr val="0F0F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3718407.5" y="3246120"/>
            <a:ext cx="219456.0" cy="0"/>
          </a:xfrm>
          <a:prstGeom prst="line">
            <a:avLst/>
          </a:prstGeom>
          <a:ln w="1270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718407.5" y="3246120"/>
            <a:ext cx="0.0" cy="868680"/>
          </a:xfrm>
          <a:prstGeom prst="line">
            <a:avLst/>
          </a:prstGeom>
          <a:ln w="1270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718407.5" y="4114800"/>
            <a:ext cx="219456.0" cy="0"/>
          </a:xfrm>
          <a:prstGeom prst="line">
            <a:avLst/>
          </a:prstGeom>
          <a:ln w="1270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253831.5" y="3246120"/>
            <a:ext cx="219456.0" cy="0"/>
          </a:xfrm>
          <a:prstGeom prst="line">
            <a:avLst/>
          </a:prstGeom>
          <a:ln w="1270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473287.5" y="3246120"/>
            <a:ext cx="0.0" cy="868680"/>
          </a:xfrm>
          <a:prstGeom prst="line">
            <a:avLst/>
          </a:prstGeom>
          <a:ln w="1270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253831.5" y="4114800"/>
            <a:ext cx="219456.0" cy="0"/>
          </a:xfrm>
          <a:prstGeom prst="line">
            <a:avLst/>
          </a:prstGeom>
          <a:ln w="1270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718407" y="3246120"/>
            <a:ext cx="47548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400" b="1" i="0" spc="1000">
                <a:solidFill>
                  <a:srgbClr val="0F0F0F"/>
                </a:solidFill>
                <a:latin typeface="Inter"/>
              </a:rPr>
              <a:t>THANK YOU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124047.5" y="4407408"/>
            <a:ext cx="5943600.0" cy="0"/>
          </a:xfrm>
          <a:prstGeom prst="line">
            <a:avLst/>
          </a:prstGeom>
          <a:ln w="7620">
            <a:solidFill>
              <a:srgbClr val="0F0F0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124047" y="4517136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 spc="300">
                <a:solidFill>
                  <a:srgbClr val="3A3A3A"/>
                </a:solidFill>
                <a:latin typeface="Consolas"/>
              </a:rPr>
              <a:t>QUESTIONS, OBJECTIONS, BETTER IDEAS — ALL WELCOME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712567.5" y="5212080"/>
            <a:ext cx="118872.0" cy="0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712567.5" y="5212080"/>
            <a:ext cx="0.0" cy="118872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05375.5" y="5212080"/>
            <a:ext cx="118872.0" cy="0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724247.5" y="5212080"/>
            <a:ext cx="0.0" cy="118872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712567.5" y="5596128"/>
            <a:ext cx="0.0" cy="118872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712567.5" y="5715000"/>
            <a:ext cx="118872.0" cy="0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605375.5" y="5715000"/>
            <a:ext cx="118872.0" cy="0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724247.5" y="5596128"/>
            <a:ext cx="0.0" cy="118872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712567" y="521208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240">
                <a:solidFill>
                  <a:srgbClr val="0F0F0F"/>
                </a:solidFill>
                <a:latin typeface="Consolas"/>
              </a:rPr>
              <a:t>READ THE DOCS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98567" y="5212080"/>
            <a:ext cx="2194560" cy="50292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5016397.5" y="5229910"/>
            <a:ext cx="118872.0" cy="0"/>
          </a:xfrm>
          <a:prstGeom prst="line">
            <a:avLst/>
          </a:prstGeom>
          <a:ln w="12700">
            <a:solidFill>
              <a:srgbClr val="D5E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016397.5" y="5229910"/>
            <a:ext cx="0.0" cy="118872"/>
          </a:xfrm>
          <a:prstGeom prst="line">
            <a:avLst/>
          </a:prstGeom>
          <a:ln w="12700">
            <a:solidFill>
              <a:srgbClr val="D5E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056425.5" y="5229910"/>
            <a:ext cx="118872.0" cy="0"/>
          </a:xfrm>
          <a:prstGeom prst="line">
            <a:avLst/>
          </a:prstGeom>
          <a:ln w="12700">
            <a:solidFill>
              <a:srgbClr val="D5E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175297.5" y="5229910"/>
            <a:ext cx="0.0" cy="118872"/>
          </a:xfrm>
          <a:prstGeom prst="line">
            <a:avLst/>
          </a:prstGeom>
          <a:ln w="12700">
            <a:solidFill>
              <a:srgbClr val="D5E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016397.5" y="5578298"/>
            <a:ext cx="0.0" cy="118872"/>
          </a:xfrm>
          <a:prstGeom prst="line">
            <a:avLst/>
          </a:prstGeom>
          <a:ln w="12700">
            <a:solidFill>
              <a:srgbClr val="D5E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016397.5" y="5697170"/>
            <a:ext cx="118872.0" cy="0"/>
          </a:xfrm>
          <a:prstGeom prst="line">
            <a:avLst/>
          </a:prstGeom>
          <a:ln w="12700">
            <a:solidFill>
              <a:srgbClr val="D5E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056425.5" y="5697170"/>
            <a:ext cx="118872.0" cy="0"/>
          </a:xfrm>
          <a:prstGeom prst="line">
            <a:avLst/>
          </a:prstGeom>
          <a:ln w="12700">
            <a:solidFill>
              <a:srgbClr val="D5E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175297.5" y="5578298"/>
            <a:ext cx="0.0" cy="118872"/>
          </a:xfrm>
          <a:prstGeom prst="line">
            <a:avLst/>
          </a:prstGeom>
          <a:ln w="12700">
            <a:solidFill>
              <a:srgbClr val="D5E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998567" y="5212080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 spc="240">
                <a:solidFill>
                  <a:srgbClr val="D5E8B8"/>
                </a:solidFill>
                <a:latin typeface="Consolas"/>
              </a:rPr>
              <a:t>GET STARTED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467447.5" y="5212080"/>
            <a:ext cx="118872.0" cy="0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467447.5" y="5212080"/>
            <a:ext cx="0.0" cy="118872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9360255.5" y="5212080"/>
            <a:ext cx="118872.0" cy="0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479127.5" y="5212080"/>
            <a:ext cx="0.0" cy="118872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467447.5" y="5596128"/>
            <a:ext cx="0.0" cy="118872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7467447.5" y="5715000"/>
            <a:ext cx="118872.0" cy="0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9360255.5" y="5715000"/>
            <a:ext cx="118872.0" cy="0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479127.5" y="5596128"/>
            <a:ext cx="0.0" cy="118872"/>
          </a:xfrm>
          <a:prstGeom prst="line">
            <a:avLst/>
          </a:prstGeom>
          <a:ln w="11430">
            <a:solidFill>
              <a:srgbClr val="0F0F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467447" y="5212080"/>
            <a:ext cx="2011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240">
                <a:solidFill>
                  <a:srgbClr val="0F0F0F"/>
                </a:solidFill>
                <a:latin typeface="Consolas"/>
              </a:rPr>
              <a:t>SAY HELLO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0" y="5879592"/>
            <a:ext cx="121916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 spc="260">
                <a:solidFill>
                  <a:srgbClr val="6B6B6B"/>
                </a:solidFill>
                <a:latin typeface="Consolas"/>
              </a:rPr>
              <a:t>atlas.studio  ·  hello@atlas.studio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 i="0" spc="200">
                <a:solidFill>
                  <a:srgbClr val="6B6B6B"/>
                </a:solidFill>
                <a:latin typeface="Consolas"/>
              </a:rPr>
              <a:t>06 / 06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02575" y="6355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50" b="0" i="0" spc="240">
                <a:solidFill>
                  <a:srgbClr val="6B6B6B"/>
                </a:solidFill>
                <a:latin typeface="Consolas"/>
              </a:rPr>
              <a:t>CLOSING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